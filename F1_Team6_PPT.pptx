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0" r:id="rId14"/>
    <p:sldId id="271" r:id="rId15"/>
    <p:sldId id="272"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team" id="{B0E5E992-0291-D8A9-4D09-EDC9DA438255}">
          <p14:sldIdLst>
            <p14:sldId id="256"/>
          </p14:sldIdLst>
        </p14:section>
        <p14:section name="Problem" id="{2BBC693D-F393-3562-6FD4-9912F5600A6C}">
          <p14:sldIdLst>
            <p14:sldId id="257"/>
          </p14:sldIdLst>
        </p14:section>
        <p14:section name="Baseline" id="{43CB45CE-1DE0-7FE9-F66D-969AB840DB9B}">
          <p14:sldIdLst>
            <p14:sldId id="258"/>
          </p14:sldIdLst>
        </p14:section>
        <p14:section name="Novelty" id="{4FBBB6F5-61B8-6F08-FF02-98FB67125F5B}">
          <p14:sldIdLst>
            <p14:sldId id="259"/>
            <p14:sldId id="260"/>
          </p14:sldIdLst>
        </p14:section>
        <p14:section name="Architecture" id="{6EED30FF-2DA3-6260-D9D8-3A151B4326CF}">
          <p14:sldIdLst>
            <p14:sldId id="261"/>
            <p14:sldId id="262"/>
            <p14:sldId id="263"/>
            <p14:sldId id="264"/>
          </p14:sldIdLst>
        </p14:section>
        <p14:section name="Implementation" id="{C697DD7D-C639-0205-E8DD-1591753F1F12}">
          <p14:sldIdLst>
            <p14:sldId id="265"/>
          </p14:sldIdLst>
        </p14:section>
        <p14:section name="Scenarios and metrics" id="{83572EA9-26B3-890B-F561-6FA5AA8BA425}">
          <p14:sldIdLst>
            <p14:sldId id="268"/>
            <p14:sldId id="269"/>
          </p14:sldIdLst>
        </p14:section>
        <p14:section name="Results" id="{A4510637-BE9B-0D10-A113-95D86A7D31FF}">
          <p14:sldIdLst>
            <p14:sldId id="270"/>
          </p14:sldIdLst>
        </p14:section>
        <p14:section name="Analysis" id="{CD353084-BF0E-24D7-983A-4891BE1CD23C}">
          <p14:sldIdLst>
            <p14:sldId id="271"/>
          </p14:sldIdLst>
        </p14:section>
        <p14:section name="Conclusion" id="{E2B61B48-A70D-F03E-F5A3-E902B967A9EE}">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90"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091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and the team members. Replace the placeholder on this slide with names and register numbers.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networks must keep working when a link fails, keep sensitive areas private, and keep voice calls clear. Learning and testing this normally needs costly hardware.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a basic campus network: hop-count routing, one path, no access rules and no traffic priority. Each row shows what is missing.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novelty is combining routing comparison, automatic failover, security and QoS in one software platform with guided demos.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areas map onto the eleven pages of the dashboard. Each card says in one line what you can do on that page.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ISP gateway feeds Edge Router R1, which connects to core routers R2 and R3. R2 serves the distribution switch (CSE, ECE and Admin labs) and the server farm (DNS, DHCP, Web, FTP). R3 serves the academic switch (faculty, library) and the campus Wi-Fi AP (students, energy sensor). Each group is its own VLAN, so traffic between them must pass a router where ACLs can filter it. R3 is the backup path.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engines in the backend do the real work. The topology graph feeds the routing algorithms. The ACL and the packet tracer decide what happens to each packet, and the priority queue protects voice traffic.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educational models of the services. DHCP follows the four DORA steps. NAT/PAT hides many private addresses behind one public address by also changing port numbers.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algorithm runs in the protocol lab and is also available as a standalone C program. Error control finds mistakes, flow control handles lost frames, and medium access decides who may send.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1: install, test, start the backend and frontend. Column 2: a click in the browser goes through the Vite proxy to Express, which runs the engines, saves to SQLite and returns JSON. Column 3: the tracer computes a route, checks the ACL at every hop, and recomputes the route if a link is down.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guided demos launched with the Launch Guided Demos button. Together they cover routing, security, recovery, QoS and error correction.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shows the size of the project and that all 23 automated tests pass. The table lists each metric the simulator measures, how it is measured, and the result seen in the demos. Exact figures are on the Experiment Reports page.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compares the basic setup with the proposed network. The proposed outcomes come from the five demo scenarios and the test suite. For exact measured numbers, open the Experiment Reports page.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says what the results mean. Limitations are honest about what a simulation cannot show.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shows a campus network can be designed, secured and tested in software. Future work items are suggestions to extend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in IEEE style.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6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rtlCol="0"/>
          <a:lstStyle>
            <a:lvl1pPr marL="0" indent="0" algn="l">
              <a:buNone/>
              <a:defRPr lang="en-US" sz="3200" b="1" dirty="0">
                <a:solidFill>
                  <a:srgbClr val="55507F"/>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E7DE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ubble-1"/>
          <p:cNvSpPr/>
          <p:nvPr/>
        </p:nvSpPr>
        <p:spPr>
          <a:xfrm>
            <a:off x="6309360" y="-822960"/>
            <a:ext cx="4023360" cy="4023360"/>
          </a:xfrm>
          <a:prstGeom prst="ellipse">
            <a:avLst/>
          </a:prstGeom>
          <a:solidFill>
            <a:schemeClr val="accent4"/>
          </a:solidFill>
          <a:ln w="6350">
            <a:solidFill>
              <a:schemeClr val="accent4"/>
            </a:solidFill>
            <a:prstDash val="solid"/>
          </a:ln>
        </p:spPr>
      </p:sp>
      <p:sp>
        <p:nvSpPr>
          <p:cNvPr id="3" name="bubble-2"/>
          <p:cNvSpPr/>
          <p:nvPr/>
        </p:nvSpPr>
        <p:spPr>
          <a:xfrm>
            <a:off x="7223760" y="2926080"/>
            <a:ext cx="2926080" cy="2926080"/>
          </a:xfrm>
          <a:prstGeom prst="ellipse">
            <a:avLst/>
          </a:prstGeom>
          <a:solidFill>
            <a:schemeClr val="accent2"/>
          </a:solidFill>
          <a:ln w="6350">
            <a:solidFill>
              <a:schemeClr val="accent2"/>
            </a:solidFill>
            <a:prstDash val="solid"/>
          </a:ln>
        </p:spPr>
      </p:sp>
      <p:sp>
        <p:nvSpPr>
          <p:cNvPr id="4" name="bubble-3"/>
          <p:cNvSpPr/>
          <p:nvPr/>
        </p:nvSpPr>
        <p:spPr>
          <a:xfrm>
            <a:off x="5760720" y="3566160"/>
            <a:ext cx="1371600" cy="1371600"/>
          </a:xfrm>
          <a:prstGeom prst="ellipse">
            <a:avLst/>
          </a:prstGeom>
          <a:solidFill>
            <a:schemeClr val="accent5"/>
          </a:solidFill>
          <a:ln w="6350">
            <a:solidFill>
              <a:schemeClr val="accent5"/>
            </a:solidFill>
            <a:prstDash val="solid"/>
          </a:ln>
        </p:spPr>
      </p:sp>
      <p:pic>
        <p:nvPicPr>
          <p:cNvPr id="5" name="cover-icon" descr="preencoded.png"/>
          <p:cNvPicPr>
            <a:picLocks noChangeAspect="1"/>
          </p:cNvPicPr>
          <p:nvPr/>
        </p:nvPicPr>
        <p:blipFill>
          <a:blip r:embed="rId3"/>
          <a:stretch>
            <a:fillRect/>
          </a:stretch>
        </p:blipFill>
        <p:spPr>
          <a:xfrm>
            <a:off x="548640" y="204349"/>
            <a:ext cx="640080" cy="640080"/>
          </a:xfrm>
          <a:prstGeom prst="rect">
            <a:avLst/>
          </a:prstGeom>
        </p:spPr>
      </p:pic>
      <p:sp>
        <p:nvSpPr>
          <p:cNvPr id="6" name="Text 3"/>
          <p:cNvSpPr txBox="1"/>
          <p:nvPr/>
        </p:nvSpPr>
        <p:spPr>
          <a:xfrm>
            <a:off x="640080" y="1371600"/>
            <a:ext cx="5852160" cy="777240"/>
          </a:xfrm>
          <a:prstGeom prst="rect">
            <a:avLst/>
          </a:prstGeom>
          <a:noFill/>
          <a:ln/>
        </p:spPr>
        <p:txBody>
          <a:bodyPr wrap="square" lIns="0" tIns="0" rIns="0" bIns="0" rtlCol="0" anchor="ctr"/>
          <a:lstStyle/>
          <a:p>
            <a:pPr marL="0" indent="0">
              <a:buNone/>
            </a:pPr>
            <a:r>
              <a:rPr lang="en-US" sz="4200" b="1" dirty="0">
                <a:solidFill>
                  <a:schemeClr val="tx2"/>
                </a:solidFill>
              </a:rPr>
              <a:t>Smart Campus NOC Simulator 2.0</a:t>
            </a:r>
          </a:p>
          <a:p>
            <a:pPr marL="0" indent="0">
              <a:buNone/>
            </a:pPr>
            <a:endParaRPr lang="en-US" sz="4200" dirty="0"/>
          </a:p>
        </p:txBody>
      </p:sp>
      <p:sp>
        <p:nvSpPr>
          <p:cNvPr id="7" name="Text 4"/>
          <p:cNvSpPr txBox="1"/>
          <p:nvPr/>
        </p:nvSpPr>
        <p:spPr>
          <a:xfrm>
            <a:off x="640080" y="2194560"/>
            <a:ext cx="5303520" cy="822960"/>
          </a:xfrm>
          <a:prstGeom prst="rect">
            <a:avLst/>
          </a:prstGeom>
          <a:noFill/>
          <a:ln/>
        </p:spPr>
        <p:txBody>
          <a:bodyPr wrap="square" lIns="0" tIns="0" rIns="0" bIns="0" rtlCol="0" anchor="t"/>
          <a:lstStyle/>
          <a:p>
            <a:pPr marL="0" indent="0">
              <a:buNone/>
            </a:pPr>
            <a:r>
              <a:rPr lang="en-US" sz="1600" i="1" dirty="0">
                <a:solidFill>
                  <a:schemeClr val="tx1"/>
                </a:solidFill>
              </a:rPr>
              <a:t>Design and Performance Analysis of a Secure, Fault-Tolerant Smart Campus Network</a:t>
            </a:r>
            <a:endParaRPr lang="en-US" sz="1600" i="1" dirty="0"/>
          </a:p>
        </p:txBody>
      </p:sp>
      <p:sp>
        <p:nvSpPr>
          <p:cNvPr id="8" name="Text 5"/>
          <p:cNvSpPr txBox="1"/>
          <p:nvPr/>
        </p:nvSpPr>
        <p:spPr>
          <a:xfrm>
            <a:off x="640080" y="3063240"/>
            <a:ext cx="5303520" cy="320040"/>
          </a:xfrm>
          <a:prstGeom prst="rect">
            <a:avLst/>
          </a:prstGeom>
          <a:noFill/>
          <a:ln/>
        </p:spPr>
        <p:txBody>
          <a:bodyPr wrap="square" lIns="0" tIns="0" rIns="0" bIns="0" rtlCol="0" anchor="ctr"/>
          <a:lstStyle/>
          <a:p>
            <a:r>
              <a:rPr lang="en-US" sz="1400" dirty="0">
                <a:solidFill>
                  <a:schemeClr val="tx2"/>
                </a:solidFill>
              </a:rPr>
              <a:t>Computer Networks Lab Project BCSE308P </a:t>
            </a:r>
            <a:endParaRPr lang="en-US" sz="1400" dirty="0"/>
          </a:p>
        </p:txBody>
      </p:sp>
      <p:sp>
        <p:nvSpPr>
          <p:cNvPr id="9" name="team-card"/>
          <p:cNvSpPr/>
          <p:nvPr/>
        </p:nvSpPr>
        <p:spPr>
          <a:xfrm>
            <a:off x="640080" y="3611880"/>
            <a:ext cx="4937760" cy="822960"/>
          </a:xfrm>
          <a:prstGeom prst="roundRect">
            <a:avLst>
              <a:gd name="adj" fmla="val 15556"/>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10" name="Text 7"/>
          <p:cNvSpPr txBox="1"/>
          <p:nvPr/>
        </p:nvSpPr>
        <p:spPr>
          <a:xfrm>
            <a:off x="868680" y="3675888"/>
            <a:ext cx="4480560" cy="274320"/>
          </a:xfrm>
          <a:prstGeom prst="rect">
            <a:avLst/>
          </a:prstGeom>
          <a:noFill/>
          <a:ln/>
        </p:spPr>
        <p:txBody>
          <a:bodyPr wrap="square" lIns="0" tIns="0" rIns="0" bIns="0" rtlCol="0" anchor="ctr"/>
          <a:lstStyle/>
          <a:p>
            <a:pPr marL="0" indent="0">
              <a:buNone/>
            </a:pPr>
            <a:r>
              <a:rPr lang="en-US" sz="1200" b="1" dirty="0">
                <a:solidFill>
                  <a:schemeClr val="tx2"/>
                </a:solidFill>
              </a:rPr>
              <a:t>Team</a:t>
            </a:r>
            <a:endParaRPr lang="en-US" sz="1200" dirty="0"/>
          </a:p>
        </p:txBody>
      </p:sp>
      <p:sp>
        <p:nvSpPr>
          <p:cNvPr id="11" name="Text 8"/>
          <p:cNvSpPr txBox="1"/>
          <p:nvPr/>
        </p:nvSpPr>
        <p:spPr>
          <a:xfrm>
            <a:off x="868680" y="3950208"/>
            <a:ext cx="4480560" cy="365760"/>
          </a:xfrm>
          <a:prstGeom prst="rect">
            <a:avLst/>
          </a:prstGeom>
          <a:noFill/>
          <a:ln/>
        </p:spPr>
        <p:txBody>
          <a:bodyPr wrap="square" lIns="0" tIns="0" rIns="0" bIns="0" rtlCol="0" anchor="ctr"/>
          <a:lstStyle/>
          <a:p>
            <a:pPr marL="0" indent="0">
              <a:buNone/>
            </a:pPr>
            <a:r>
              <a:rPr lang="en-US" sz="1400" i="1" dirty="0"/>
              <a:t>         PRANJAL SAXENA                 24BCI0180</a:t>
            </a:r>
          </a:p>
          <a:p>
            <a:pPr marL="0" indent="0">
              <a:buNone/>
            </a:pPr>
            <a:r>
              <a:rPr lang="en-US" sz="1400" dirty="0"/>
              <a:t>         ANUSHREE BHARGAVA       24BAI0159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Problem and motivation</a:t>
            </a:r>
            <a:endParaRPr lang="en-US" sz="3200" dirty="0"/>
          </a:p>
        </p:txBody>
      </p:sp>
      <p:sp>
        <p:nvSpPr>
          <p:cNvPr id="4" name="problem"/>
          <p:cNvSpPr/>
          <p:nvPr/>
        </p:nvSpPr>
        <p:spPr>
          <a:xfrm>
            <a:off x="548640" y="1280160"/>
            <a:ext cx="2560320" cy="2103120"/>
          </a:xfrm>
          <a:prstGeom prst="roundRect">
            <a:avLst>
              <a:gd name="adj" fmla="val 6087"/>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5" name="icon-circle"/>
          <p:cNvSpPr/>
          <p:nvPr/>
        </p:nvSpPr>
        <p:spPr>
          <a:xfrm>
            <a:off x="1508760" y="1444752"/>
            <a:ext cx="640080" cy="640080"/>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1649578" y="1585570"/>
            <a:ext cx="358445" cy="358445"/>
          </a:xfrm>
          <a:prstGeom prst="rect">
            <a:avLst/>
          </a:prstGeom>
        </p:spPr>
      </p:pic>
      <p:sp>
        <p:nvSpPr>
          <p:cNvPr id="7" name="Text 3"/>
          <p:cNvSpPr txBox="1"/>
          <p:nvPr/>
        </p:nvSpPr>
        <p:spPr>
          <a:xfrm>
            <a:off x="548640" y="2194560"/>
            <a:ext cx="2560320" cy="365760"/>
          </a:xfrm>
          <a:prstGeom prst="rect">
            <a:avLst/>
          </a:prstGeom>
          <a:noFill/>
          <a:ln/>
        </p:spPr>
        <p:txBody>
          <a:bodyPr wrap="square" lIns="0" tIns="0" rIns="0" bIns="0" rtlCol="0" anchor="ctr"/>
          <a:lstStyle/>
          <a:p>
            <a:pPr marL="0" indent="0" algn="ctr">
              <a:buNone/>
            </a:pPr>
            <a:r>
              <a:rPr lang="en-US" sz="1800" b="1" dirty="0">
                <a:solidFill>
                  <a:schemeClr val="tx2"/>
                </a:solidFill>
              </a:rPr>
              <a:t>Link failures</a:t>
            </a:r>
            <a:endParaRPr lang="en-US" sz="1800" dirty="0"/>
          </a:p>
        </p:txBody>
      </p:sp>
      <p:sp>
        <p:nvSpPr>
          <p:cNvPr id="8" name="Text 4"/>
          <p:cNvSpPr txBox="1"/>
          <p:nvPr/>
        </p:nvSpPr>
        <p:spPr>
          <a:xfrm>
            <a:off x="731520" y="2606040"/>
            <a:ext cx="2194560" cy="640080"/>
          </a:xfrm>
          <a:prstGeom prst="rect">
            <a:avLst/>
          </a:prstGeom>
          <a:noFill/>
          <a:ln/>
        </p:spPr>
        <p:txBody>
          <a:bodyPr wrap="square" lIns="0" tIns="0" rIns="0" bIns="0" rtlCol="0" anchor="t"/>
          <a:lstStyle/>
          <a:p>
            <a:pPr marL="0" indent="0" algn="ctr">
              <a:buNone/>
            </a:pPr>
            <a:r>
              <a:rPr lang="en-US" sz="1300" dirty="0">
                <a:solidFill>
                  <a:schemeClr val="tx1"/>
                </a:solidFill>
              </a:rPr>
              <a:t>One cut cable can take users offline</a:t>
            </a:r>
            <a:endParaRPr lang="en-US" sz="1300" dirty="0"/>
          </a:p>
        </p:txBody>
      </p:sp>
      <p:sp>
        <p:nvSpPr>
          <p:cNvPr id="9" name="problem"/>
          <p:cNvSpPr/>
          <p:nvPr/>
        </p:nvSpPr>
        <p:spPr>
          <a:xfrm>
            <a:off x="3291840" y="1280160"/>
            <a:ext cx="2560320" cy="2103120"/>
          </a:xfrm>
          <a:prstGeom prst="roundRect">
            <a:avLst>
              <a:gd name="adj" fmla="val 6087"/>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10" name="icon-circle"/>
          <p:cNvSpPr/>
          <p:nvPr/>
        </p:nvSpPr>
        <p:spPr>
          <a:xfrm>
            <a:off x="4251960" y="1444752"/>
            <a:ext cx="640080" cy="640080"/>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4392778" y="1585570"/>
            <a:ext cx="358445" cy="358445"/>
          </a:xfrm>
          <a:prstGeom prst="rect">
            <a:avLst/>
          </a:prstGeom>
        </p:spPr>
      </p:pic>
      <p:sp>
        <p:nvSpPr>
          <p:cNvPr id="12" name="Text 7"/>
          <p:cNvSpPr txBox="1"/>
          <p:nvPr/>
        </p:nvSpPr>
        <p:spPr>
          <a:xfrm>
            <a:off x="3291840" y="2194560"/>
            <a:ext cx="2560320" cy="365760"/>
          </a:xfrm>
          <a:prstGeom prst="rect">
            <a:avLst/>
          </a:prstGeom>
          <a:noFill/>
          <a:ln/>
        </p:spPr>
        <p:txBody>
          <a:bodyPr wrap="square" lIns="0" tIns="0" rIns="0" bIns="0" rtlCol="0" anchor="ctr"/>
          <a:lstStyle/>
          <a:p>
            <a:pPr marL="0" indent="0" algn="ctr">
              <a:buNone/>
            </a:pPr>
            <a:r>
              <a:rPr lang="en-US" sz="1800" b="1" dirty="0">
                <a:solidFill>
                  <a:schemeClr val="tx2"/>
                </a:solidFill>
              </a:rPr>
              <a:t>Unsafe access</a:t>
            </a:r>
            <a:endParaRPr lang="en-US" sz="1800" dirty="0"/>
          </a:p>
        </p:txBody>
      </p:sp>
      <p:sp>
        <p:nvSpPr>
          <p:cNvPr id="13" name="Text 8"/>
          <p:cNvSpPr txBox="1"/>
          <p:nvPr/>
        </p:nvSpPr>
        <p:spPr>
          <a:xfrm>
            <a:off x="3474720" y="2606040"/>
            <a:ext cx="2194560" cy="640080"/>
          </a:xfrm>
          <a:prstGeom prst="rect">
            <a:avLst/>
          </a:prstGeom>
          <a:noFill/>
          <a:ln/>
        </p:spPr>
        <p:txBody>
          <a:bodyPr wrap="square" lIns="0" tIns="0" rIns="0" bIns="0" rtlCol="0" anchor="t"/>
          <a:lstStyle/>
          <a:p>
            <a:pPr marL="0" indent="0" algn="ctr">
              <a:buNone/>
            </a:pPr>
            <a:r>
              <a:rPr lang="en-US" sz="1300" dirty="0">
                <a:solidFill>
                  <a:schemeClr val="tx1"/>
                </a:solidFill>
              </a:rPr>
              <a:t>Students should not reach admin systems</a:t>
            </a:r>
            <a:endParaRPr lang="en-US" sz="1300" dirty="0"/>
          </a:p>
        </p:txBody>
      </p:sp>
      <p:sp>
        <p:nvSpPr>
          <p:cNvPr id="14" name="problem"/>
          <p:cNvSpPr/>
          <p:nvPr/>
        </p:nvSpPr>
        <p:spPr>
          <a:xfrm>
            <a:off x="6035040" y="1280160"/>
            <a:ext cx="2560320" cy="2103120"/>
          </a:xfrm>
          <a:prstGeom prst="roundRect">
            <a:avLst>
              <a:gd name="adj" fmla="val 6087"/>
            </a:avLst>
          </a:prstGeom>
          <a:solidFill>
            <a:schemeClr val="accent6"/>
          </a:solidFill>
          <a:ln w="6350">
            <a:solidFill>
              <a:schemeClr val="accent6"/>
            </a:solidFill>
            <a:prstDash val="solid"/>
          </a:ln>
          <a:effectLst>
            <a:outerShdw blurRad="101600" dist="25400" dir="5400000" algn="bl" rotWithShape="0">
              <a:srgbClr val="7A74A8">
                <a:alpha val="18000"/>
              </a:srgbClr>
            </a:outerShdw>
          </a:effectLst>
        </p:spPr>
      </p:sp>
      <p:sp>
        <p:nvSpPr>
          <p:cNvPr id="15" name="icon-circle"/>
          <p:cNvSpPr/>
          <p:nvPr/>
        </p:nvSpPr>
        <p:spPr>
          <a:xfrm>
            <a:off x="6995160" y="1444752"/>
            <a:ext cx="640080" cy="640080"/>
          </a:xfrm>
          <a:prstGeom prst="ellipse">
            <a:avLst/>
          </a:prstGeom>
          <a:solidFill>
            <a:srgbClr val="FFFFFF"/>
          </a:solidFill>
          <a:ln w="6350">
            <a:solidFill>
              <a:srgbClr val="FFFFFF"/>
            </a:solidFill>
            <a:prstDash val="solid"/>
          </a:ln>
        </p:spPr>
      </p:sp>
      <p:pic>
        <p:nvPicPr>
          <p:cNvPr id="16" name="icon" descr="preencoded.png"/>
          <p:cNvPicPr>
            <a:picLocks noChangeAspect="1"/>
          </p:cNvPicPr>
          <p:nvPr/>
        </p:nvPicPr>
        <p:blipFill>
          <a:blip r:embed="rId5"/>
          <a:stretch>
            <a:fillRect/>
          </a:stretch>
        </p:blipFill>
        <p:spPr>
          <a:xfrm>
            <a:off x="7135978" y="1585570"/>
            <a:ext cx="358445" cy="358445"/>
          </a:xfrm>
          <a:prstGeom prst="rect">
            <a:avLst/>
          </a:prstGeom>
        </p:spPr>
      </p:pic>
      <p:sp>
        <p:nvSpPr>
          <p:cNvPr id="17" name="Text 11"/>
          <p:cNvSpPr txBox="1"/>
          <p:nvPr/>
        </p:nvSpPr>
        <p:spPr>
          <a:xfrm>
            <a:off x="6035040" y="2194560"/>
            <a:ext cx="2560320" cy="365760"/>
          </a:xfrm>
          <a:prstGeom prst="rect">
            <a:avLst/>
          </a:prstGeom>
          <a:noFill/>
          <a:ln/>
        </p:spPr>
        <p:txBody>
          <a:bodyPr wrap="square" lIns="0" tIns="0" rIns="0" bIns="0" rtlCol="0" anchor="ctr"/>
          <a:lstStyle/>
          <a:p>
            <a:pPr marL="0" indent="0" algn="ctr">
              <a:buNone/>
            </a:pPr>
            <a:r>
              <a:rPr lang="en-US" sz="1800" b="1" dirty="0">
                <a:solidFill>
                  <a:schemeClr val="tx2"/>
                </a:solidFill>
              </a:rPr>
              <a:t>Congestion</a:t>
            </a:r>
            <a:endParaRPr lang="en-US" sz="1800" dirty="0"/>
          </a:p>
        </p:txBody>
      </p:sp>
      <p:sp>
        <p:nvSpPr>
          <p:cNvPr id="18" name="Text 12"/>
          <p:cNvSpPr txBox="1"/>
          <p:nvPr/>
        </p:nvSpPr>
        <p:spPr>
          <a:xfrm>
            <a:off x="6217920" y="2606040"/>
            <a:ext cx="2194560" cy="640080"/>
          </a:xfrm>
          <a:prstGeom prst="rect">
            <a:avLst/>
          </a:prstGeom>
          <a:noFill/>
          <a:ln/>
        </p:spPr>
        <p:txBody>
          <a:bodyPr wrap="square" lIns="0" tIns="0" rIns="0" bIns="0" rtlCol="0" anchor="t"/>
          <a:lstStyle/>
          <a:p>
            <a:pPr marL="0" indent="0" algn="ctr">
              <a:buNone/>
            </a:pPr>
            <a:r>
              <a:rPr lang="en-US" sz="1300" dirty="0">
                <a:solidFill>
                  <a:schemeClr val="tx1"/>
                </a:solidFill>
              </a:rPr>
              <a:t>Heavy traffic can drop voice calls</a:t>
            </a:r>
            <a:endParaRPr lang="en-US" sz="1300" dirty="0"/>
          </a:p>
        </p:txBody>
      </p:sp>
      <p:sp>
        <p:nvSpPr>
          <p:cNvPr id="19" name="need-banner"/>
          <p:cNvSpPr/>
          <p:nvPr/>
        </p:nvSpPr>
        <p:spPr>
          <a:xfrm>
            <a:off x="548640" y="3611880"/>
            <a:ext cx="8046720" cy="777240"/>
          </a:xfrm>
          <a:prstGeom prst="roundRect">
            <a:avLst>
              <a:gd name="adj" fmla="val 16471"/>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20" name="Text 14"/>
          <p:cNvSpPr txBox="1"/>
          <p:nvPr/>
        </p:nvSpPr>
        <p:spPr>
          <a:xfrm>
            <a:off x="731520" y="3611880"/>
            <a:ext cx="7680960" cy="777240"/>
          </a:xfrm>
          <a:prstGeom prst="rect">
            <a:avLst/>
          </a:prstGeom>
          <a:noFill/>
          <a:ln/>
        </p:spPr>
        <p:txBody>
          <a:bodyPr wrap="square" lIns="0" tIns="0" rIns="0" bIns="0" rtlCol="0" anchor="ctr"/>
          <a:lstStyle/>
          <a:p>
            <a:pPr marL="0" indent="0" algn="ctr">
              <a:buNone/>
            </a:pPr>
            <a:r>
              <a:rPr lang="en-US" sz="1500" b="1" dirty="0">
                <a:solidFill>
                  <a:schemeClr val="tx2"/>
                </a:solidFill>
              </a:rPr>
              <a:t>Need: a safe way to design, test and measure a campus network without physical hardware</a:t>
            </a:r>
            <a:endParaRPr lang="en-US" sz="15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Existing approach (baseline) and its gap</a:t>
            </a:r>
            <a:endParaRPr lang="en-US" sz="32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55507F"/>
                          </a:solidFill>
                          <a:latin typeface="Calibri" pitchFamily="34" charset="0"/>
                          <a:ea typeface="Calibri" pitchFamily="34" charset="-122"/>
                          <a:cs typeface="Calibri" pitchFamily="34" charset="-120"/>
                        </a:rPr>
                        <a:t>Area</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DEFA"/>
                    </a:solidFill>
                  </a:tcPr>
                </a:tc>
                <a:tc>
                  <a:txBody>
                    <a:bodyPr/>
                    <a:lstStyle/>
                    <a:p>
                      <a:pPr marL="0" indent="0">
                        <a:buNone/>
                      </a:pPr>
                      <a:r>
                        <a:rPr lang="en-US" sz="1400" b="1" dirty="0">
                          <a:solidFill>
                            <a:srgbClr val="55507F"/>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DEFA"/>
                    </a:solidFill>
                  </a:tcPr>
                </a:tc>
                <a:tc>
                  <a:txBody>
                    <a:bodyPr/>
                    <a:lstStyle/>
                    <a:p>
                      <a:pPr marL="0" indent="0">
                        <a:buNone/>
                      </a:pPr>
                      <a:r>
                        <a:rPr lang="en-US" sz="1400" b="1" dirty="0">
                          <a:solidFill>
                            <a:srgbClr val="55507F"/>
                          </a:solidFill>
                          <a:latin typeface="Calibri" pitchFamily="34" charset="0"/>
                          <a:ea typeface="Calibri" pitchFamily="34" charset="-122"/>
                          <a:cs typeface="Calibri" pitchFamily="34" charset="-120"/>
                        </a:rPr>
                        <a:t>Gap</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DEFA"/>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3B3A4F"/>
                          </a:solidFill>
                          <a:latin typeface="Calibri" pitchFamily="34" charset="0"/>
                          <a:ea typeface="Calibri" pitchFamily="34" charset="-122"/>
                          <a:cs typeface="Calibri" pitchFamily="34" charset="-120"/>
                        </a:rPr>
                        <a:t>Routing</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RIP, counts hops</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FE6"/>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Not the best path by cost</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9E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3B3A4F"/>
                          </a:solidFill>
                          <a:latin typeface="Calibri" pitchFamily="34" charset="0"/>
                          <a:ea typeface="Calibri" pitchFamily="34" charset="-122"/>
                          <a:cs typeface="Calibri" pitchFamily="34" charset="-120"/>
                        </a:rPr>
                        <a:t>Redundancy</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Single path</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FE6"/>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A link failure causes an outage</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9E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3B3A4F"/>
                          </a:solidFill>
                          <a:latin typeface="Calibri" pitchFamily="34" charset="0"/>
                          <a:ea typeface="Calibri" pitchFamily="34" charset="-122"/>
                          <a:cs typeface="Calibri" pitchFamily="34" charset="-120"/>
                        </a:rPr>
                        <a:t>Security</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No access rules</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FE6"/>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Any VLAN can reach any other</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9E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3B3A4F"/>
                          </a:solidFill>
                          <a:latin typeface="Calibri" pitchFamily="34" charset="0"/>
                          <a:ea typeface="Calibri" pitchFamily="34" charset="-122"/>
                          <a:cs typeface="Calibri" pitchFamily="34" charset="-120"/>
                        </a:rPr>
                        <a:t>Traffic</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Equal treatment</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FE6"/>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Voice calls can be dropped</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9E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3B3A4F"/>
                          </a:solidFill>
                          <a:latin typeface="Calibri" pitchFamily="34" charset="0"/>
                          <a:ea typeface="Calibri" pitchFamily="34" charset="-122"/>
                          <a:cs typeface="Calibri" pitchFamily="34" charset="-120"/>
                        </a:rPr>
                        <a:t>Testing</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Needs real devices</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FE6"/>
                    </a:solidFill>
                  </a:tcPr>
                </a:tc>
                <a:tc>
                  <a:txBody>
                    <a:bodyPr/>
                    <a:lstStyle/>
                    <a:p>
                      <a:pPr marL="0" indent="0">
                        <a:buNone/>
                      </a:pPr>
                      <a:r>
                        <a:rPr lang="en-US" sz="1300" dirty="0">
                          <a:solidFill>
                            <a:srgbClr val="3B3A4F"/>
                          </a:solidFill>
                          <a:latin typeface="Calibri" pitchFamily="34" charset="0"/>
                          <a:ea typeface="Calibri" pitchFamily="34" charset="-122"/>
                          <a:cs typeface="Calibri" pitchFamily="34" charset="-120"/>
                        </a:rPr>
                        <a:t>Costly and hard to repeat</a:t>
                      </a:r>
                      <a:endParaRPr lang="en-US" sz="13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E9EF"/>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548640" y="4343400"/>
            <a:ext cx="8046720" cy="274320"/>
          </a:xfrm>
          <a:prstGeom prst="rect">
            <a:avLst/>
          </a:prstGeom>
          <a:noFill/>
          <a:ln/>
        </p:spPr>
        <p:txBody>
          <a:bodyPr wrap="square" lIns="0" tIns="0" rIns="0" bIns="0" rtlCol="0" anchor="ctr"/>
          <a:lstStyle/>
          <a:p>
            <a:pPr marL="0" indent="0">
              <a:buNone/>
            </a:pPr>
            <a:r>
              <a:rPr lang="en-US" sz="1100" i="1" dirty="0">
                <a:solidFill>
                  <a:schemeClr val="tx2"/>
                </a:solidFill>
              </a:rPr>
              <a:t>Baseline = a typical basic setup, used for comparison</a:t>
            </a:r>
            <a:endParaRPr lang="en-US" sz="11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Proposed novelty</a:t>
            </a:r>
            <a:endParaRPr lang="en-US" sz="3200" dirty="0"/>
          </a:p>
        </p:txBody>
      </p:sp>
      <p:sp>
        <p:nvSpPr>
          <p:cNvPr id="4" name="novelty"/>
          <p:cNvSpPr/>
          <p:nvPr/>
        </p:nvSpPr>
        <p:spPr>
          <a:xfrm>
            <a:off x="548640" y="1280160"/>
            <a:ext cx="3931920" cy="1417320"/>
          </a:xfrm>
          <a:prstGeom prst="roundRect">
            <a:avLst>
              <a:gd name="adj" fmla="val 9032"/>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5" name="icon-circle"/>
          <p:cNvSpPr/>
          <p:nvPr/>
        </p:nvSpPr>
        <p:spPr>
          <a:xfrm>
            <a:off x="777240" y="1645920"/>
            <a:ext cx="685800" cy="685800"/>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928116" y="1796796"/>
            <a:ext cx="384048" cy="384048"/>
          </a:xfrm>
          <a:prstGeom prst="rect">
            <a:avLst/>
          </a:prstGeom>
        </p:spPr>
      </p:pic>
      <p:sp>
        <p:nvSpPr>
          <p:cNvPr id="7" name="Text 3"/>
          <p:cNvSpPr txBox="1"/>
          <p:nvPr/>
        </p:nvSpPr>
        <p:spPr>
          <a:xfrm>
            <a:off x="1645920" y="1508760"/>
            <a:ext cx="2697480" cy="411480"/>
          </a:xfrm>
          <a:prstGeom prst="rect">
            <a:avLst/>
          </a:prstGeom>
          <a:noFill/>
          <a:ln/>
        </p:spPr>
        <p:txBody>
          <a:bodyPr wrap="square" lIns="0" tIns="0" rIns="0" bIns="0" rtlCol="0" anchor="ctr"/>
          <a:lstStyle/>
          <a:p>
            <a:pPr marL="0" indent="0">
              <a:buNone/>
            </a:pPr>
            <a:r>
              <a:rPr lang="en-US" sz="1700" b="1" dirty="0">
                <a:solidFill>
                  <a:schemeClr val="tx2"/>
                </a:solidFill>
              </a:rPr>
              <a:t>Routing compared</a:t>
            </a:r>
            <a:endParaRPr lang="en-US" sz="1700" dirty="0"/>
          </a:p>
        </p:txBody>
      </p:sp>
      <p:sp>
        <p:nvSpPr>
          <p:cNvPr id="8" name="Text 4"/>
          <p:cNvSpPr txBox="1"/>
          <p:nvPr/>
        </p:nvSpPr>
        <p:spPr>
          <a:xfrm>
            <a:off x="1645920" y="1938528"/>
            <a:ext cx="2697480" cy="594360"/>
          </a:xfrm>
          <a:prstGeom prst="rect">
            <a:avLst/>
          </a:prstGeom>
          <a:noFill/>
          <a:ln/>
        </p:spPr>
        <p:txBody>
          <a:bodyPr wrap="square" lIns="0" tIns="0" rIns="0" bIns="0" rtlCol="0" anchor="t"/>
          <a:lstStyle/>
          <a:p>
            <a:pPr marL="0" indent="0">
              <a:buNone/>
            </a:pPr>
            <a:r>
              <a:rPr lang="en-US" sz="1300" dirty="0">
                <a:solidFill>
                  <a:schemeClr val="tx1"/>
                </a:solidFill>
              </a:rPr>
              <a:t>OSPF and RIP tested side by side</a:t>
            </a:r>
            <a:endParaRPr lang="en-US" sz="1300" dirty="0"/>
          </a:p>
        </p:txBody>
      </p:sp>
      <p:sp>
        <p:nvSpPr>
          <p:cNvPr id="9" name="novelty"/>
          <p:cNvSpPr/>
          <p:nvPr/>
        </p:nvSpPr>
        <p:spPr>
          <a:xfrm>
            <a:off x="4663440" y="1280160"/>
            <a:ext cx="3931920" cy="1417320"/>
          </a:xfrm>
          <a:prstGeom prst="roundRect">
            <a:avLst>
              <a:gd name="adj" fmla="val 9032"/>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10" name="icon-circle"/>
          <p:cNvSpPr/>
          <p:nvPr/>
        </p:nvSpPr>
        <p:spPr>
          <a:xfrm>
            <a:off x="4892040" y="1645920"/>
            <a:ext cx="685800" cy="685800"/>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5042916" y="1796796"/>
            <a:ext cx="384048" cy="384048"/>
          </a:xfrm>
          <a:prstGeom prst="rect">
            <a:avLst/>
          </a:prstGeom>
        </p:spPr>
      </p:pic>
      <p:sp>
        <p:nvSpPr>
          <p:cNvPr id="12" name="Text 7"/>
          <p:cNvSpPr txBox="1"/>
          <p:nvPr/>
        </p:nvSpPr>
        <p:spPr>
          <a:xfrm>
            <a:off x="5760720" y="1508760"/>
            <a:ext cx="2697480" cy="411480"/>
          </a:xfrm>
          <a:prstGeom prst="rect">
            <a:avLst/>
          </a:prstGeom>
          <a:noFill/>
          <a:ln/>
        </p:spPr>
        <p:txBody>
          <a:bodyPr wrap="square" lIns="0" tIns="0" rIns="0" bIns="0" rtlCol="0" anchor="ctr"/>
          <a:lstStyle/>
          <a:p>
            <a:pPr marL="0" indent="0">
              <a:buNone/>
            </a:pPr>
            <a:r>
              <a:rPr lang="en-US" sz="1700" b="1" dirty="0">
                <a:solidFill>
                  <a:schemeClr val="tx2"/>
                </a:solidFill>
              </a:rPr>
              <a:t>Automatic failover</a:t>
            </a:r>
            <a:endParaRPr lang="en-US" sz="1700" dirty="0"/>
          </a:p>
        </p:txBody>
      </p:sp>
      <p:sp>
        <p:nvSpPr>
          <p:cNvPr id="13" name="Text 8"/>
          <p:cNvSpPr txBox="1"/>
          <p:nvPr/>
        </p:nvSpPr>
        <p:spPr>
          <a:xfrm>
            <a:off x="5760720" y="1938528"/>
            <a:ext cx="2697480" cy="594360"/>
          </a:xfrm>
          <a:prstGeom prst="rect">
            <a:avLst/>
          </a:prstGeom>
          <a:noFill/>
          <a:ln/>
        </p:spPr>
        <p:txBody>
          <a:bodyPr wrap="square" lIns="0" tIns="0" rIns="0" bIns="0" rtlCol="0" anchor="t"/>
          <a:lstStyle/>
          <a:p>
            <a:pPr marL="0" indent="0">
              <a:buNone/>
            </a:pPr>
            <a:r>
              <a:rPr lang="en-US" sz="1300" dirty="0">
                <a:solidFill>
                  <a:schemeClr val="tx1"/>
                </a:solidFill>
              </a:rPr>
              <a:t>Backup path takes over when a link fails</a:t>
            </a:r>
            <a:endParaRPr lang="en-US" sz="1300" dirty="0"/>
          </a:p>
        </p:txBody>
      </p:sp>
      <p:sp>
        <p:nvSpPr>
          <p:cNvPr id="14" name="novelty"/>
          <p:cNvSpPr/>
          <p:nvPr/>
        </p:nvSpPr>
        <p:spPr>
          <a:xfrm>
            <a:off x="548640" y="2880360"/>
            <a:ext cx="3931920" cy="1417320"/>
          </a:xfrm>
          <a:prstGeom prst="roundRect">
            <a:avLst>
              <a:gd name="adj" fmla="val 9032"/>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15" name="icon-circle"/>
          <p:cNvSpPr/>
          <p:nvPr/>
        </p:nvSpPr>
        <p:spPr>
          <a:xfrm>
            <a:off x="777240" y="3246120"/>
            <a:ext cx="685800" cy="685800"/>
          </a:xfrm>
          <a:prstGeom prst="ellipse">
            <a:avLst/>
          </a:prstGeom>
          <a:solidFill>
            <a:srgbClr val="FFFFFF"/>
          </a:solidFill>
          <a:ln w="6350">
            <a:solidFill>
              <a:srgbClr val="FFFFFF"/>
            </a:solidFill>
            <a:prstDash val="solid"/>
          </a:ln>
        </p:spPr>
      </p:sp>
      <p:pic>
        <p:nvPicPr>
          <p:cNvPr id="16" name="icon" descr="preencoded.png"/>
          <p:cNvPicPr>
            <a:picLocks noChangeAspect="1"/>
          </p:cNvPicPr>
          <p:nvPr/>
        </p:nvPicPr>
        <p:blipFill>
          <a:blip r:embed="rId5"/>
          <a:stretch>
            <a:fillRect/>
          </a:stretch>
        </p:blipFill>
        <p:spPr>
          <a:xfrm>
            <a:off x="928116" y="3396996"/>
            <a:ext cx="384048" cy="384048"/>
          </a:xfrm>
          <a:prstGeom prst="rect">
            <a:avLst/>
          </a:prstGeom>
        </p:spPr>
      </p:pic>
      <p:sp>
        <p:nvSpPr>
          <p:cNvPr id="17" name="Text 11"/>
          <p:cNvSpPr txBox="1"/>
          <p:nvPr/>
        </p:nvSpPr>
        <p:spPr>
          <a:xfrm>
            <a:off x="1645920" y="3108960"/>
            <a:ext cx="2697480" cy="411480"/>
          </a:xfrm>
          <a:prstGeom prst="rect">
            <a:avLst/>
          </a:prstGeom>
          <a:noFill/>
          <a:ln/>
        </p:spPr>
        <p:txBody>
          <a:bodyPr wrap="square" lIns="0" tIns="0" rIns="0" bIns="0" rtlCol="0" anchor="ctr"/>
          <a:lstStyle/>
          <a:p>
            <a:pPr marL="0" indent="0">
              <a:buNone/>
            </a:pPr>
            <a:r>
              <a:rPr lang="en-US" sz="1700" b="1" dirty="0">
                <a:solidFill>
                  <a:schemeClr val="tx2"/>
                </a:solidFill>
              </a:rPr>
              <a:t>Security + QoS together</a:t>
            </a:r>
            <a:endParaRPr lang="en-US" sz="1700" dirty="0"/>
          </a:p>
        </p:txBody>
      </p:sp>
      <p:sp>
        <p:nvSpPr>
          <p:cNvPr id="18" name="Text 12"/>
          <p:cNvSpPr txBox="1"/>
          <p:nvPr/>
        </p:nvSpPr>
        <p:spPr>
          <a:xfrm>
            <a:off x="1645920" y="3538728"/>
            <a:ext cx="2697480" cy="594360"/>
          </a:xfrm>
          <a:prstGeom prst="rect">
            <a:avLst/>
          </a:prstGeom>
          <a:noFill/>
          <a:ln/>
        </p:spPr>
        <p:txBody>
          <a:bodyPr wrap="square" lIns="0" tIns="0" rIns="0" bIns="0" rtlCol="0" anchor="t"/>
          <a:lstStyle/>
          <a:p>
            <a:pPr marL="0" indent="0">
              <a:buNone/>
            </a:pPr>
            <a:r>
              <a:rPr lang="en-US" sz="1300" dirty="0">
                <a:solidFill>
                  <a:schemeClr val="tx1"/>
                </a:solidFill>
              </a:rPr>
              <a:t>ACL firewall and priority queue in one network</a:t>
            </a:r>
            <a:endParaRPr lang="en-US" sz="1300" dirty="0"/>
          </a:p>
        </p:txBody>
      </p:sp>
      <p:sp>
        <p:nvSpPr>
          <p:cNvPr id="19" name="novelty"/>
          <p:cNvSpPr/>
          <p:nvPr/>
        </p:nvSpPr>
        <p:spPr>
          <a:xfrm>
            <a:off x="4663440" y="2880360"/>
            <a:ext cx="3931920" cy="1417320"/>
          </a:xfrm>
          <a:prstGeom prst="roundRect">
            <a:avLst>
              <a:gd name="adj" fmla="val 9032"/>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20" name="icon-circle"/>
          <p:cNvSpPr/>
          <p:nvPr/>
        </p:nvSpPr>
        <p:spPr>
          <a:xfrm>
            <a:off x="4892040" y="3246120"/>
            <a:ext cx="685800" cy="685800"/>
          </a:xfrm>
          <a:prstGeom prst="ellipse">
            <a:avLst/>
          </a:prstGeom>
          <a:solidFill>
            <a:srgbClr val="FFFFFF"/>
          </a:solidFill>
          <a:ln w="6350">
            <a:solidFill>
              <a:srgbClr val="FFFFFF"/>
            </a:solidFill>
            <a:prstDash val="solid"/>
          </a:ln>
        </p:spPr>
      </p:sp>
      <p:pic>
        <p:nvPicPr>
          <p:cNvPr id="21" name="icon" descr="preencoded.png"/>
          <p:cNvPicPr>
            <a:picLocks noChangeAspect="1"/>
          </p:cNvPicPr>
          <p:nvPr/>
        </p:nvPicPr>
        <p:blipFill>
          <a:blip r:embed="rId6"/>
          <a:stretch>
            <a:fillRect/>
          </a:stretch>
        </p:blipFill>
        <p:spPr>
          <a:xfrm>
            <a:off x="5042916" y="3396996"/>
            <a:ext cx="384048" cy="384048"/>
          </a:xfrm>
          <a:prstGeom prst="rect">
            <a:avLst/>
          </a:prstGeom>
        </p:spPr>
      </p:pic>
      <p:sp>
        <p:nvSpPr>
          <p:cNvPr id="22" name="Text 15"/>
          <p:cNvSpPr txBox="1"/>
          <p:nvPr/>
        </p:nvSpPr>
        <p:spPr>
          <a:xfrm>
            <a:off x="5760720" y="3108960"/>
            <a:ext cx="2697480" cy="411480"/>
          </a:xfrm>
          <a:prstGeom prst="rect">
            <a:avLst/>
          </a:prstGeom>
          <a:noFill/>
          <a:ln/>
        </p:spPr>
        <p:txBody>
          <a:bodyPr wrap="square" lIns="0" tIns="0" rIns="0" bIns="0" rtlCol="0" anchor="ctr"/>
          <a:lstStyle/>
          <a:p>
            <a:pPr marL="0" indent="0">
              <a:buNone/>
            </a:pPr>
            <a:r>
              <a:rPr lang="en-US" sz="1700" b="1" dirty="0">
                <a:solidFill>
                  <a:schemeClr val="tx2"/>
                </a:solidFill>
              </a:rPr>
              <a:t>Hardware-free demos</a:t>
            </a:r>
            <a:endParaRPr lang="en-US" sz="1700" dirty="0"/>
          </a:p>
        </p:txBody>
      </p:sp>
      <p:sp>
        <p:nvSpPr>
          <p:cNvPr id="23" name="Text 16"/>
          <p:cNvSpPr txBox="1"/>
          <p:nvPr/>
        </p:nvSpPr>
        <p:spPr>
          <a:xfrm>
            <a:off x="5760720" y="3538728"/>
            <a:ext cx="2697480" cy="594360"/>
          </a:xfrm>
          <a:prstGeom prst="rect">
            <a:avLst/>
          </a:prstGeom>
          <a:noFill/>
          <a:ln/>
        </p:spPr>
        <p:txBody>
          <a:bodyPr wrap="square" lIns="0" tIns="0" rIns="0" bIns="0" rtlCol="0" anchor="t"/>
          <a:lstStyle/>
          <a:p>
            <a:pPr marL="0" indent="0">
              <a:buNone/>
            </a:pPr>
            <a:r>
              <a:rPr lang="en-US" sz="1300" dirty="0">
                <a:solidFill>
                  <a:schemeClr val="tx1"/>
                </a:solidFill>
              </a:rPr>
              <a:t>Hop-by-hop tracing and 5 guided scenarios</a:t>
            </a:r>
            <a:endParaRPr lang="en-US" sz="13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What the project covers</a:t>
            </a:r>
            <a:endParaRPr lang="en-US" sz="3200" dirty="0"/>
          </a:p>
        </p:txBody>
      </p:sp>
      <p:sp>
        <p:nvSpPr>
          <p:cNvPr id="4" name="tile"/>
          <p:cNvSpPr/>
          <p:nvPr/>
        </p:nvSpPr>
        <p:spPr>
          <a:xfrm>
            <a:off x="548640" y="1143000"/>
            <a:ext cx="3931920" cy="731520"/>
          </a:xfrm>
          <a:prstGeom prst="roundRect">
            <a:avLst>
              <a:gd name="adj" fmla="val 17500"/>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5" name="icon-circle"/>
          <p:cNvSpPr/>
          <p:nvPr/>
        </p:nvSpPr>
        <p:spPr>
          <a:xfrm>
            <a:off x="685800" y="1252728"/>
            <a:ext cx="512064" cy="512064"/>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798454" y="1365382"/>
            <a:ext cx="286756" cy="286756"/>
          </a:xfrm>
          <a:prstGeom prst="rect">
            <a:avLst/>
          </a:prstGeom>
        </p:spPr>
      </p:pic>
      <p:sp>
        <p:nvSpPr>
          <p:cNvPr id="7" name="Text 3"/>
          <p:cNvSpPr txBox="1"/>
          <p:nvPr/>
        </p:nvSpPr>
        <p:spPr>
          <a:xfrm>
            <a:off x="1371600" y="1207008"/>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Topology</a:t>
            </a:r>
            <a:endParaRPr lang="en-US" sz="1500" dirty="0"/>
          </a:p>
        </p:txBody>
      </p:sp>
      <p:sp>
        <p:nvSpPr>
          <p:cNvPr id="8" name="Text 4"/>
          <p:cNvSpPr txBox="1"/>
          <p:nvPr/>
        </p:nvSpPr>
        <p:spPr>
          <a:xfrm>
            <a:off x="1371600" y="1508760"/>
            <a:ext cx="3063240" cy="310896"/>
          </a:xfrm>
          <a:prstGeom prst="rect">
            <a:avLst/>
          </a:prstGeom>
          <a:noFill/>
          <a:ln/>
        </p:spPr>
        <p:txBody>
          <a:bodyPr wrap="square" lIns="0" tIns="0" rIns="0" bIns="0" rtlCol="0" anchor="ctr"/>
          <a:lstStyle/>
          <a:p>
            <a:pPr marL="0" indent="0">
              <a:buNone/>
            </a:pPr>
            <a:r>
              <a:rPr lang="en-US" sz="1200" dirty="0">
                <a:solidFill>
                  <a:schemeClr val="tx1"/>
                </a:solidFill>
              </a:rPr>
              <a:t>Map of routers and hosts; links up or down</a:t>
            </a:r>
            <a:endParaRPr lang="en-US" sz="1200" dirty="0"/>
          </a:p>
        </p:txBody>
      </p:sp>
      <p:sp>
        <p:nvSpPr>
          <p:cNvPr id="9" name="tile"/>
          <p:cNvSpPr/>
          <p:nvPr/>
        </p:nvSpPr>
        <p:spPr>
          <a:xfrm>
            <a:off x="4663440" y="1143000"/>
            <a:ext cx="3931920" cy="731520"/>
          </a:xfrm>
          <a:prstGeom prst="roundRect">
            <a:avLst>
              <a:gd name="adj" fmla="val 17500"/>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10" name="icon-circle"/>
          <p:cNvSpPr/>
          <p:nvPr/>
        </p:nvSpPr>
        <p:spPr>
          <a:xfrm>
            <a:off x="4800600" y="1252728"/>
            <a:ext cx="512064" cy="512064"/>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4913254" y="1365382"/>
            <a:ext cx="286756" cy="286756"/>
          </a:xfrm>
          <a:prstGeom prst="rect">
            <a:avLst/>
          </a:prstGeom>
        </p:spPr>
      </p:pic>
      <p:sp>
        <p:nvSpPr>
          <p:cNvPr id="12" name="Text 7"/>
          <p:cNvSpPr txBox="1"/>
          <p:nvPr/>
        </p:nvSpPr>
        <p:spPr>
          <a:xfrm>
            <a:off x="5486400" y="1207008"/>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VLAN &amp; IP</a:t>
            </a:r>
            <a:endParaRPr lang="en-US" sz="1500" dirty="0"/>
          </a:p>
        </p:txBody>
      </p:sp>
      <p:sp>
        <p:nvSpPr>
          <p:cNvPr id="13" name="Text 8"/>
          <p:cNvSpPr txBox="1"/>
          <p:nvPr/>
        </p:nvSpPr>
        <p:spPr>
          <a:xfrm>
            <a:off x="5486400" y="1508760"/>
            <a:ext cx="3063240" cy="310896"/>
          </a:xfrm>
          <a:prstGeom prst="rect">
            <a:avLst/>
          </a:prstGeom>
          <a:noFill/>
          <a:ln/>
        </p:spPr>
        <p:txBody>
          <a:bodyPr wrap="square" lIns="0" tIns="0" rIns="0" bIns="0" rtlCol="0" anchor="ctr"/>
          <a:lstStyle/>
          <a:p>
            <a:pPr marL="0" indent="0">
              <a:buNone/>
            </a:pPr>
            <a:r>
              <a:rPr lang="en-US" sz="1200" dirty="0">
                <a:solidFill>
                  <a:schemeClr val="tx1"/>
                </a:solidFill>
              </a:rPr>
              <a:t>Separate groups, each with its own addresses</a:t>
            </a:r>
            <a:endParaRPr lang="en-US" sz="1200" dirty="0"/>
          </a:p>
        </p:txBody>
      </p:sp>
      <p:sp>
        <p:nvSpPr>
          <p:cNvPr id="14" name="tile"/>
          <p:cNvSpPr/>
          <p:nvPr/>
        </p:nvSpPr>
        <p:spPr>
          <a:xfrm>
            <a:off x="548640" y="1993392"/>
            <a:ext cx="3931920" cy="731520"/>
          </a:xfrm>
          <a:prstGeom prst="roundRect">
            <a:avLst>
              <a:gd name="adj" fmla="val 17500"/>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15" name="icon-circle"/>
          <p:cNvSpPr/>
          <p:nvPr/>
        </p:nvSpPr>
        <p:spPr>
          <a:xfrm>
            <a:off x="685800" y="2103120"/>
            <a:ext cx="512064" cy="512064"/>
          </a:xfrm>
          <a:prstGeom prst="ellipse">
            <a:avLst/>
          </a:prstGeom>
          <a:solidFill>
            <a:srgbClr val="FFFFFF"/>
          </a:solidFill>
          <a:ln w="6350">
            <a:solidFill>
              <a:srgbClr val="FFFFFF"/>
            </a:solidFill>
            <a:prstDash val="solid"/>
          </a:ln>
        </p:spPr>
      </p:sp>
      <p:pic>
        <p:nvPicPr>
          <p:cNvPr id="16" name="icon" descr="preencoded.png"/>
          <p:cNvPicPr>
            <a:picLocks noChangeAspect="1"/>
          </p:cNvPicPr>
          <p:nvPr/>
        </p:nvPicPr>
        <p:blipFill>
          <a:blip r:embed="rId5"/>
          <a:stretch>
            <a:fillRect/>
          </a:stretch>
        </p:blipFill>
        <p:spPr>
          <a:xfrm>
            <a:off x="798454" y="2215774"/>
            <a:ext cx="286756" cy="286756"/>
          </a:xfrm>
          <a:prstGeom prst="rect">
            <a:avLst/>
          </a:prstGeom>
        </p:spPr>
      </p:pic>
      <p:sp>
        <p:nvSpPr>
          <p:cNvPr id="17" name="Text 11"/>
          <p:cNvSpPr txBox="1"/>
          <p:nvPr/>
        </p:nvSpPr>
        <p:spPr>
          <a:xfrm>
            <a:off x="1371600" y="2057400"/>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Routing</a:t>
            </a:r>
            <a:endParaRPr lang="en-US" sz="1500" dirty="0"/>
          </a:p>
        </p:txBody>
      </p:sp>
      <p:sp>
        <p:nvSpPr>
          <p:cNvPr id="18" name="Text 12"/>
          <p:cNvSpPr txBox="1"/>
          <p:nvPr/>
        </p:nvSpPr>
        <p:spPr>
          <a:xfrm>
            <a:off x="1371600" y="2359152"/>
            <a:ext cx="3063240" cy="310896"/>
          </a:xfrm>
          <a:prstGeom prst="rect">
            <a:avLst/>
          </a:prstGeom>
          <a:noFill/>
          <a:ln/>
        </p:spPr>
        <p:txBody>
          <a:bodyPr wrap="square" lIns="0" tIns="0" rIns="0" bIns="0" rtlCol="0" anchor="ctr"/>
          <a:lstStyle/>
          <a:p>
            <a:pPr marL="0" indent="0">
              <a:buNone/>
            </a:pPr>
            <a:r>
              <a:rPr lang="en-US" sz="1200" dirty="0">
                <a:solidFill>
                  <a:schemeClr val="tx1"/>
                </a:solidFill>
              </a:rPr>
              <a:t>Compare OSPF and RIP on the same network</a:t>
            </a:r>
            <a:endParaRPr lang="en-US" sz="1200" dirty="0"/>
          </a:p>
        </p:txBody>
      </p:sp>
      <p:sp>
        <p:nvSpPr>
          <p:cNvPr id="19" name="tile"/>
          <p:cNvSpPr/>
          <p:nvPr/>
        </p:nvSpPr>
        <p:spPr>
          <a:xfrm>
            <a:off x="4663440" y="1993392"/>
            <a:ext cx="3931920" cy="731520"/>
          </a:xfrm>
          <a:prstGeom prst="roundRect">
            <a:avLst>
              <a:gd name="adj" fmla="val 17500"/>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20" name="icon-circle"/>
          <p:cNvSpPr/>
          <p:nvPr/>
        </p:nvSpPr>
        <p:spPr>
          <a:xfrm>
            <a:off x="4800600" y="2103120"/>
            <a:ext cx="512064" cy="512064"/>
          </a:xfrm>
          <a:prstGeom prst="ellipse">
            <a:avLst/>
          </a:prstGeom>
          <a:solidFill>
            <a:srgbClr val="FFFFFF"/>
          </a:solidFill>
          <a:ln w="6350">
            <a:solidFill>
              <a:srgbClr val="FFFFFF"/>
            </a:solidFill>
            <a:prstDash val="solid"/>
          </a:ln>
        </p:spPr>
      </p:sp>
      <p:pic>
        <p:nvPicPr>
          <p:cNvPr id="21" name="icon" descr="preencoded.png"/>
          <p:cNvPicPr>
            <a:picLocks noChangeAspect="1"/>
          </p:cNvPicPr>
          <p:nvPr/>
        </p:nvPicPr>
        <p:blipFill>
          <a:blip r:embed="rId6"/>
          <a:stretch>
            <a:fillRect/>
          </a:stretch>
        </p:blipFill>
        <p:spPr>
          <a:xfrm>
            <a:off x="4913254" y="2215774"/>
            <a:ext cx="286756" cy="286756"/>
          </a:xfrm>
          <a:prstGeom prst="rect">
            <a:avLst/>
          </a:prstGeom>
        </p:spPr>
      </p:pic>
      <p:sp>
        <p:nvSpPr>
          <p:cNvPr id="22" name="Text 15"/>
          <p:cNvSpPr txBox="1"/>
          <p:nvPr/>
        </p:nvSpPr>
        <p:spPr>
          <a:xfrm>
            <a:off x="5486400" y="2057400"/>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Fault tolerance</a:t>
            </a:r>
            <a:endParaRPr lang="en-US" sz="1500" dirty="0"/>
          </a:p>
        </p:txBody>
      </p:sp>
      <p:sp>
        <p:nvSpPr>
          <p:cNvPr id="23" name="Text 16"/>
          <p:cNvSpPr txBox="1"/>
          <p:nvPr/>
        </p:nvSpPr>
        <p:spPr>
          <a:xfrm>
            <a:off x="5486400" y="2359152"/>
            <a:ext cx="3063240" cy="310896"/>
          </a:xfrm>
          <a:prstGeom prst="rect">
            <a:avLst/>
          </a:prstGeom>
          <a:noFill/>
          <a:ln/>
        </p:spPr>
        <p:txBody>
          <a:bodyPr wrap="square" lIns="0" tIns="0" rIns="0" bIns="0" rtlCol="0" anchor="ctr"/>
          <a:lstStyle/>
          <a:p>
            <a:pPr marL="0" indent="0">
              <a:buNone/>
            </a:pPr>
            <a:r>
              <a:rPr lang="en-US" sz="1200" dirty="0">
                <a:solidFill>
                  <a:schemeClr val="tx1"/>
                </a:solidFill>
              </a:rPr>
              <a:t>Cut a link and traffic reroutes via backup</a:t>
            </a:r>
            <a:endParaRPr lang="en-US" sz="1200" dirty="0"/>
          </a:p>
        </p:txBody>
      </p:sp>
      <p:sp>
        <p:nvSpPr>
          <p:cNvPr id="24" name="tile"/>
          <p:cNvSpPr/>
          <p:nvPr/>
        </p:nvSpPr>
        <p:spPr>
          <a:xfrm>
            <a:off x="548640" y="2843784"/>
            <a:ext cx="3931920" cy="731520"/>
          </a:xfrm>
          <a:prstGeom prst="roundRect">
            <a:avLst>
              <a:gd name="adj" fmla="val 17500"/>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25" name="icon-circle"/>
          <p:cNvSpPr/>
          <p:nvPr/>
        </p:nvSpPr>
        <p:spPr>
          <a:xfrm>
            <a:off x="685800" y="2953512"/>
            <a:ext cx="512064" cy="512064"/>
          </a:xfrm>
          <a:prstGeom prst="ellipse">
            <a:avLst/>
          </a:prstGeom>
          <a:solidFill>
            <a:srgbClr val="FFFFFF"/>
          </a:solidFill>
          <a:ln w="6350">
            <a:solidFill>
              <a:srgbClr val="FFFFFF"/>
            </a:solidFill>
            <a:prstDash val="solid"/>
          </a:ln>
        </p:spPr>
      </p:sp>
      <p:pic>
        <p:nvPicPr>
          <p:cNvPr id="26" name="icon" descr="preencoded.png"/>
          <p:cNvPicPr>
            <a:picLocks noChangeAspect="1"/>
          </p:cNvPicPr>
          <p:nvPr/>
        </p:nvPicPr>
        <p:blipFill>
          <a:blip r:embed="rId7"/>
          <a:stretch>
            <a:fillRect/>
          </a:stretch>
        </p:blipFill>
        <p:spPr>
          <a:xfrm>
            <a:off x="798454" y="3066166"/>
            <a:ext cx="286756" cy="286756"/>
          </a:xfrm>
          <a:prstGeom prst="rect">
            <a:avLst/>
          </a:prstGeom>
        </p:spPr>
      </p:pic>
      <p:sp>
        <p:nvSpPr>
          <p:cNvPr id="27" name="Text 19"/>
          <p:cNvSpPr txBox="1"/>
          <p:nvPr/>
        </p:nvSpPr>
        <p:spPr>
          <a:xfrm>
            <a:off x="1371600" y="2907792"/>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Security</a:t>
            </a:r>
            <a:endParaRPr lang="en-US" sz="1500" dirty="0"/>
          </a:p>
        </p:txBody>
      </p:sp>
      <p:sp>
        <p:nvSpPr>
          <p:cNvPr id="28" name="Text 20"/>
          <p:cNvSpPr txBox="1"/>
          <p:nvPr/>
        </p:nvSpPr>
        <p:spPr>
          <a:xfrm>
            <a:off x="1371600" y="3209544"/>
            <a:ext cx="3063240" cy="310896"/>
          </a:xfrm>
          <a:prstGeom prst="rect">
            <a:avLst/>
          </a:prstGeom>
          <a:noFill/>
          <a:ln/>
        </p:spPr>
        <p:txBody>
          <a:bodyPr wrap="square" lIns="0" tIns="0" rIns="0" bIns="0" rtlCol="0" anchor="ctr"/>
          <a:lstStyle/>
          <a:p>
            <a:pPr marL="0" indent="0">
              <a:buNone/>
            </a:pPr>
            <a:r>
              <a:rPr lang="en-US" sz="1200" dirty="0">
                <a:solidFill>
                  <a:schemeClr val="tx1"/>
                </a:solidFill>
              </a:rPr>
              <a:t>ACL firewall allows or blocks traffic</a:t>
            </a:r>
            <a:endParaRPr lang="en-US" sz="1200" dirty="0"/>
          </a:p>
        </p:txBody>
      </p:sp>
      <p:sp>
        <p:nvSpPr>
          <p:cNvPr id="29" name="tile"/>
          <p:cNvSpPr/>
          <p:nvPr/>
        </p:nvSpPr>
        <p:spPr>
          <a:xfrm>
            <a:off x="4663440" y="2843784"/>
            <a:ext cx="3931920" cy="731520"/>
          </a:xfrm>
          <a:prstGeom prst="roundRect">
            <a:avLst>
              <a:gd name="adj" fmla="val 17500"/>
            </a:avLst>
          </a:prstGeom>
          <a:solidFill>
            <a:schemeClr val="accent6"/>
          </a:solidFill>
          <a:ln w="6350">
            <a:solidFill>
              <a:schemeClr val="accent6"/>
            </a:solidFill>
            <a:prstDash val="solid"/>
          </a:ln>
          <a:effectLst>
            <a:outerShdw blurRad="101600" dist="25400" dir="5400000" algn="bl" rotWithShape="0">
              <a:srgbClr val="7A74A8">
                <a:alpha val="18000"/>
              </a:srgbClr>
            </a:outerShdw>
          </a:effectLst>
        </p:spPr>
      </p:sp>
      <p:sp>
        <p:nvSpPr>
          <p:cNvPr id="30" name="icon-circle"/>
          <p:cNvSpPr/>
          <p:nvPr/>
        </p:nvSpPr>
        <p:spPr>
          <a:xfrm>
            <a:off x="4800600" y="2953512"/>
            <a:ext cx="512064" cy="512064"/>
          </a:xfrm>
          <a:prstGeom prst="ellipse">
            <a:avLst/>
          </a:prstGeom>
          <a:solidFill>
            <a:srgbClr val="FFFFFF"/>
          </a:solidFill>
          <a:ln w="6350">
            <a:solidFill>
              <a:srgbClr val="FFFFFF"/>
            </a:solidFill>
            <a:prstDash val="solid"/>
          </a:ln>
        </p:spPr>
      </p:sp>
      <p:pic>
        <p:nvPicPr>
          <p:cNvPr id="31" name="icon" descr="preencoded.png"/>
          <p:cNvPicPr>
            <a:picLocks noChangeAspect="1"/>
          </p:cNvPicPr>
          <p:nvPr/>
        </p:nvPicPr>
        <p:blipFill>
          <a:blip r:embed="rId8"/>
          <a:stretch>
            <a:fillRect/>
          </a:stretch>
        </p:blipFill>
        <p:spPr>
          <a:xfrm>
            <a:off x="4913254" y="3066166"/>
            <a:ext cx="286756" cy="286756"/>
          </a:xfrm>
          <a:prstGeom prst="rect">
            <a:avLst/>
          </a:prstGeom>
        </p:spPr>
      </p:pic>
      <p:sp>
        <p:nvSpPr>
          <p:cNvPr id="32" name="Text 23"/>
          <p:cNvSpPr txBox="1"/>
          <p:nvPr/>
        </p:nvSpPr>
        <p:spPr>
          <a:xfrm>
            <a:off x="5486400" y="2907792"/>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QoS</a:t>
            </a:r>
            <a:endParaRPr lang="en-US" sz="1500" dirty="0"/>
          </a:p>
        </p:txBody>
      </p:sp>
      <p:sp>
        <p:nvSpPr>
          <p:cNvPr id="33" name="Text 24"/>
          <p:cNvSpPr txBox="1"/>
          <p:nvPr/>
        </p:nvSpPr>
        <p:spPr>
          <a:xfrm>
            <a:off x="5486400" y="3209544"/>
            <a:ext cx="3063240" cy="310896"/>
          </a:xfrm>
          <a:prstGeom prst="rect">
            <a:avLst/>
          </a:prstGeom>
          <a:noFill/>
          <a:ln/>
        </p:spPr>
        <p:txBody>
          <a:bodyPr wrap="square" lIns="0" tIns="0" rIns="0" bIns="0" rtlCol="0" anchor="ctr"/>
          <a:lstStyle/>
          <a:p>
            <a:pPr marL="0" indent="0">
              <a:buNone/>
            </a:pPr>
            <a:r>
              <a:rPr lang="en-US" sz="1200" dirty="0">
                <a:solidFill>
                  <a:schemeClr val="tx1"/>
                </a:solidFill>
              </a:rPr>
              <a:t>Priority queue protects voice calls</a:t>
            </a:r>
            <a:endParaRPr lang="en-US" sz="1200" dirty="0"/>
          </a:p>
        </p:txBody>
      </p:sp>
      <p:sp>
        <p:nvSpPr>
          <p:cNvPr id="34" name="tile"/>
          <p:cNvSpPr/>
          <p:nvPr/>
        </p:nvSpPr>
        <p:spPr>
          <a:xfrm>
            <a:off x="548640" y="3694176"/>
            <a:ext cx="3931920" cy="731520"/>
          </a:xfrm>
          <a:prstGeom prst="roundRect">
            <a:avLst>
              <a:gd name="adj" fmla="val 17500"/>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35" name="icon-circle"/>
          <p:cNvSpPr/>
          <p:nvPr/>
        </p:nvSpPr>
        <p:spPr>
          <a:xfrm>
            <a:off x="685800" y="3803904"/>
            <a:ext cx="512064" cy="512064"/>
          </a:xfrm>
          <a:prstGeom prst="ellipse">
            <a:avLst/>
          </a:prstGeom>
          <a:solidFill>
            <a:srgbClr val="FFFFFF"/>
          </a:solidFill>
          <a:ln w="6350">
            <a:solidFill>
              <a:srgbClr val="FFFFFF"/>
            </a:solidFill>
            <a:prstDash val="solid"/>
          </a:ln>
        </p:spPr>
      </p:sp>
      <p:pic>
        <p:nvPicPr>
          <p:cNvPr id="36" name="icon" descr="preencoded.png"/>
          <p:cNvPicPr>
            <a:picLocks noChangeAspect="1"/>
          </p:cNvPicPr>
          <p:nvPr/>
        </p:nvPicPr>
        <p:blipFill>
          <a:blip r:embed="rId9"/>
          <a:stretch>
            <a:fillRect/>
          </a:stretch>
        </p:blipFill>
        <p:spPr>
          <a:xfrm>
            <a:off x="798454" y="3916558"/>
            <a:ext cx="286756" cy="286756"/>
          </a:xfrm>
          <a:prstGeom prst="rect">
            <a:avLst/>
          </a:prstGeom>
        </p:spPr>
      </p:pic>
      <p:sp>
        <p:nvSpPr>
          <p:cNvPr id="37" name="Text 27"/>
          <p:cNvSpPr txBox="1"/>
          <p:nvPr/>
        </p:nvSpPr>
        <p:spPr>
          <a:xfrm>
            <a:off x="1371600" y="3758184"/>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Services</a:t>
            </a:r>
            <a:endParaRPr lang="en-US" sz="1500" dirty="0"/>
          </a:p>
        </p:txBody>
      </p:sp>
      <p:sp>
        <p:nvSpPr>
          <p:cNvPr id="38" name="Text 28"/>
          <p:cNvSpPr txBox="1"/>
          <p:nvPr/>
        </p:nvSpPr>
        <p:spPr>
          <a:xfrm>
            <a:off x="1371600" y="4059936"/>
            <a:ext cx="3063240" cy="310896"/>
          </a:xfrm>
          <a:prstGeom prst="rect">
            <a:avLst/>
          </a:prstGeom>
          <a:noFill/>
          <a:ln/>
        </p:spPr>
        <p:txBody>
          <a:bodyPr wrap="square" lIns="0" tIns="0" rIns="0" bIns="0" rtlCol="0" anchor="ctr"/>
          <a:lstStyle/>
          <a:p>
            <a:pPr marL="0" indent="0">
              <a:buNone/>
            </a:pPr>
            <a:r>
              <a:rPr lang="en-US" sz="1200" dirty="0">
                <a:solidFill>
                  <a:schemeClr val="tx1"/>
                </a:solidFill>
              </a:rPr>
              <a:t>DHCP, DNS, HTTP, FTP and NAT/PAT models</a:t>
            </a:r>
            <a:endParaRPr lang="en-US" sz="1200" dirty="0"/>
          </a:p>
        </p:txBody>
      </p:sp>
      <p:sp>
        <p:nvSpPr>
          <p:cNvPr id="39" name="tile"/>
          <p:cNvSpPr/>
          <p:nvPr/>
        </p:nvSpPr>
        <p:spPr>
          <a:xfrm>
            <a:off x="4663440" y="3694176"/>
            <a:ext cx="3931920" cy="731520"/>
          </a:xfrm>
          <a:prstGeom prst="roundRect">
            <a:avLst>
              <a:gd name="adj" fmla="val 17500"/>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40" name="icon-circle"/>
          <p:cNvSpPr/>
          <p:nvPr/>
        </p:nvSpPr>
        <p:spPr>
          <a:xfrm>
            <a:off x="4800600" y="3803904"/>
            <a:ext cx="512064" cy="512064"/>
          </a:xfrm>
          <a:prstGeom prst="ellipse">
            <a:avLst/>
          </a:prstGeom>
          <a:solidFill>
            <a:srgbClr val="FFFFFF"/>
          </a:solidFill>
          <a:ln w="6350">
            <a:solidFill>
              <a:srgbClr val="FFFFFF"/>
            </a:solidFill>
            <a:prstDash val="solid"/>
          </a:ln>
        </p:spPr>
      </p:sp>
      <p:pic>
        <p:nvPicPr>
          <p:cNvPr id="41" name="icon" descr="preencoded.png"/>
          <p:cNvPicPr>
            <a:picLocks noChangeAspect="1"/>
          </p:cNvPicPr>
          <p:nvPr/>
        </p:nvPicPr>
        <p:blipFill>
          <a:blip r:embed="rId10"/>
          <a:stretch>
            <a:fillRect/>
          </a:stretch>
        </p:blipFill>
        <p:spPr>
          <a:xfrm>
            <a:off x="4913254" y="3916558"/>
            <a:ext cx="286756" cy="286756"/>
          </a:xfrm>
          <a:prstGeom prst="rect">
            <a:avLst/>
          </a:prstGeom>
        </p:spPr>
      </p:pic>
      <p:sp>
        <p:nvSpPr>
          <p:cNvPr id="42" name="Text 31"/>
          <p:cNvSpPr txBox="1"/>
          <p:nvPr/>
        </p:nvSpPr>
        <p:spPr>
          <a:xfrm>
            <a:off x="5486400" y="3758184"/>
            <a:ext cx="3017520" cy="310896"/>
          </a:xfrm>
          <a:prstGeom prst="rect">
            <a:avLst/>
          </a:prstGeom>
          <a:noFill/>
          <a:ln/>
        </p:spPr>
        <p:txBody>
          <a:bodyPr wrap="square" lIns="0" tIns="0" rIns="0" bIns="0" rtlCol="0" anchor="ctr"/>
          <a:lstStyle/>
          <a:p>
            <a:pPr marL="0" indent="0">
              <a:buNone/>
            </a:pPr>
            <a:r>
              <a:rPr lang="en-US" sz="1500" b="1" dirty="0">
                <a:solidFill>
                  <a:schemeClr val="tx2"/>
                </a:solidFill>
              </a:rPr>
              <a:t>Protocol lab</a:t>
            </a:r>
            <a:endParaRPr lang="en-US" sz="1500" dirty="0"/>
          </a:p>
        </p:txBody>
      </p:sp>
      <p:sp>
        <p:nvSpPr>
          <p:cNvPr id="43" name="Text 32"/>
          <p:cNvSpPr txBox="1"/>
          <p:nvPr/>
        </p:nvSpPr>
        <p:spPr>
          <a:xfrm>
            <a:off x="5486400" y="4059936"/>
            <a:ext cx="3063240" cy="310896"/>
          </a:xfrm>
          <a:prstGeom prst="rect">
            <a:avLst/>
          </a:prstGeom>
          <a:noFill/>
          <a:ln/>
        </p:spPr>
        <p:txBody>
          <a:bodyPr wrap="square" lIns="0" tIns="0" rIns="0" bIns="0" rtlCol="0" anchor="ctr"/>
          <a:lstStyle/>
          <a:p>
            <a:pPr marL="0" indent="0">
              <a:buNone/>
            </a:pPr>
            <a:r>
              <a:rPr lang="en-US" sz="1200" dirty="0">
                <a:solidFill>
                  <a:schemeClr val="tx1"/>
                </a:solidFill>
              </a:rPr>
              <a:t>Error control, flow control, medium access</a:t>
            </a:r>
            <a:endParaRPr lang="en-US" sz="1200" dirty="0"/>
          </a:p>
        </p:txBody>
      </p:sp>
      <p:sp>
        <p:nvSpPr>
          <p:cNvPr id="3"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Architecture: the network</a:t>
            </a:r>
            <a:endParaRPr lang="en-US" sz="3200" dirty="0"/>
          </a:p>
        </p:txBody>
      </p:sp>
      <p:sp>
        <p:nvSpPr>
          <p:cNvPr id="101" name="diagram-panel"/>
          <p:cNvSpPr/>
          <p:nvPr/>
        </p:nvSpPr>
        <p:spPr>
          <a:xfrm>
            <a:off x="548640" y="1005840"/>
            <a:ext cx="8046720" cy="2834640"/>
          </a:xfrm>
          <a:prstGeom prst="roundRect">
            <a:avLst>
              <a:gd name="adj" fmla="val 3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02" name="link"/>
          <p:cNvSpPr/>
          <p:nvPr/>
        </p:nvSpPr>
        <p:spPr>
          <a:xfrm>
            <a:off x="4873752" y="1408176"/>
            <a:ext cx="0" cy="128016"/>
          </a:xfrm>
          <a:prstGeom prst="line">
            <a:avLst/>
          </a:prstGeom>
          <a:noFill/>
          <a:ln w="15875">
            <a:solidFill>
              <a:srgbClr val="8A86A8"/>
            </a:solidFill>
            <a:prstDash val="solid"/>
          </a:ln>
        </p:spPr>
      </p:sp>
      <p:sp>
        <p:nvSpPr>
          <p:cNvPr id="103" name="link"/>
          <p:cNvSpPr/>
          <p:nvPr/>
        </p:nvSpPr>
        <p:spPr>
          <a:xfrm flipV="1">
            <a:off x="3017520" y="1847088"/>
            <a:ext cx="1856232" cy="128016"/>
          </a:xfrm>
          <a:prstGeom prst="line">
            <a:avLst/>
          </a:prstGeom>
          <a:noFill/>
          <a:ln w="15875">
            <a:solidFill>
              <a:srgbClr val="5BA9D6"/>
            </a:solidFill>
            <a:prstDash val="dash"/>
          </a:ln>
        </p:spPr>
      </p:sp>
      <p:sp>
        <p:nvSpPr>
          <p:cNvPr id="104" name="link"/>
          <p:cNvSpPr/>
          <p:nvPr/>
        </p:nvSpPr>
        <p:spPr>
          <a:xfrm>
            <a:off x="4873752" y="1847088"/>
            <a:ext cx="1847088" cy="128016"/>
          </a:xfrm>
          <a:prstGeom prst="line">
            <a:avLst/>
          </a:prstGeom>
          <a:noFill/>
          <a:ln w="15875">
            <a:solidFill>
              <a:srgbClr val="8A6FD1"/>
            </a:solidFill>
            <a:prstDash val="dash"/>
          </a:ln>
        </p:spPr>
      </p:sp>
      <p:sp>
        <p:nvSpPr>
          <p:cNvPr id="105" name="link"/>
          <p:cNvSpPr/>
          <p:nvPr/>
        </p:nvSpPr>
        <p:spPr>
          <a:xfrm flipV="1">
            <a:off x="1792224" y="2286000"/>
            <a:ext cx="1225296" cy="128016"/>
          </a:xfrm>
          <a:prstGeom prst="line">
            <a:avLst/>
          </a:prstGeom>
          <a:noFill/>
          <a:ln w="15875">
            <a:solidFill>
              <a:srgbClr val="5BA9D6"/>
            </a:solidFill>
            <a:prstDash val="dash"/>
          </a:ln>
        </p:spPr>
      </p:sp>
      <p:sp>
        <p:nvSpPr>
          <p:cNvPr id="106" name="link"/>
          <p:cNvSpPr/>
          <p:nvPr/>
        </p:nvSpPr>
        <p:spPr>
          <a:xfrm>
            <a:off x="3017520" y="2286000"/>
            <a:ext cx="1234440" cy="128016"/>
          </a:xfrm>
          <a:prstGeom prst="line">
            <a:avLst/>
          </a:prstGeom>
          <a:noFill/>
          <a:ln w="15875">
            <a:solidFill>
              <a:srgbClr val="5BA9D6"/>
            </a:solidFill>
            <a:prstDash val="dash"/>
          </a:ln>
        </p:spPr>
      </p:sp>
      <p:sp>
        <p:nvSpPr>
          <p:cNvPr id="107" name="link"/>
          <p:cNvSpPr/>
          <p:nvPr/>
        </p:nvSpPr>
        <p:spPr>
          <a:xfrm>
            <a:off x="6720840" y="2286000"/>
            <a:ext cx="0" cy="128016"/>
          </a:xfrm>
          <a:prstGeom prst="line">
            <a:avLst/>
          </a:prstGeom>
          <a:noFill/>
          <a:ln w="15875">
            <a:solidFill>
              <a:srgbClr val="5BA9D6"/>
            </a:solidFill>
            <a:prstDash val="dash"/>
          </a:ln>
        </p:spPr>
      </p:sp>
      <p:sp>
        <p:nvSpPr>
          <p:cNvPr id="108" name="link"/>
          <p:cNvSpPr/>
          <p:nvPr/>
        </p:nvSpPr>
        <p:spPr>
          <a:xfrm flipV="1">
            <a:off x="1088136" y="2724912"/>
            <a:ext cx="704088" cy="128016"/>
          </a:xfrm>
          <a:prstGeom prst="line">
            <a:avLst/>
          </a:prstGeom>
          <a:noFill/>
          <a:ln w="15875">
            <a:solidFill>
              <a:srgbClr val="8A86A8"/>
            </a:solidFill>
            <a:prstDash val="solid"/>
          </a:ln>
        </p:spPr>
      </p:sp>
      <p:sp>
        <p:nvSpPr>
          <p:cNvPr id="109" name="link"/>
          <p:cNvSpPr/>
          <p:nvPr/>
        </p:nvSpPr>
        <p:spPr>
          <a:xfrm>
            <a:off x="1792224" y="2724912"/>
            <a:ext cx="0" cy="128016"/>
          </a:xfrm>
          <a:prstGeom prst="line">
            <a:avLst/>
          </a:prstGeom>
          <a:noFill/>
          <a:ln w="15875">
            <a:solidFill>
              <a:srgbClr val="8A86A8"/>
            </a:solidFill>
            <a:prstDash val="solid"/>
          </a:ln>
        </p:spPr>
      </p:sp>
      <p:sp>
        <p:nvSpPr>
          <p:cNvPr id="110" name="link"/>
          <p:cNvSpPr/>
          <p:nvPr/>
        </p:nvSpPr>
        <p:spPr>
          <a:xfrm>
            <a:off x="1792224" y="2724912"/>
            <a:ext cx="704088" cy="128016"/>
          </a:xfrm>
          <a:prstGeom prst="line">
            <a:avLst/>
          </a:prstGeom>
          <a:noFill/>
          <a:ln w="15875">
            <a:solidFill>
              <a:srgbClr val="8A86A8"/>
            </a:solidFill>
            <a:prstDash val="solid"/>
          </a:ln>
        </p:spPr>
      </p:sp>
      <p:sp>
        <p:nvSpPr>
          <p:cNvPr id="111" name="link"/>
          <p:cNvSpPr/>
          <p:nvPr/>
        </p:nvSpPr>
        <p:spPr>
          <a:xfrm>
            <a:off x="1088136" y="3127248"/>
            <a:ext cx="0" cy="164592"/>
          </a:xfrm>
          <a:prstGeom prst="line">
            <a:avLst/>
          </a:prstGeom>
          <a:noFill/>
          <a:ln w="15875">
            <a:solidFill>
              <a:srgbClr val="8A86A8"/>
            </a:solidFill>
            <a:prstDash val="solid"/>
          </a:ln>
        </p:spPr>
      </p:sp>
      <p:sp>
        <p:nvSpPr>
          <p:cNvPr id="112" name="link"/>
          <p:cNvSpPr/>
          <p:nvPr/>
        </p:nvSpPr>
        <p:spPr>
          <a:xfrm>
            <a:off x="1792224" y="3127248"/>
            <a:ext cx="0" cy="164592"/>
          </a:xfrm>
          <a:prstGeom prst="line">
            <a:avLst/>
          </a:prstGeom>
          <a:noFill/>
          <a:ln w="15875">
            <a:solidFill>
              <a:srgbClr val="8A86A8"/>
            </a:solidFill>
            <a:prstDash val="solid"/>
          </a:ln>
        </p:spPr>
      </p:sp>
      <p:sp>
        <p:nvSpPr>
          <p:cNvPr id="113" name="link"/>
          <p:cNvSpPr/>
          <p:nvPr/>
        </p:nvSpPr>
        <p:spPr>
          <a:xfrm>
            <a:off x="2496312" y="3127248"/>
            <a:ext cx="0" cy="164592"/>
          </a:xfrm>
          <a:prstGeom prst="line">
            <a:avLst/>
          </a:prstGeom>
          <a:noFill/>
          <a:ln w="15875">
            <a:solidFill>
              <a:srgbClr val="8A86A8"/>
            </a:solidFill>
            <a:prstDash val="solid"/>
          </a:ln>
        </p:spPr>
      </p:sp>
      <p:sp>
        <p:nvSpPr>
          <p:cNvPr id="114" name="link"/>
          <p:cNvSpPr/>
          <p:nvPr/>
        </p:nvSpPr>
        <p:spPr>
          <a:xfrm flipV="1">
            <a:off x="3200400" y="2724912"/>
            <a:ext cx="1051560" cy="566928"/>
          </a:xfrm>
          <a:prstGeom prst="line">
            <a:avLst/>
          </a:prstGeom>
          <a:noFill/>
          <a:ln w="15875">
            <a:solidFill>
              <a:srgbClr val="8A86A8"/>
            </a:solidFill>
            <a:prstDash val="solid"/>
          </a:ln>
        </p:spPr>
      </p:sp>
      <p:sp>
        <p:nvSpPr>
          <p:cNvPr id="115" name="link"/>
          <p:cNvSpPr/>
          <p:nvPr/>
        </p:nvSpPr>
        <p:spPr>
          <a:xfrm flipV="1">
            <a:off x="3904488" y="2724912"/>
            <a:ext cx="347472" cy="566928"/>
          </a:xfrm>
          <a:prstGeom prst="line">
            <a:avLst/>
          </a:prstGeom>
          <a:noFill/>
          <a:ln w="15875">
            <a:solidFill>
              <a:srgbClr val="8A86A8"/>
            </a:solidFill>
            <a:prstDash val="solid"/>
          </a:ln>
        </p:spPr>
      </p:sp>
      <p:sp>
        <p:nvSpPr>
          <p:cNvPr id="116" name="link"/>
          <p:cNvSpPr/>
          <p:nvPr/>
        </p:nvSpPr>
        <p:spPr>
          <a:xfrm>
            <a:off x="4251960" y="2724912"/>
            <a:ext cx="356616" cy="566928"/>
          </a:xfrm>
          <a:prstGeom prst="line">
            <a:avLst/>
          </a:prstGeom>
          <a:noFill/>
          <a:ln w="15875">
            <a:solidFill>
              <a:srgbClr val="8A86A8"/>
            </a:solidFill>
            <a:prstDash val="solid"/>
          </a:ln>
        </p:spPr>
      </p:sp>
      <p:sp>
        <p:nvSpPr>
          <p:cNvPr id="117" name="link"/>
          <p:cNvSpPr/>
          <p:nvPr/>
        </p:nvSpPr>
        <p:spPr>
          <a:xfrm>
            <a:off x="4251960" y="2724912"/>
            <a:ext cx="1060704" cy="566928"/>
          </a:xfrm>
          <a:prstGeom prst="line">
            <a:avLst/>
          </a:prstGeom>
          <a:noFill/>
          <a:ln w="15875">
            <a:solidFill>
              <a:srgbClr val="8A86A8"/>
            </a:solidFill>
            <a:prstDash val="solid"/>
          </a:ln>
        </p:spPr>
      </p:sp>
      <p:sp>
        <p:nvSpPr>
          <p:cNvPr id="118" name="link"/>
          <p:cNvSpPr/>
          <p:nvPr/>
        </p:nvSpPr>
        <p:spPr>
          <a:xfrm flipV="1">
            <a:off x="6016752" y="2724912"/>
            <a:ext cx="704088" cy="566928"/>
          </a:xfrm>
          <a:prstGeom prst="line">
            <a:avLst/>
          </a:prstGeom>
          <a:noFill/>
          <a:ln w="15875">
            <a:solidFill>
              <a:srgbClr val="8A86A8"/>
            </a:solidFill>
            <a:prstDash val="solid"/>
          </a:ln>
        </p:spPr>
      </p:sp>
      <p:sp>
        <p:nvSpPr>
          <p:cNvPr id="119" name="link"/>
          <p:cNvSpPr/>
          <p:nvPr/>
        </p:nvSpPr>
        <p:spPr>
          <a:xfrm>
            <a:off x="6720840" y="2724912"/>
            <a:ext cx="0" cy="566928"/>
          </a:xfrm>
          <a:prstGeom prst="line">
            <a:avLst/>
          </a:prstGeom>
          <a:noFill/>
          <a:ln w="15875">
            <a:solidFill>
              <a:srgbClr val="8A86A8"/>
            </a:solidFill>
            <a:prstDash val="solid"/>
          </a:ln>
        </p:spPr>
      </p:sp>
      <p:sp>
        <p:nvSpPr>
          <p:cNvPr id="120" name="link"/>
          <p:cNvSpPr/>
          <p:nvPr/>
        </p:nvSpPr>
        <p:spPr>
          <a:xfrm>
            <a:off x="6720840" y="2724912"/>
            <a:ext cx="1056132" cy="128016"/>
          </a:xfrm>
          <a:prstGeom prst="line">
            <a:avLst/>
          </a:prstGeom>
          <a:noFill/>
          <a:ln w="15875">
            <a:solidFill>
              <a:srgbClr val="8A86A8"/>
            </a:solidFill>
            <a:prstDash val="solid"/>
          </a:ln>
        </p:spPr>
      </p:sp>
      <p:sp>
        <p:nvSpPr>
          <p:cNvPr id="121" name="link"/>
          <p:cNvSpPr/>
          <p:nvPr/>
        </p:nvSpPr>
        <p:spPr>
          <a:xfrm flipV="1">
            <a:off x="7424928" y="3127248"/>
            <a:ext cx="352044" cy="164592"/>
          </a:xfrm>
          <a:prstGeom prst="line">
            <a:avLst/>
          </a:prstGeom>
          <a:noFill/>
          <a:ln w="15875">
            <a:solidFill>
              <a:srgbClr val="8A86A8"/>
            </a:solidFill>
            <a:prstDash val="solid"/>
          </a:ln>
        </p:spPr>
      </p:sp>
      <p:sp>
        <p:nvSpPr>
          <p:cNvPr id="122" name="link"/>
          <p:cNvSpPr/>
          <p:nvPr/>
        </p:nvSpPr>
        <p:spPr>
          <a:xfrm>
            <a:off x="7776972" y="3127248"/>
            <a:ext cx="352044" cy="164592"/>
          </a:xfrm>
          <a:prstGeom prst="line">
            <a:avLst/>
          </a:prstGeom>
          <a:noFill/>
          <a:ln w="15875">
            <a:solidFill>
              <a:srgbClr val="8A86A8"/>
            </a:solidFill>
            <a:prstDash val="solid"/>
          </a:ln>
        </p:spPr>
      </p:sp>
      <p:sp>
        <p:nvSpPr>
          <p:cNvPr id="123" name="node"/>
          <p:cNvSpPr/>
          <p:nvPr/>
        </p:nvSpPr>
        <p:spPr>
          <a:xfrm>
            <a:off x="4096512" y="1097280"/>
            <a:ext cx="1554480" cy="310896"/>
          </a:xfrm>
          <a:prstGeom prst="roundRect">
            <a:avLst>
              <a:gd name="adj" fmla="val 20000"/>
            </a:avLst>
          </a:prstGeom>
          <a:solidFill>
            <a:schemeClr val="accent2"/>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ISP Gateway</a:t>
            </a:r>
          </a:p>
          <a:p>
            <a:pPr marL="0" indent="0" algn="ctr">
              <a:buNone/>
            </a:pPr>
            <a:r>
              <a:rPr lang="en-US" sz="700" b="0" dirty="0">
                <a:solidFill>
                  <a:schemeClr val="tx2"/>
                </a:solidFill>
              </a:rPr>
              <a:t>203.0.113.1</a:t>
            </a:r>
          </a:p>
        </p:txBody>
      </p:sp>
      <p:sp>
        <p:nvSpPr>
          <p:cNvPr id="124" name="node"/>
          <p:cNvSpPr/>
          <p:nvPr/>
        </p:nvSpPr>
        <p:spPr>
          <a:xfrm>
            <a:off x="4096512" y="1536192"/>
            <a:ext cx="1554480" cy="310896"/>
          </a:xfrm>
          <a:prstGeom prst="roundRect">
            <a:avLst>
              <a:gd name="adj" fmla="val 20000"/>
            </a:avLst>
          </a:prstGeom>
          <a:solidFill>
            <a:schemeClr val="accent4"/>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Edge Router R1</a:t>
            </a:r>
          </a:p>
          <a:p>
            <a:pPr marL="0" indent="0" algn="ctr">
              <a:buNone/>
            </a:pPr>
            <a:r>
              <a:rPr lang="en-US" sz="700" b="0" dirty="0">
                <a:solidFill>
                  <a:schemeClr val="tx2"/>
                </a:solidFill>
              </a:rPr>
              <a:t>203.0.113.2</a:t>
            </a:r>
          </a:p>
        </p:txBody>
      </p:sp>
      <p:sp>
        <p:nvSpPr>
          <p:cNvPr id="125" name="node"/>
          <p:cNvSpPr/>
          <p:nvPr/>
        </p:nvSpPr>
        <p:spPr>
          <a:xfrm>
            <a:off x="2240280" y="1975104"/>
            <a:ext cx="1554480" cy="310896"/>
          </a:xfrm>
          <a:prstGeom prst="roundRect">
            <a:avLst>
              <a:gd name="adj" fmla="val 20000"/>
            </a:avLst>
          </a:prstGeom>
          <a:solidFill>
            <a:schemeClr val="accent4"/>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Core Router R2</a:t>
            </a:r>
          </a:p>
          <a:p>
            <a:pPr marL="0" indent="0" algn="ctr">
              <a:buNone/>
            </a:pPr>
            <a:r>
              <a:rPr lang="en-US" sz="700" b="0" dirty="0">
                <a:solidFill>
                  <a:schemeClr val="tx2"/>
                </a:solidFill>
              </a:rPr>
              <a:t>10.0.12.2</a:t>
            </a:r>
          </a:p>
        </p:txBody>
      </p:sp>
      <p:sp>
        <p:nvSpPr>
          <p:cNvPr id="126" name="node"/>
          <p:cNvSpPr/>
          <p:nvPr/>
        </p:nvSpPr>
        <p:spPr>
          <a:xfrm>
            <a:off x="5943600" y="1975104"/>
            <a:ext cx="1554480" cy="310896"/>
          </a:xfrm>
          <a:prstGeom prst="roundRect">
            <a:avLst>
              <a:gd name="adj" fmla="val 20000"/>
            </a:avLst>
          </a:prstGeom>
          <a:solidFill>
            <a:schemeClr val="accent4"/>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Core Router R3 (backup)</a:t>
            </a:r>
          </a:p>
          <a:p>
            <a:pPr marL="0" indent="0" algn="ctr">
              <a:buNone/>
            </a:pPr>
            <a:r>
              <a:rPr lang="en-US" sz="700" b="0" dirty="0">
                <a:solidFill>
                  <a:schemeClr val="tx2"/>
                </a:solidFill>
              </a:rPr>
              <a:t>10.0.13.2</a:t>
            </a:r>
          </a:p>
        </p:txBody>
      </p:sp>
      <p:sp>
        <p:nvSpPr>
          <p:cNvPr id="127" name="node"/>
          <p:cNvSpPr/>
          <p:nvPr/>
        </p:nvSpPr>
        <p:spPr>
          <a:xfrm>
            <a:off x="1106424" y="2414016"/>
            <a:ext cx="1371600" cy="310896"/>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Distribution Switch</a:t>
            </a:r>
          </a:p>
          <a:p>
            <a:pPr marL="0" indent="0" algn="ctr">
              <a:buNone/>
            </a:pPr>
            <a:r>
              <a:rPr lang="en-US" sz="700" b="0" dirty="0">
                <a:solidFill>
                  <a:schemeClr val="tx2"/>
                </a:solidFill>
              </a:rPr>
              <a:t>10.0.1.2</a:t>
            </a:r>
          </a:p>
        </p:txBody>
      </p:sp>
      <p:sp>
        <p:nvSpPr>
          <p:cNvPr id="128" name="node"/>
          <p:cNvSpPr/>
          <p:nvPr/>
        </p:nvSpPr>
        <p:spPr>
          <a:xfrm>
            <a:off x="3566160" y="2414016"/>
            <a:ext cx="1371600" cy="310896"/>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Server Farm Switch</a:t>
            </a:r>
          </a:p>
          <a:p>
            <a:pPr marL="0" indent="0" algn="ctr">
              <a:buNone/>
            </a:pPr>
            <a:r>
              <a:rPr lang="en-US" sz="700" b="0" dirty="0">
                <a:solidFill>
                  <a:schemeClr val="tx2"/>
                </a:solidFill>
              </a:rPr>
              <a:t>10.70.0.2</a:t>
            </a:r>
          </a:p>
        </p:txBody>
      </p:sp>
      <p:sp>
        <p:nvSpPr>
          <p:cNvPr id="129" name="node"/>
          <p:cNvSpPr/>
          <p:nvPr/>
        </p:nvSpPr>
        <p:spPr>
          <a:xfrm>
            <a:off x="6035040" y="2414016"/>
            <a:ext cx="1371600" cy="310896"/>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800" b="1" dirty="0">
                <a:solidFill>
                  <a:schemeClr val="tx1"/>
                </a:solidFill>
              </a:rPr>
              <a:t>Academic Switch</a:t>
            </a:r>
          </a:p>
          <a:p>
            <a:pPr marL="0" indent="0" algn="ctr">
              <a:buNone/>
            </a:pPr>
            <a:r>
              <a:rPr lang="en-US" sz="700" b="0" dirty="0">
                <a:solidFill>
                  <a:schemeClr val="tx2"/>
                </a:solidFill>
              </a:rPr>
              <a:t>10.0.2.2</a:t>
            </a:r>
          </a:p>
        </p:txBody>
      </p:sp>
      <p:sp>
        <p:nvSpPr>
          <p:cNvPr id="130" name="node"/>
          <p:cNvSpPr/>
          <p:nvPr/>
        </p:nvSpPr>
        <p:spPr>
          <a:xfrm>
            <a:off x="758952" y="2852928"/>
            <a:ext cx="658368" cy="274320"/>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750" b="1" dirty="0">
                <a:solidFill>
                  <a:schemeClr val="tx1"/>
                </a:solidFill>
              </a:rPr>
              <a:t>CSE Switch</a:t>
            </a:r>
          </a:p>
        </p:txBody>
      </p:sp>
      <p:sp>
        <p:nvSpPr>
          <p:cNvPr id="131" name="node"/>
          <p:cNvSpPr/>
          <p:nvPr/>
        </p:nvSpPr>
        <p:spPr>
          <a:xfrm>
            <a:off x="1463040" y="2852928"/>
            <a:ext cx="658368" cy="274320"/>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750" b="1" dirty="0">
                <a:solidFill>
                  <a:schemeClr val="tx1"/>
                </a:solidFill>
              </a:rPr>
              <a:t>ECE Switch</a:t>
            </a:r>
          </a:p>
        </p:txBody>
      </p:sp>
      <p:sp>
        <p:nvSpPr>
          <p:cNvPr id="132" name="node"/>
          <p:cNvSpPr/>
          <p:nvPr/>
        </p:nvSpPr>
        <p:spPr>
          <a:xfrm>
            <a:off x="2167128" y="2852928"/>
            <a:ext cx="658368" cy="274320"/>
          </a:xfrm>
          <a:prstGeom prst="roundRect">
            <a:avLst>
              <a:gd name="adj" fmla="val 20000"/>
            </a:avLst>
          </a:prstGeom>
          <a:solidFill>
            <a:schemeClr val="accent1"/>
          </a:solidFill>
          <a:ln w="9525">
            <a:solidFill>
              <a:srgbClr val="8A86A8"/>
            </a:solidFill>
          </a:ln>
        </p:spPr>
        <p:txBody>
          <a:bodyPr wrap="square" lIns="36576" tIns="18288" rIns="36576" bIns="18288" rtlCol="0" anchor="ctr"/>
          <a:lstStyle/>
          <a:p>
            <a:pPr marL="0" indent="0" algn="ctr">
              <a:buNone/>
            </a:pPr>
            <a:r>
              <a:rPr lang="en-US" sz="750" b="1" dirty="0">
                <a:solidFill>
                  <a:schemeClr val="tx1"/>
                </a:solidFill>
              </a:rPr>
              <a:t>Admin Switch</a:t>
            </a:r>
          </a:p>
        </p:txBody>
      </p:sp>
      <p:sp>
        <p:nvSpPr>
          <p:cNvPr id="133" name="node"/>
          <p:cNvSpPr/>
          <p:nvPr/>
        </p:nvSpPr>
        <p:spPr>
          <a:xfrm>
            <a:off x="7319772" y="2852928"/>
            <a:ext cx="914400" cy="274320"/>
          </a:xfrm>
          <a:prstGeom prst="roundRect">
            <a:avLst>
              <a:gd name="adj" fmla="val 20000"/>
            </a:avLst>
          </a:prstGeom>
          <a:solidFill>
            <a:schemeClr val="accent6"/>
          </a:solidFill>
          <a:ln w="9525">
            <a:solidFill>
              <a:srgbClr val="8A86A8"/>
            </a:solidFill>
          </a:ln>
        </p:spPr>
        <p:txBody>
          <a:bodyPr wrap="square" lIns="36576" tIns="18288" rIns="36576" bIns="18288" rtlCol="0" anchor="ctr"/>
          <a:lstStyle/>
          <a:p>
            <a:pPr marL="0" indent="0" algn="ctr">
              <a:buNone/>
            </a:pPr>
            <a:r>
              <a:rPr lang="en-US" sz="750" b="1" dirty="0">
                <a:solidFill>
                  <a:schemeClr val="tx1"/>
                </a:solidFill>
              </a:rPr>
              <a:t>Campus Wi-Fi AP</a:t>
            </a:r>
          </a:p>
        </p:txBody>
      </p:sp>
      <p:sp>
        <p:nvSpPr>
          <p:cNvPr id="134" name="node"/>
          <p:cNvSpPr/>
          <p:nvPr/>
        </p:nvSpPr>
        <p:spPr>
          <a:xfrm>
            <a:off x="763524"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CSE Lab PC</a:t>
            </a:r>
          </a:p>
          <a:p>
            <a:pPr marL="0" indent="0" algn="ctr">
              <a:buNone/>
            </a:pPr>
            <a:r>
              <a:rPr lang="en-US" sz="700" b="0" dirty="0">
                <a:solidFill>
                  <a:schemeClr val="tx2"/>
                </a:solidFill>
              </a:rPr>
              <a:t>VLAN 10</a:t>
            </a:r>
          </a:p>
        </p:txBody>
      </p:sp>
      <p:sp>
        <p:nvSpPr>
          <p:cNvPr id="135" name="node"/>
          <p:cNvSpPr/>
          <p:nvPr/>
        </p:nvSpPr>
        <p:spPr>
          <a:xfrm>
            <a:off x="1467612"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ECE Lab PC</a:t>
            </a:r>
          </a:p>
          <a:p>
            <a:pPr marL="0" indent="0" algn="ctr">
              <a:buNone/>
            </a:pPr>
            <a:r>
              <a:rPr lang="en-US" sz="700" b="0" dirty="0">
                <a:solidFill>
                  <a:schemeClr val="tx2"/>
                </a:solidFill>
              </a:rPr>
              <a:t>VLAN 20</a:t>
            </a:r>
          </a:p>
        </p:txBody>
      </p:sp>
      <p:sp>
        <p:nvSpPr>
          <p:cNvPr id="136" name="node"/>
          <p:cNvSpPr/>
          <p:nvPr/>
        </p:nvSpPr>
        <p:spPr>
          <a:xfrm>
            <a:off x="2171700"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Admin PC</a:t>
            </a:r>
          </a:p>
          <a:p>
            <a:pPr marL="0" indent="0" algn="ctr">
              <a:buNone/>
            </a:pPr>
            <a:r>
              <a:rPr lang="en-US" sz="700" b="0" dirty="0">
                <a:solidFill>
                  <a:schemeClr val="tx2"/>
                </a:solidFill>
              </a:rPr>
              <a:t>VLAN 30</a:t>
            </a:r>
          </a:p>
        </p:txBody>
      </p:sp>
      <p:sp>
        <p:nvSpPr>
          <p:cNvPr id="137" name="node"/>
          <p:cNvSpPr/>
          <p:nvPr/>
        </p:nvSpPr>
        <p:spPr>
          <a:xfrm>
            <a:off x="2875788" y="3291840"/>
            <a:ext cx="649224" cy="365760"/>
          </a:xfrm>
          <a:prstGeom prst="roundRect">
            <a:avLst>
              <a:gd name="adj" fmla="val 15000"/>
            </a:avLst>
          </a:prstGeom>
          <a:solidFill>
            <a:schemeClr val="accent5"/>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DNS</a:t>
            </a:r>
          </a:p>
          <a:p>
            <a:pPr marL="0" indent="0" algn="ctr">
              <a:buNone/>
            </a:pPr>
            <a:r>
              <a:rPr lang="en-US" sz="700" b="0" dirty="0">
                <a:solidFill>
                  <a:schemeClr val="tx2"/>
                </a:solidFill>
              </a:rPr>
              <a:t>VLAN 70</a:t>
            </a:r>
          </a:p>
        </p:txBody>
      </p:sp>
      <p:sp>
        <p:nvSpPr>
          <p:cNvPr id="138" name="node"/>
          <p:cNvSpPr/>
          <p:nvPr/>
        </p:nvSpPr>
        <p:spPr>
          <a:xfrm>
            <a:off x="3579876" y="3291840"/>
            <a:ext cx="649224" cy="365760"/>
          </a:xfrm>
          <a:prstGeom prst="roundRect">
            <a:avLst>
              <a:gd name="adj" fmla="val 15000"/>
            </a:avLst>
          </a:prstGeom>
          <a:solidFill>
            <a:schemeClr val="accent5"/>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DHCP</a:t>
            </a:r>
          </a:p>
          <a:p>
            <a:pPr marL="0" indent="0" algn="ctr">
              <a:buNone/>
            </a:pPr>
            <a:r>
              <a:rPr lang="en-US" sz="700" b="0" dirty="0">
                <a:solidFill>
                  <a:schemeClr val="tx2"/>
                </a:solidFill>
              </a:rPr>
              <a:t>VLAN 70</a:t>
            </a:r>
          </a:p>
        </p:txBody>
      </p:sp>
      <p:sp>
        <p:nvSpPr>
          <p:cNvPr id="139" name="node"/>
          <p:cNvSpPr/>
          <p:nvPr/>
        </p:nvSpPr>
        <p:spPr>
          <a:xfrm>
            <a:off x="4283964" y="3291840"/>
            <a:ext cx="649224" cy="365760"/>
          </a:xfrm>
          <a:prstGeom prst="roundRect">
            <a:avLst>
              <a:gd name="adj" fmla="val 15000"/>
            </a:avLst>
          </a:prstGeom>
          <a:solidFill>
            <a:schemeClr val="accent5"/>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Web</a:t>
            </a:r>
          </a:p>
          <a:p>
            <a:pPr marL="0" indent="0" algn="ctr">
              <a:buNone/>
            </a:pPr>
            <a:r>
              <a:rPr lang="en-US" sz="700" b="0" dirty="0">
                <a:solidFill>
                  <a:schemeClr val="tx2"/>
                </a:solidFill>
              </a:rPr>
              <a:t>VLAN 70</a:t>
            </a:r>
          </a:p>
        </p:txBody>
      </p:sp>
      <p:sp>
        <p:nvSpPr>
          <p:cNvPr id="140" name="node"/>
          <p:cNvSpPr/>
          <p:nvPr/>
        </p:nvSpPr>
        <p:spPr>
          <a:xfrm>
            <a:off x="4988052" y="3291840"/>
            <a:ext cx="649224" cy="365760"/>
          </a:xfrm>
          <a:prstGeom prst="roundRect">
            <a:avLst>
              <a:gd name="adj" fmla="val 15000"/>
            </a:avLst>
          </a:prstGeom>
          <a:solidFill>
            <a:schemeClr val="accent5"/>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FTP</a:t>
            </a:r>
          </a:p>
          <a:p>
            <a:pPr marL="0" indent="0" algn="ctr">
              <a:buNone/>
            </a:pPr>
            <a:r>
              <a:rPr lang="en-US" sz="700" b="0" dirty="0">
                <a:solidFill>
                  <a:schemeClr val="tx2"/>
                </a:solidFill>
              </a:rPr>
              <a:t>VLAN 70</a:t>
            </a:r>
          </a:p>
        </p:txBody>
      </p:sp>
      <p:sp>
        <p:nvSpPr>
          <p:cNvPr id="141" name="node"/>
          <p:cNvSpPr/>
          <p:nvPr/>
        </p:nvSpPr>
        <p:spPr>
          <a:xfrm>
            <a:off x="5692140"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Faculty</a:t>
            </a:r>
          </a:p>
          <a:p>
            <a:pPr marL="0" indent="0" algn="ctr">
              <a:buNone/>
            </a:pPr>
            <a:r>
              <a:rPr lang="en-US" sz="700" b="0" dirty="0">
                <a:solidFill>
                  <a:schemeClr val="tx2"/>
                </a:solidFill>
              </a:rPr>
              <a:t>VLAN 40</a:t>
            </a:r>
          </a:p>
        </p:txBody>
      </p:sp>
      <p:sp>
        <p:nvSpPr>
          <p:cNvPr id="142" name="node"/>
          <p:cNvSpPr/>
          <p:nvPr/>
        </p:nvSpPr>
        <p:spPr>
          <a:xfrm>
            <a:off x="6396228"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Library OPAC</a:t>
            </a:r>
          </a:p>
          <a:p>
            <a:pPr marL="0" indent="0" algn="ctr">
              <a:buNone/>
            </a:pPr>
            <a:r>
              <a:rPr lang="en-US" sz="700" b="0" dirty="0">
                <a:solidFill>
                  <a:schemeClr val="tx2"/>
                </a:solidFill>
              </a:rPr>
              <a:t>VLAN 60</a:t>
            </a:r>
          </a:p>
        </p:txBody>
      </p:sp>
      <p:sp>
        <p:nvSpPr>
          <p:cNvPr id="143" name="node"/>
          <p:cNvSpPr/>
          <p:nvPr/>
        </p:nvSpPr>
        <p:spPr>
          <a:xfrm>
            <a:off x="7100316"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Student</a:t>
            </a:r>
          </a:p>
          <a:p>
            <a:pPr marL="0" indent="0" algn="ctr">
              <a:buNone/>
            </a:pPr>
            <a:r>
              <a:rPr lang="en-US" sz="700" b="0" dirty="0">
                <a:solidFill>
                  <a:schemeClr val="tx2"/>
                </a:solidFill>
              </a:rPr>
              <a:t>VLAN 50</a:t>
            </a:r>
          </a:p>
        </p:txBody>
      </p:sp>
      <p:sp>
        <p:nvSpPr>
          <p:cNvPr id="144" name="node"/>
          <p:cNvSpPr/>
          <p:nvPr/>
        </p:nvSpPr>
        <p:spPr>
          <a:xfrm>
            <a:off x="7804404" y="3291840"/>
            <a:ext cx="649224" cy="365760"/>
          </a:xfrm>
          <a:prstGeom prst="roundRect">
            <a:avLst>
              <a:gd name="adj" fmla="val 15000"/>
            </a:avLst>
          </a:prstGeom>
          <a:solidFill>
            <a:schemeClr val="accent3"/>
          </a:solidFill>
          <a:ln w="9525">
            <a:solidFill>
              <a:srgbClr val="8A86A8"/>
            </a:solidFill>
          </a:ln>
        </p:spPr>
        <p:txBody>
          <a:bodyPr wrap="square" lIns="18288" tIns="9144" rIns="18288" bIns="9144" rtlCol="0" anchor="ctr"/>
          <a:lstStyle/>
          <a:p>
            <a:pPr marL="0" indent="0" algn="ctr">
              <a:buNone/>
            </a:pPr>
            <a:r>
              <a:rPr lang="en-US" sz="750" b="1" dirty="0">
                <a:solidFill>
                  <a:schemeClr val="tx1"/>
                </a:solidFill>
              </a:rPr>
              <a:t>Energy Sensor</a:t>
            </a:r>
          </a:p>
          <a:p>
            <a:pPr marL="0" indent="0" algn="ctr">
              <a:buNone/>
            </a:pPr>
            <a:r>
              <a:rPr lang="en-US" sz="700" b="0" dirty="0">
                <a:solidFill>
                  <a:schemeClr val="tx2"/>
                </a:solidFill>
              </a:rPr>
              <a:t>VLAN 80</a:t>
            </a:r>
          </a:p>
        </p:txBody>
      </p:sp>
      <p:sp>
        <p:nvSpPr>
          <p:cNvPr id="145" name="detail"/>
          <p:cNvSpPr/>
          <p:nvPr/>
        </p:nvSpPr>
        <p:spPr>
          <a:xfrm>
            <a:off x="548640" y="3977640"/>
            <a:ext cx="1874520" cy="621792"/>
          </a:xfrm>
          <a:prstGeom prst="roundRect">
            <a:avLst>
              <a:gd name="adj" fmla="val 18000"/>
            </a:avLst>
          </a:prstGeom>
          <a:solidFill>
            <a:schemeClr val="accent1"/>
          </a:solidFill>
          <a:ln>
            <a:noFill/>
          </a:ln>
          <a:effectLst>
            <a:outerShdw blurRad="101600" dist="25400" dir="5400000" algn="bl" rotWithShape="0">
              <a:srgbClr val="7A74A8">
                <a:alpha val="18000"/>
              </a:srgbClr>
            </a:outerShdw>
          </a:effectLst>
        </p:spPr>
        <p:txBody>
          <a:bodyPr wrap="square" lIns="91440" tIns="45720" rIns="91440" bIns="45720" rtlCol="0" anchor="ctr"/>
          <a:lstStyle/>
          <a:p>
            <a:pPr marL="0" indent="0" algn="l">
              <a:buNone/>
            </a:pPr>
            <a:r>
              <a:rPr lang="en-US" sz="1000" b="1" dirty="0">
                <a:solidFill>
                  <a:schemeClr val="tx2"/>
                </a:solidFill>
              </a:rPr>
              <a:t>3 routers: R1, R2, R3</a:t>
            </a:r>
          </a:p>
          <a:p>
            <a:pPr marL="0" indent="0" algn="l">
              <a:buNone/>
            </a:pPr>
            <a:r>
              <a:rPr lang="en-US" sz="900" b="0" dirty="0">
                <a:solidFill>
                  <a:schemeClr val="tx1"/>
                </a:solidFill>
              </a:rPr>
              <a:t>R3 is the backup path</a:t>
            </a:r>
          </a:p>
        </p:txBody>
      </p:sp>
      <p:sp>
        <p:nvSpPr>
          <p:cNvPr id="146" name="detail"/>
          <p:cNvSpPr/>
          <p:nvPr/>
        </p:nvSpPr>
        <p:spPr>
          <a:xfrm>
            <a:off x="2606040" y="3977640"/>
            <a:ext cx="1874520" cy="621792"/>
          </a:xfrm>
          <a:prstGeom prst="roundRect">
            <a:avLst>
              <a:gd name="adj" fmla="val 18000"/>
            </a:avLst>
          </a:prstGeom>
          <a:solidFill>
            <a:schemeClr val="accent2"/>
          </a:solidFill>
          <a:ln>
            <a:noFill/>
          </a:ln>
          <a:effectLst>
            <a:outerShdw blurRad="101600" dist="25400" dir="5400000" algn="bl" rotWithShape="0">
              <a:srgbClr val="7A74A8">
                <a:alpha val="18000"/>
              </a:srgbClr>
            </a:outerShdw>
          </a:effectLst>
        </p:spPr>
        <p:txBody>
          <a:bodyPr wrap="square" lIns="91440" tIns="45720" rIns="91440" bIns="45720" rtlCol="0" anchor="ctr"/>
          <a:lstStyle/>
          <a:p>
            <a:pPr marL="0" indent="0" algn="l">
              <a:buNone/>
            </a:pPr>
            <a:r>
              <a:rPr lang="en-US" sz="1000" b="1" dirty="0">
                <a:solidFill>
                  <a:schemeClr val="tx2"/>
                </a:solidFill>
              </a:rPr>
              <a:t>8 VLANs, 10 to 80</a:t>
            </a:r>
          </a:p>
          <a:p>
            <a:pPr marL="0" indent="0" algn="l">
              <a:buNone/>
            </a:pPr>
            <a:r>
              <a:rPr lang="en-US" sz="900" b="0" dirty="0">
                <a:solidFill>
                  <a:schemeClr val="tx1"/>
                </a:solidFill>
              </a:rPr>
              <a:t>CSE, ECE, Admin, Faculty, Student, Library, Servers, Energy</a:t>
            </a:r>
          </a:p>
        </p:txBody>
      </p:sp>
      <p:sp>
        <p:nvSpPr>
          <p:cNvPr id="147" name="detail"/>
          <p:cNvSpPr/>
          <p:nvPr/>
        </p:nvSpPr>
        <p:spPr>
          <a:xfrm>
            <a:off x="4663440" y="3977640"/>
            <a:ext cx="1874520" cy="621792"/>
          </a:xfrm>
          <a:prstGeom prst="roundRect">
            <a:avLst>
              <a:gd name="adj" fmla="val 18000"/>
            </a:avLst>
          </a:prstGeom>
          <a:solidFill>
            <a:schemeClr val="accent4"/>
          </a:solidFill>
          <a:ln>
            <a:noFill/>
          </a:ln>
          <a:effectLst>
            <a:outerShdw blurRad="101600" dist="25400" dir="5400000" algn="bl" rotWithShape="0">
              <a:srgbClr val="7A74A8">
                <a:alpha val="18000"/>
              </a:srgbClr>
            </a:outerShdw>
          </a:effectLst>
        </p:spPr>
        <p:txBody>
          <a:bodyPr wrap="square" lIns="91440" tIns="45720" rIns="91440" bIns="45720" rtlCol="0" anchor="ctr"/>
          <a:lstStyle/>
          <a:p>
            <a:pPr marL="0" indent="0" algn="l">
              <a:buNone/>
            </a:pPr>
            <a:r>
              <a:rPr lang="en-US" sz="1000" b="1" dirty="0">
                <a:solidFill>
                  <a:schemeClr val="tx2"/>
                </a:solidFill>
              </a:rPr>
              <a:t>Inter-VLAN traffic</a:t>
            </a:r>
          </a:p>
          <a:p>
            <a:pPr marL="0" indent="0" algn="l">
              <a:buNone/>
            </a:pPr>
            <a:r>
              <a:rPr lang="en-US" sz="900" b="0" dirty="0">
                <a:solidFill>
                  <a:schemeClr val="tx1"/>
                </a:solidFill>
              </a:rPr>
              <a:t>goes via a router, so ACLs can filter it</a:t>
            </a:r>
          </a:p>
        </p:txBody>
      </p:sp>
      <p:sp>
        <p:nvSpPr>
          <p:cNvPr id="148" name="detail"/>
          <p:cNvSpPr/>
          <p:nvPr/>
        </p:nvSpPr>
        <p:spPr>
          <a:xfrm>
            <a:off x="6720840" y="3977640"/>
            <a:ext cx="1874520" cy="621792"/>
          </a:xfrm>
          <a:prstGeom prst="roundRect">
            <a:avLst>
              <a:gd name="adj" fmla="val 18000"/>
            </a:avLst>
          </a:prstGeom>
          <a:solidFill>
            <a:schemeClr val="accent6"/>
          </a:solidFill>
          <a:ln>
            <a:noFill/>
          </a:ln>
          <a:effectLst>
            <a:outerShdw blurRad="101600" dist="25400" dir="5400000" algn="bl" rotWithShape="0">
              <a:srgbClr val="7A74A8">
                <a:alpha val="18000"/>
              </a:srgbClr>
            </a:outerShdw>
          </a:effectLst>
        </p:spPr>
        <p:txBody>
          <a:bodyPr wrap="square" lIns="91440" tIns="45720" rIns="91440" bIns="45720" rtlCol="0" anchor="ctr"/>
          <a:lstStyle/>
          <a:p>
            <a:pPr marL="0" indent="0" algn="l">
              <a:buNone/>
            </a:pPr>
            <a:r>
              <a:rPr lang="en-US" sz="1000" b="1" dirty="0">
                <a:solidFill>
                  <a:schemeClr val="tx2"/>
                </a:solidFill>
              </a:rPr>
              <a:t>Link speeds</a:t>
            </a:r>
          </a:p>
          <a:p>
            <a:pPr marL="0" indent="0" algn="l">
              <a:buNone/>
            </a:pPr>
            <a:r>
              <a:rPr lang="en-US" sz="900" b="0" dirty="0">
                <a:solidFill>
                  <a:schemeClr val="tx1"/>
                </a:solidFill>
              </a:rPr>
              <a:t>10G routers, 1G switches, Wi-Fi 300M/54M</a:t>
            </a:r>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Architecture: core algorithms</a:t>
            </a:r>
            <a:endParaRPr lang="en-US" sz="3200" dirty="0"/>
          </a:p>
        </p:txBody>
      </p:sp>
      <p:sp>
        <p:nvSpPr>
          <p:cNvPr id="4" name="algo"/>
          <p:cNvSpPr/>
          <p:nvPr/>
        </p:nvSpPr>
        <p:spPr>
          <a:xfrm>
            <a:off x="548640" y="1143000"/>
            <a:ext cx="2560320" cy="1600200"/>
          </a:xfrm>
          <a:prstGeom prst="roundRect">
            <a:avLst>
              <a:gd name="adj" fmla="val 8000"/>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5" name="icon-circle"/>
          <p:cNvSpPr/>
          <p:nvPr/>
        </p:nvSpPr>
        <p:spPr>
          <a:xfrm>
            <a:off x="685800" y="1261872"/>
            <a:ext cx="457200" cy="457200"/>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786384" y="1362456"/>
            <a:ext cx="256032" cy="256032"/>
          </a:xfrm>
          <a:prstGeom prst="rect">
            <a:avLst/>
          </a:prstGeom>
        </p:spPr>
      </p:pic>
      <p:sp>
        <p:nvSpPr>
          <p:cNvPr id="7" name="Text 3"/>
          <p:cNvSpPr txBox="1"/>
          <p:nvPr/>
        </p:nvSpPr>
        <p:spPr>
          <a:xfrm>
            <a:off x="1234440" y="126187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Topology graph</a:t>
            </a:r>
            <a:endParaRPr lang="en-US" sz="1400" dirty="0"/>
          </a:p>
        </p:txBody>
      </p:sp>
      <p:sp>
        <p:nvSpPr>
          <p:cNvPr id="8" name="Text 4"/>
          <p:cNvSpPr txBox="1"/>
          <p:nvPr/>
        </p:nvSpPr>
        <p:spPr>
          <a:xfrm>
            <a:off x="713232" y="1801368"/>
            <a:ext cx="2286000" cy="868680"/>
          </a:xfrm>
          <a:prstGeom prst="rect">
            <a:avLst/>
          </a:prstGeom>
          <a:noFill/>
          <a:ln/>
        </p:spPr>
        <p:txBody>
          <a:bodyPr wrap="square" lIns="0" tIns="0" rIns="0" bIns="0" rtlCol="0" anchor="t"/>
          <a:lstStyle/>
          <a:p>
            <a:pPr marL="0" indent="0">
              <a:buNone/>
            </a:pPr>
            <a:r>
              <a:rPr lang="en-US" sz="1200" dirty="0">
                <a:solidFill>
                  <a:schemeClr val="tx1"/>
                </a:solidFill>
              </a:rPr>
              <a:t>Network stored as an adjacency list. Each link has an up or down state that every engine reads.</a:t>
            </a:r>
            <a:endParaRPr lang="en-US" sz="1200" dirty="0"/>
          </a:p>
        </p:txBody>
      </p:sp>
      <p:sp>
        <p:nvSpPr>
          <p:cNvPr id="9" name="algo"/>
          <p:cNvSpPr/>
          <p:nvPr/>
        </p:nvSpPr>
        <p:spPr>
          <a:xfrm>
            <a:off x="3291840" y="1143000"/>
            <a:ext cx="2560320" cy="1600200"/>
          </a:xfrm>
          <a:prstGeom prst="roundRect">
            <a:avLst>
              <a:gd name="adj" fmla="val 8000"/>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10" name="icon-circle"/>
          <p:cNvSpPr/>
          <p:nvPr/>
        </p:nvSpPr>
        <p:spPr>
          <a:xfrm>
            <a:off x="3429000" y="1261872"/>
            <a:ext cx="457200" cy="457200"/>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3529584" y="1362456"/>
            <a:ext cx="256032" cy="256032"/>
          </a:xfrm>
          <a:prstGeom prst="rect">
            <a:avLst/>
          </a:prstGeom>
        </p:spPr>
      </p:pic>
      <p:sp>
        <p:nvSpPr>
          <p:cNvPr id="12" name="Text 7"/>
          <p:cNvSpPr txBox="1"/>
          <p:nvPr/>
        </p:nvSpPr>
        <p:spPr>
          <a:xfrm>
            <a:off x="3977640" y="126187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OSPF · Dijkstra</a:t>
            </a:r>
            <a:endParaRPr lang="en-US" sz="1400" dirty="0"/>
          </a:p>
        </p:txBody>
      </p:sp>
      <p:sp>
        <p:nvSpPr>
          <p:cNvPr id="13" name="Text 8"/>
          <p:cNvSpPr txBox="1"/>
          <p:nvPr/>
        </p:nvSpPr>
        <p:spPr>
          <a:xfrm>
            <a:off x="3456432" y="1801368"/>
            <a:ext cx="2286000" cy="868680"/>
          </a:xfrm>
          <a:prstGeom prst="rect">
            <a:avLst/>
          </a:prstGeom>
          <a:noFill/>
          <a:ln/>
        </p:spPr>
        <p:txBody>
          <a:bodyPr wrap="square" lIns="0" tIns="0" rIns="0" bIns="0" rtlCol="0" anchor="t"/>
          <a:lstStyle/>
          <a:p>
            <a:pPr marL="0" indent="0">
              <a:buNone/>
            </a:pPr>
            <a:r>
              <a:rPr lang="en-US" sz="1200" dirty="0">
                <a:solidFill>
                  <a:schemeClr val="tx1"/>
                </a:solidFill>
              </a:rPr>
              <a:t>Link-state routing. Builds the shortest-path tree from link costs and reruns it when a link fails.</a:t>
            </a:r>
            <a:endParaRPr lang="en-US" sz="1200" dirty="0"/>
          </a:p>
        </p:txBody>
      </p:sp>
      <p:sp>
        <p:nvSpPr>
          <p:cNvPr id="14" name="algo"/>
          <p:cNvSpPr/>
          <p:nvPr/>
        </p:nvSpPr>
        <p:spPr>
          <a:xfrm>
            <a:off x="6035040" y="1143000"/>
            <a:ext cx="2560320" cy="1600200"/>
          </a:xfrm>
          <a:prstGeom prst="roundRect">
            <a:avLst>
              <a:gd name="adj" fmla="val 8000"/>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15" name="icon-circle"/>
          <p:cNvSpPr/>
          <p:nvPr/>
        </p:nvSpPr>
        <p:spPr>
          <a:xfrm>
            <a:off x="6172200" y="1261872"/>
            <a:ext cx="457200" cy="457200"/>
          </a:xfrm>
          <a:prstGeom prst="ellipse">
            <a:avLst/>
          </a:prstGeom>
          <a:solidFill>
            <a:srgbClr val="FFFFFF"/>
          </a:solidFill>
          <a:ln w="6350">
            <a:solidFill>
              <a:srgbClr val="FFFFFF"/>
            </a:solidFill>
            <a:prstDash val="solid"/>
          </a:ln>
        </p:spPr>
      </p:sp>
      <p:pic>
        <p:nvPicPr>
          <p:cNvPr id="16" name="icon" descr="preencoded.png"/>
          <p:cNvPicPr>
            <a:picLocks noChangeAspect="1"/>
          </p:cNvPicPr>
          <p:nvPr/>
        </p:nvPicPr>
        <p:blipFill>
          <a:blip r:embed="rId5"/>
          <a:stretch>
            <a:fillRect/>
          </a:stretch>
        </p:blipFill>
        <p:spPr>
          <a:xfrm>
            <a:off x="6272784" y="1362456"/>
            <a:ext cx="256032" cy="256032"/>
          </a:xfrm>
          <a:prstGeom prst="rect">
            <a:avLst/>
          </a:prstGeom>
        </p:spPr>
      </p:pic>
      <p:sp>
        <p:nvSpPr>
          <p:cNvPr id="17" name="Text 11"/>
          <p:cNvSpPr txBox="1"/>
          <p:nvPr/>
        </p:nvSpPr>
        <p:spPr>
          <a:xfrm>
            <a:off x="6720840" y="126187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RIP · Bellman-Ford</a:t>
            </a:r>
            <a:endParaRPr lang="en-US" sz="1400" dirty="0"/>
          </a:p>
        </p:txBody>
      </p:sp>
      <p:sp>
        <p:nvSpPr>
          <p:cNvPr id="18" name="Text 12"/>
          <p:cNvSpPr txBox="1"/>
          <p:nvPr/>
        </p:nvSpPr>
        <p:spPr>
          <a:xfrm>
            <a:off x="6199632" y="1801368"/>
            <a:ext cx="2286000" cy="868680"/>
          </a:xfrm>
          <a:prstGeom prst="rect">
            <a:avLst/>
          </a:prstGeom>
          <a:noFill/>
          <a:ln/>
        </p:spPr>
        <p:txBody>
          <a:bodyPr wrap="square" lIns="0" tIns="0" rIns="0" bIns="0" rtlCol="0" anchor="t"/>
          <a:lstStyle/>
          <a:p>
            <a:pPr marL="0" indent="0">
              <a:buNone/>
            </a:pPr>
            <a:r>
              <a:rPr lang="en-US" sz="1200" dirty="0">
                <a:solidFill>
                  <a:schemeClr val="tx1"/>
                </a:solidFill>
              </a:rPr>
              <a:t>Distance-vector routing. Routers share distances with neighbours; the path is chosen by hop count.</a:t>
            </a:r>
            <a:endParaRPr lang="en-US" sz="1200" dirty="0"/>
          </a:p>
        </p:txBody>
      </p:sp>
      <p:sp>
        <p:nvSpPr>
          <p:cNvPr id="19" name="algo"/>
          <p:cNvSpPr/>
          <p:nvPr/>
        </p:nvSpPr>
        <p:spPr>
          <a:xfrm>
            <a:off x="548640" y="2880360"/>
            <a:ext cx="2560320" cy="1600200"/>
          </a:xfrm>
          <a:prstGeom prst="roundRect">
            <a:avLst>
              <a:gd name="adj" fmla="val 8000"/>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20" name="icon-circle"/>
          <p:cNvSpPr/>
          <p:nvPr/>
        </p:nvSpPr>
        <p:spPr>
          <a:xfrm>
            <a:off x="685800" y="2999232"/>
            <a:ext cx="457200" cy="457200"/>
          </a:xfrm>
          <a:prstGeom prst="ellipse">
            <a:avLst/>
          </a:prstGeom>
          <a:solidFill>
            <a:srgbClr val="FFFFFF"/>
          </a:solidFill>
          <a:ln w="6350">
            <a:solidFill>
              <a:srgbClr val="FFFFFF"/>
            </a:solidFill>
            <a:prstDash val="solid"/>
          </a:ln>
        </p:spPr>
      </p:sp>
      <p:pic>
        <p:nvPicPr>
          <p:cNvPr id="21" name="icon" descr="preencoded.png"/>
          <p:cNvPicPr>
            <a:picLocks noChangeAspect="1"/>
          </p:cNvPicPr>
          <p:nvPr/>
        </p:nvPicPr>
        <p:blipFill>
          <a:blip r:embed="rId6"/>
          <a:stretch>
            <a:fillRect/>
          </a:stretch>
        </p:blipFill>
        <p:spPr>
          <a:xfrm>
            <a:off x="786384" y="3099816"/>
            <a:ext cx="256032" cy="256032"/>
          </a:xfrm>
          <a:prstGeom prst="rect">
            <a:avLst/>
          </a:prstGeom>
        </p:spPr>
      </p:pic>
      <p:sp>
        <p:nvSpPr>
          <p:cNvPr id="22" name="Text 15"/>
          <p:cNvSpPr txBox="1"/>
          <p:nvPr/>
        </p:nvSpPr>
        <p:spPr>
          <a:xfrm>
            <a:off x="1234440" y="299923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ACL · first match</a:t>
            </a:r>
            <a:endParaRPr lang="en-US" sz="1400" dirty="0"/>
          </a:p>
        </p:txBody>
      </p:sp>
      <p:sp>
        <p:nvSpPr>
          <p:cNvPr id="23" name="Text 16"/>
          <p:cNvSpPr txBox="1"/>
          <p:nvPr/>
        </p:nvSpPr>
        <p:spPr>
          <a:xfrm>
            <a:off x="713232" y="3538728"/>
            <a:ext cx="2286000" cy="868680"/>
          </a:xfrm>
          <a:prstGeom prst="rect">
            <a:avLst/>
          </a:prstGeom>
          <a:noFill/>
          <a:ln/>
        </p:spPr>
        <p:txBody>
          <a:bodyPr wrap="square" lIns="0" tIns="0" rIns="0" bIns="0" rtlCol="0" anchor="t"/>
          <a:lstStyle/>
          <a:p>
            <a:pPr marL="0" indent="0">
              <a:buNone/>
            </a:pPr>
            <a:r>
              <a:rPr lang="en-US" sz="1200" dirty="0">
                <a:solidFill>
                  <a:schemeClr val="tx1"/>
                </a:solidFill>
              </a:rPr>
              <a:t>Rules are checked from top to bottom. The first rule that matches decides permit or deny.</a:t>
            </a:r>
            <a:endParaRPr lang="en-US" sz="1200" dirty="0"/>
          </a:p>
        </p:txBody>
      </p:sp>
      <p:sp>
        <p:nvSpPr>
          <p:cNvPr id="24" name="algo"/>
          <p:cNvSpPr/>
          <p:nvPr/>
        </p:nvSpPr>
        <p:spPr>
          <a:xfrm>
            <a:off x="3291840" y="2880360"/>
            <a:ext cx="2560320" cy="1600200"/>
          </a:xfrm>
          <a:prstGeom prst="roundRect">
            <a:avLst>
              <a:gd name="adj" fmla="val 8000"/>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25" name="icon-circle"/>
          <p:cNvSpPr/>
          <p:nvPr/>
        </p:nvSpPr>
        <p:spPr>
          <a:xfrm>
            <a:off x="3429000" y="2999232"/>
            <a:ext cx="457200" cy="457200"/>
          </a:xfrm>
          <a:prstGeom prst="ellipse">
            <a:avLst/>
          </a:prstGeom>
          <a:solidFill>
            <a:srgbClr val="FFFFFF"/>
          </a:solidFill>
          <a:ln w="6350">
            <a:solidFill>
              <a:srgbClr val="FFFFFF"/>
            </a:solidFill>
            <a:prstDash val="solid"/>
          </a:ln>
        </p:spPr>
      </p:sp>
      <p:pic>
        <p:nvPicPr>
          <p:cNvPr id="26" name="icon" descr="preencoded.png"/>
          <p:cNvPicPr>
            <a:picLocks noChangeAspect="1"/>
          </p:cNvPicPr>
          <p:nvPr/>
        </p:nvPicPr>
        <p:blipFill>
          <a:blip r:embed="rId7"/>
          <a:stretch>
            <a:fillRect/>
          </a:stretch>
        </p:blipFill>
        <p:spPr>
          <a:xfrm>
            <a:off x="3529584" y="3099816"/>
            <a:ext cx="256032" cy="256032"/>
          </a:xfrm>
          <a:prstGeom prst="rect">
            <a:avLst/>
          </a:prstGeom>
        </p:spPr>
      </p:pic>
      <p:sp>
        <p:nvSpPr>
          <p:cNvPr id="27" name="Text 19"/>
          <p:cNvSpPr txBox="1"/>
          <p:nvPr/>
        </p:nvSpPr>
        <p:spPr>
          <a:xfrm>
            <a:off x="3977640" y="299923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QoS · strict priority</a:t>
            </a:r>
            <a:endParaRPr lang="en-US" sz="1400" dirty="0"/>
          </a:p>
        </p:txBody>
      </p:sp>
      <p:sp>
        <p:nvSpPr>
          <p:cNvPr id="28" name="Text 20"/>
          <p:cNvSpPr txBox="1"/>
          <p:nvPr/>
        </p:nvSpPr>
        <p:spPr>
          <a:xfrm>
            <a:off x="3456432" y="3538728"/>
            <a:ext cx="2286000" cy="868680"/>
          </a:xfrm>
          <a:prstGeom prst="rect">
            <a:avLst/>
          </a:prstGeom>
          <a:noFill/>
          <a:ln/>
        </p:spPr>
        <p:txBody>
          <a:bodyPr wrap="square" lIns="0" tIns="0" rIns="0" bIns="0" rtlCol="0" anchor="t"/>
          <a:lstStyle/>
          <a:p>
            <a:pPr marL="0" indent="0">
              <a:buNone/>
            </a:pPr>
            <a:r>
              <a:rPr lang="en-US" sz="1200" dirty="0">
                <a:solidFill>
                  <a:schemeClr val="tx1"/>
                </a:solidFill>
              </a:rPr>
              <a:t>Time-stepped queues. A higher-priority queue is always served first, so VoIP is not dropped.</a:t>
            </a:r>
            <a:endParaRPr lang="en-US" sz="1200" dirty="0"/>
          </a:p>
        </p:txBody>
      </p:sp>
      <p:sp>
        <p:nvSpPr>
          <p:cNvPr id="29" name="algo"/>
          <p:cNvSpPr/>
          <p:nvPr/>
        </p:nvSpPr>
        <p:spPr>
          <a:xfrm>
            <a:off x="6035040" y="2880360"/>
            <a:ext cx="2560320" cy="1600200"/>
          </a:xfrm>
          <a:prstGeom prst="roundRect">
            <a:avLst>
              <a:gd name="adj" fmla="val 8000"/>
            </a:avLst>
          </a:prstGeom>
          <a:solidFill>
            <a:schemeClr val="accent6"/>
          </a:solidFill>
          <a:ln w="6350">
            <a:solidFill>
              <a:schemeClr val="accent6"/>
            </a:solidFill>
            <a:prstDash val="solid"/>
          </a:ln>
          <a:effectLst>
            <a:outerShdw blurRad="101600" dist="25400" dir="5400000" algn="bl" rotWithShape="0">
              <a:srgbClr val="7A74A8">
                <a:alpha val="18000"/>
              </a:srgbClr>
            </a:outerShdw>
          </a:effectLst>
        </p:spPr>
      </p:sp>
      <p:sp>
        <p:nvSpPr>
          <p:cNvPr id="30" name="icon-circle"/>
          <p:cNvSpPr/>
          <p:nvPr/>
        </p:nvSpPr>
        <p:spPr>
          <a:xfrm>
            <a:off x="6172200" y="2999232"/>
            <a:ext cx="457200" cy="457200"/>
          </a:xfrm>
          <a:prstGeom prst="ellipse">
            <a:avLst/>
          </a:prstGeom>
          <a:solidFill>
            <a:srgbClr val="FFFFFF"/>
          </a:solidFill>
          <a:ln w="6350">
            <a:solidFill>
              <a:srgbClr val="FFFFFF"/>
            </a:solidFill>
            <a:prstDash val="solid"/>
          </a:ln>
        </p:spPr>
      </p:sp>
      <p:pic>
        <p:nvPicPr>
          <p:cNvPr id="31" name="icon" descr="preencoded.png"/>
          <p:cNvPicPr>
            <a:picLocks noChangeAspect="1"/>
          </p:cNvPicPr>
          <p:nvPr/>
        </p:nvPicPr>
        <p:blipFill>
          <a:blip r:embed="rId8"/>
          <a:stretch>
            <a:fillRect/>
          </a:stretch>
        </p:blipFill>
        <p:spPr>
          <a:xfrm>
            <a:off x="6272784" y="3099816"/>
            <a:ext cx="256032" cy="256032"/>
          </a:xfrm>
          <a:prstGeom prst="rect">
            <a:avLst/>
          </a:prstGeom>
        </p:spPr>
      </p:pic>
      <p:sp>
        <p:nvSpPr>
          <p:cNvPr id="32" name="Text 23"/>
          <p:cNvSpPr txBox="1"/>
          <p:nvPr/>
        </p:nvSpPr>
        <p:spPr>
          <a:xfrm>
            <a:off x="6720840" y="2999232"/>
            <a:ext cx="1828800" cy="457200"/>
          </a:xfrm>
          <a:prstGeom prst="rect">
            <a:avLst/>
          </a:prstGeom>
          <a:noFill/>
          <a:ln/>
        </p:spPr>
        <p:txBody>
          <a:bodyPr wrap="square" lIns="0" tIns="0" rIns="0" bIns="0" rtlCol="0" anchor="ctr"/>
          <a:lstStyle/>
          <a:p>
            <a:pPr marL="0" indent="0">
              <a:buNone/>
            </a:pPr>
            <a:r>
              <a:rPr lang="en-US" sz="1400" b="1" dirty="0">
                <a:solidFill>
                  <a:schemeClr val="tx2"/>
                </a:solidFill>
              </a:rPr>
              <a:t>Packet tracer</a:t>
            </a:r>
            <a:endParaRPr lang="en-US" sz="1400" dirty="0"/>
          </a:p>
        </p:txBody>
      </p:sp>
      <p:sp>
        <p:nvSpPr>
          <p:cNvPr id="33" name="Text 24"/>
          <p:cNvSpPr txBox="1"/>
          <p:nvPr/>
        </p:nvSpPr>
        <p:spPr>
          <a:xfrm>
            <a:off x="6199632" y="3538728"/>
            <a:ext cx="2286000" cy="868680"/>
          </a:xfrm>
          <a:prstGeom prst="rect">
            <a:avLst/>
          </a:prstGeom>
          <a:noFill/>
          <a:ln/>
        </p:spPr>
        <p:txBody>
          <a:bodyPr wrap="square" lIns="0" tIns="0" rIns="0" bIns="0" rtlCol="0" anchor="t"/>
          <a:lstStyle/>
          <a:p>
            <a:pPr marL="0" indent="0">
              <a:buNone/>
            </a:pPr>
            <a:r>
              <a:rPr lang="en-US" sz="1200" dirty="0">
                <a:solidFill>
                  <a:schemeClr val="tx1"/>
                </a:solidFill>
              </a:rPr>
              <a:t>Follows a packet hop by hop. At each hop it checks forwarding and the firewall.</a:t>
            </a:r>
            <a:endParaRPr lang="en-US" sz="1200" dirty="0"/>
          </a:p>
        </p:txBody>
      </p:sp>
      <p:sp>
        <p:nvSpPr>
          <p:cNvPr id="3"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Service algorithms</a:t>
            </a:r>
            <a:endParaRPr lang="en-US" sz="3200" dirty="0"/>
          </a:p>
        </p:txBody>
      </p:sp>
      <p:sp>
        <p:nvSpPr>
          <p:cNvPr id="4" name="svc-name"/>
          <p:cNvSpPr/>
          <p:nvPr/>
        </p:nvSpPr>
        <p:spPr>
          <a:xfrm>
            <a:off x="548640" y="1143000"/>
            <a:ext cx="2194560" cy="603504"/>
          </a:xfrm>
          <a:prstGeom prst="roundRect">
            <a:avLst>
              <a:gd name="adj" fmla="val 21212"/>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5" name="icon-circle"/>
          <p:cNvSpPr/>
          <p:nvPr/>
        </p:nvSpPr>
        <p:spPr>
          <a:xfrm>
            <a:off x="640080" y="1234440"/>
            <a:ext cx="420624" cy="420624"/>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732617" y="1326977"/>
            <a:ext cx="235549" cy="235549"/>
          </a:xfrm>
          <a:prstGeom prst="rect">
            <a:avLst/>
          </a:prstGeom>
        </p:spPr>
      </p:pic>
      <p:sp>
        <p:nvSpPr>
          <p:cNvPr id="7" name="Text 3"/>
          <p:cNvSpPr txBox="1"/>
          <p:nvPr/>
        </p:nvSpPr>
        <p:spPr>
          <a:xfrm>
            <a:off x="1188720" y="1143000"/>
            <a:ext cx="1508760" cy="603504"/>
          </a:xfrm>
          <a:prstGeom prst="rect">
            <a:avLst/>
          </a:prstGeom>
          <a:noFill/>
          <a:ln/>
        </p:spPr>
        <p:txBody>
          <a:bodyPr wrap="square" lIns="0" tIns="0" rIns="0" bIns="0" rtlCol="0" anchor="ctr"/>
          <a:lstStyle/>
          <a:p>
            <a:pPr marL="0" indent="0">
              <a:buNone/>
            </a:pPr>
            <a:r>
              <a:rPr lang="en-US" sz="1400" b="1" dirty="0">
                <a:solidFill>
                  <a:schemeClr val="tx2"/>
                </a:solidFill>
              </a:rPr>
              <a:t>DHCP (DORA)</a:t>
            </a:r>
            <a:endParaRPr lang="en-US" sz="1400" dirty="0"/>
          </a:p>
        </p:txBody>
      </p:sp>
      <p:sp>
        <p:nvSpPr>
          <p:cNvPr id="8" name="svc-desc"/>
          <p:cNvSpPr/>
          <p:nvPr/>
        </p:nvSpPr>
        <p:spPr>
          <a:xfrm>
            <a:off x="2880360" y="1143000"/>
            <a:ext cx="5715000" cy="603504"/>
          </a:xfrm>
          <a:prstGeom prst="roundRect">
            <a:avLst>
              <a:gd name="adj" fmla="val 21212"/>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9" name="Text 5"/>
          <p:cNvSpPr txBox="1"/>
          <p:nvPr/>
        </p:nvSpPr>
        <p:spPr>
          <a:xfrm>
            <a:off x="3063240" y="1143000"/>
            <a:ext cx="5394960" cy="603504"/>
          </a:xfrm>
          <a:prstGeom prst="rect">
            <a:avLst/>
          </a:prstGeom>
          <a:noFill/>
          <a:ln/>
        </p:spPr>
        <p:txBody>
          <a:bodyPr wrap="square" lIns="0" tIns="0" rIns="0" bIns="0" rtlCol="0" anchor="ctr"/>
          <a:lstStyle/>
          <a:p>
            <a:pPr marL="0" indent="0">
              <a:buNone/>
            </a:pPr>
            <a:r>
              <a:rPr lang="en-US" sz="1300" dirty="0">
                <a:solidFill>
                  <a:schemeClr val="tx1"/>
                </a:solidFill>
              </a:rPr>
              <a:t>Client gets an IP address in 4 steps: Discover, Offer, Request, Acknowledge.</a:t>
            </a:r>
            <a:endParaRPr lang="en-US" sz="1300" dirty="0"/>
          </a:p>
        </p:txBody>
      </p:sp>
      <p:sp>
        <p:nvSpPr>
          <p:cNvPr id="10" name="svc-name"/>
          <p:cNvSpPr/>
          <p:nvPr/>
        </p:nvSpPr>
        <p:spPr>
          <a:xfrm>
            <a:off x="548640" y="1837944"/>
            <a:ext cx="2194560" cy="603504"/>
          </a:xfrm>
          <a:prstGeom prst="roundRect">
            <a:avLst>
              <a:gd name="adj" fmla="val 21212"/>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11" name="icon-circle"/>
          <p:cNvSpPr/>
          <p:nvPr/>
        </p:nvSpPr>
        <p:spPr>
          <a:xfrm>
            <a:off x="640080" y="1929384"/>
            <a:ext cx="420624" cy="420624"/>
          </a:xfrm>
          <a:prstGeom prst="ellipse">
            <a:avLst/>
          </a:prstGeom>
          <a:solidFill>
            <a:srgbClr val="FFFFFF"/>
          </a:solidFill>
          <a:ln w="6350">
            <a:solidFill>
              <a:srgbClr val="FFFFFF"/>
            </a:solidFill>
            <a:prstDash val="solid"/>
          </a:ln>
        </p:spPr>
      </p:sp>
      <p:pic>
        <p:nvPicPr>
          <p:cNvPr id="12" name="icon" descr="preencoded.png"/>
          <p:cNvPicPr>
            <a:picLocks noChangeAspect="1"/>
          </p:cNvPicPr>
          <p:nvPr/>
        </p:nvPicPr>
        <p:blipFill>
          <a:blip r:embed="rId4"/>
          <a:stretch>
            <a:fillRect/>
          </a:stretch>
        </p:blipFill>
        <p:spPr>
          <a:xfrm>
            <a:off x="732617" y="2021921"/>
            <a:ext cx="235549" cy="235549"/>
          </a:xfrm>
          <a:prstGeom prst="rect">
            <a:avLst/>
          </a:prstGeom>
        </p:spPr>
      </p:pic>
      <p:sp>
        <p:nvSpPr>
          <p:cNvPr id="13" name="Text 8"/>
          <p:cNvSpPr txBox="1"/>
          <p:nvPr/>
        </p:nvSpPr>
        <p:spPr>
          <a:xfrm>
            <a:off x="1188720" y="1837944"/>
            <a:ext cx="1508760" cy="603504"/>
          </a:xfrm>
          <a:prstGeom prst="rect">
            <a:avLst/>
          </a:prstGeom>
          <a:noFill/>
          <a:ln/>
        </p:spPr>
        <p:txBody>
          <a:bodyPr wrap="square" lIns="0" tIns="0" rIns="0" bIns="0" rtlCol="0" anchor="ctr"/>
          <a:lstStyle/>
          <a:p>
            <a:pPr marL="0" indent="0">
              <a:buNone/>
            </a:pPr>
            <a:r>
              <a:rPr lang="en-US" sz="1400" b="1" dirty="0">
                <a:solidFill>
                  <a:schemeClr val="tx2"/>
                </a:solidFill>
              </a:rPr>
              <a:t>DNS</a:t>
            </a:r>
            <a:endParaRPr lang="en-US" sz="1400" dirty="0"/>
          </a:p>
        </p:txBody>
      </p:sp>
      <p:sp>
        <p:nvSpPr>
          <p:cNvPr id="14" name="svc-desc"/>
          <p:cNvSpPr/>
          <p:nvPr/>
        </p:nvSpPr>
        <p:spPr>
          <a:xfrm>
            <a:off x="2880360" y="1837944"/>
            <a:ext cx="5715000" cy="603504"/>
          </a:xfrm>
          <a:prstGeom prst="roundRect">
            <a:avLst>
              <a:gd name="adj" fmla="val 21212"/>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15" name="Text 10"/>
          <p:cNvSpPr txBox="1"/>
          <p:nvPr/>
        </p:nvSpPr>
        <p:spPr>
          <a:xfrm>
            <a:off x="3063240" y="1837944"/>
            <a:ext cx="5394960" cy="603504"/>
          </a:xfrm>
          <a:prstGeom prst="rect">
            <a:avLst/>
          </a:prstGeom>
          <a:noFill/>
          <a:ln/>
        </p:spPr>
        <p:txBody>
          <a:bodyPr wrap="square" lIns="0" tIns="0" rIns="0" bIns="0" rtlCol="0" anchor="ctr"/>
          <a:lstStyle/>
          <a:p>
            <a:pPr marL="0" indent="0">
              <a:buNone/>
            </a:pPr>
            <a:r>
              <a:rPr lang="en-US" sz="1300" dirty="0">
                <a:solidFill>
                  <a:schemeClr val="tx1"/>
                </a:solidFill>
              </a:rPr>
              <a:t>A resolver turns a name, such as a website, into its IP address.</a:t>
            </a:r>
            <a:endParaRPr lang="en-US" sz="1300" dirty="0"/>
          </a:p>
        </p:txBody>
      </p:sp>
      <p:sp>
        <p:nvSpPr>
          <p:cNvPr id="16" name="svc-name"/>
          <p:cNvSpPr/>
          <p:nvPr/>
        </p:nvSpPr>
        <p:spPr>
          <a:xfrm>
            <a:off x="548640" y="2532888"/>
            <a:ext cx="2194560" cy="603504"/>
          </a:xfrm>
          <a:prstGeom prst="roundRect">
            <a:avLst>
              <a:gd name="adj" fmla="val 21212"/>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17" name="icon-circle"/>
          <p:cNvSpPr/>
          <p:nvPr/>
        </p:nvSpPr>
        <p:spPr>
          <a:xfrm>
            <a:off x="640080" y="2624328"/>
            <a:ext cx="420624" cy="420624"/>
          </a:xfrm>
          <a:prstGeom prst="ellipse">
            <a:avLst/>
          </a:prstGeom>
          <a:solidFill>
            <a:srgbClr val="FFFFFF"/>
          </a:solidFill>
          <a:ln w="6350">
            <a:solidFill>
              <a:srgbClr val="FFFFFF"/>
            </a:solidFill>
            <a:prstDash val="solid"/>
          </a:ln>
        </p:spPr>
      </p:sp>
      <p:pic>
        <p:nvPicPr>
          <p:cNvPr id="18" name="icon" descr="preencoded.png"/>
          <p:cNvPicPr>
            <a:picLocks noChangeAspect="1"/>
          </p:cNvPicPr>
          <p:nvPr/>
        </p:nvPicPr>
        <p:blipFill>
          <a:blip r:embed="rId5"/>
          <a:stretch>
            <a:fillRect/>
          </a:stretch>
        </p:blipFill>
        <p:spPr>
          <a:xfrm>
            <a:off x="732617" y="2716865"/>
            <a:ext cx="235549" cy="235549"/>
          </a:xfrm>
          <a:prstGeom prst="rect">
            <a:avLst/>
          </a:prstGeom>
        </p:spPr>
      </p:pic>
      <p:sp>
        <p:nvSpPr>
          <p:cNvPr id="19" name="Text 13"/>
          <p:cNvSpPr txBox="1"/>
          <p:nvPr/>
        </p:nvSpPr>
        <p:spPr>
          <a:xfrm>
            <a:off x="1188720" y="2532888"/>
            <a:ext cx="1508760" cy="603504"/>
          </a:xfrm>
          <a:prstGeom prst="rect">
            <a:avLst/>
          </a:prstGeom>
          <a:noFill/>
          <a:ln/>
        </p:spPr>
        <p:txBody>
          <a:bodyPr wrap="square" lIns="0" tIns="0" rIns="0" bIns="0" rtlCol="0" anchor="ctr"/>
          <a:lstStyle/>
          <a:p>
            <a:pPr marL="0" indent="0">
              <a:buNone/>
            </a:pPr>
            <a:r>
              <a:rPr lang="en-US" sz="1400" b="1" dirty="0">
                <a:solidFill>
                  <a:schemeClr val="tx2"/>
                </a:solidFill>
              </a:rPr>
              <a:t>HTTP</a:t>
            </a:r>
            <a:endParaRPr lang="en-US" sz="1400" dirty="0"/>
          </a:p>
        </p:txBody>
      </p:sp>
      <p:sp>
        <p:nvSpPr>
          <p:cNvPr id="20" name="svc-desc"/>
          <p:cNvSpPr/>
          <p:nvPr/>
        </p:nvSpPr>
        <p:spPr>
          <a:xfrm>
            <a:off x="2880360" y="2532888"/>
            <a:ext cx="5715000" cy="603504"/>
          </a:xfrm>
          <a:prstGeom prst="roundRect">
            <a:avLst>
              <a:gd name="adj" fmla="val 21212"/>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21" name="Text 15"/>
          <p:cNvSpPr txBox="1"/>
          <p:nvPr/>
        </p:nvSpPr>
        <p:spPr>
          <a:xfrm>
            <a:off x="3063240" y="2532888"/>
            <a:ext cx="5394960" cy="603504"/>
          </a:xfrm>
          <a:prstGeom prst="rect">
            <a:avLst/>
          </a:prstGeom>
          <a:noFill/>
          <a:ln/>
        </p:spPr>
        <p:txBody>
          <a:bodyPr wrap="square" lIns="0" tIns="0" rIns="0" bIns="0" rtlCol="0" anchor="ctr"/>
          <a:lstStyle/>
          <a:p>
            <a:pPr marL="0" indent="0">
              <a:buNone/>
            </a:pPr>
            <a:r>
              <a:rPr lang="en-US" sz="1300" dirty="0">
                <a:solidFill>
                  <a:schemeClr val="tx1"/>
                </a:solidFill>
              </a:rPr>
              <a:t>Client sends a request and the web server sends back a response.</a:t>
            </a:r>
            <a:endParaRPr lang="en-US" sz="1300" dirty="0"/>
          </a:p>
        </p:txBody>
      </p:sp>
      <p:sp>
        <p:nvSpPr>
          <p:cNvPr id="22" name="svc-name"/>
          <p:cNvSpPr/>
          <p:nvPr/>
        </p:nvSpPr>
        <p:spPr>
          <a:xfrm>
            <a:off x="548640" y="3227832"/>
            <a:ext cx="2194560" cy="603504"/>
          </a:xfrm>
          <a:prstGeom prst="roundRect">
            <a:avLst>
              <a:gd name="adj" fmla="val 21212"/>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23" name="icon-circle"/>
          <p:cNvSpPr/>
          <p:nvPr/>
        </p:nvSpPr>
        <p:spPr>
          <a:xfrm>
            <a:off x="640080" y="3319272"/>
            <a:ext cx="420624" cy="420624"/>
          </a:xfrm>
          <a:prstGeom prst="ellipse">
            <a:avLst/>
          </a:prstGeom>
          <a:solidFill>
            <a:srgbClr val="FFFFFF"/>
          </a:solidFill>
          <a:ln w="6350">
            <a:solidFill>
              <a:srgbClr val="FFFFFF"/>
            </a:solidFill>
            <a:prstDash val="solid"/>
          </a:ln>
        </p:spPr>
      </p:sp>
      <p:pic>
        <p:nvPicPr>
          <p:cNvPr id="24" name="icon" descr="preencoded.png"/>
          <p:cNvPicPr>
            <a:picLocks noChangeAspect="1"/>
          </p:cNvPicPr>
          <p:nvPr/>
        </p:nvPicPr>
        <p:blipFill>
          <a:blip r:embed="rId6"/>
          <a:stretch>
            <a:fillRect/>
          </a:stretch>
        </p:blipFill>
        <p:spPr>
          <a:xfrm>
            <a:off x="732617" y="3411809"/>
            <a:ext cx="235549" cy="235549"/>
          </a:xfrm>
          <a:prstGeom prst="rect">
            <a:avLst/>
          </a:prstGeom>
        </p:spPr>
      </p:pic>
      <p:sp>
        <p:nvSpPr>
          <p:cNvPr id="25" name="Text 18"/>
          <p:cNvSpPr txBox="1"/>
          <p:nvPr/>
        </p:nvSpPr>
        <p:spPr>
          <a:xfrm>
            <a:off x="1188720" y="3227832"/>
            <a:ext cx="1508760" cy="603504"/>
          </a:xfrm>
          <a:prstGeom prst="rect">
            <a:avLst/>
          </a:prstGeom>
          <a:noFill/>
          <a:ln/>
        </p:spPr>
        <p:txBody>
          <a:bodyPr wrap="square" lIns="0" tIns="0" rIns="0" bIns="0" rtlCol="0" anchor="ctr"/>
          <a:lstStyle/>
          <a:p>
            <a:pPr marL="0" indent="0">
              <a:buNone/>
            </a:pPr>
            <a:r>
              <a:rPr lang="en-US" sz="1400" b="1" dirty="0">
                <a:solidFill>
                  <a:schemeClr val="tx2"/>
                </a:solidFill>
              </a:rPr>
              <a:t>FTP</a:t>
            </a:r>
            <a:endParaRPr lang="en-US" sz="1400" dirty="0"/>
          </a:p>
        </p:txBody>
      </p:sp>
      <p:sp>
        <p:nvSpPr>
          <p:cNvPr id="26" name="svc-desc"/>
          <p:cNvSpPr/>
          <p:nvPr/>
        </p:nvSpPr>
        <p:spPr>
          <a:xfrm>
            <a:off x="2880360" y="3227832"/>
            <a:ext cx="5715000" cy="603504"/>
          </a:xfrm>
          <a:prstGeom prst="roundRect">
            <a:avLst>
              <a:gd name="adj" fmla="val 21212"/>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27" name="Text 20"/>
          <p:cNvSpPr txBox="1"/>
          <p:nvPr/>
        </p:nvSpPr>
        <p:spPr>
          <a:xfrm>
            <a:off x="3063240" y="3227832"/>
            <a:ext cx="5394960" cy="603504"/>
          </a:xfrm>
          <a:prstGeom prst="rect">
            <a:avLst/>
          </a:prstGeom>
          <a:noFill/>
          <a:ln/>
        </p:spPr>
        <p:txBody>
          <a:bodyPr wrap="square" lIns="0" tIns="0" rIns="0" bIns="0" rtlCol="0" anchor="ctr"/>
          <a:lstStyle/>
          <a:p>
            <a:pPr marL="0" indent="0">
              <a:buNone/>
            </a:pPr>
            <a:r>
              <a:rPr lang="en-US" sz="1300" dirty="0">
                <a:solidFill>
                  <a:schemeClr val="tx1"/>
                </a:solidFill>
              </a:rPr>
              <a:t>Client connects to a server and uploads or downloads files.</a:t>
            </a:r>
            <a:endParaRPr lang="en-US" sz="1300" dirty="0"/>
          </a:p>
        </p:txBody>
      </p:sp>
      <p:sp>
        <p:nvSpPr>
          <p:cNvPr id="28" name="svc-name"/>
          <p:cNvSpPr/>
          <p:nvPr/>
        </p:nvSpPr>
        <p:spPr>
          <a:xfrm>
            <a:off x="548640" y="3922776"/>
            <a:ext cx="2194560" cy="603504"/>
          </a:xfrm>
          <a:prstGeom prst="roundRect">
            <a:avLst>
              <a:gd name="adj" fmla="val 21212"/>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29" name="icon-circle"/>
          <p:cNvSpPr/>
          <p:nvPr/>
        </p:nvSpPr>
        <p:spPr>
          <a:xfrm>
            <a:off x="640080" y="4014216"/>
            <a:ext cx="420624" cy="420624"/>
          </a:xfrm>
          <a:prstGeom prst="ellipse">
            <a:avLst/>
          </a:prstGeom>
          <a:solidFill>
            <a:srgbClr val="FFFFFF"/>
          </a:solidFill>
          <a:ln w="6350">
            <a:solidFill>
              <a:srgbClr val="FFFFFF"/>
            </a:solidFill>
            <a:prstDash val="solid"/>
          </a:ln>
        </p:spPr>
      </p:sp>
      <p:pic>
        <p:nvPicPr>
          <p:cNvPr id="30" name="icon" descr="preencoded.png"/>
          <p:cNvPicPr>
            <a:picLocks noChangeAspect="1"/>
          </p:cNvPicPr>
          <p:nvPr/>
        </p:nvPicPr>
        <p:blipFill>
          <a:blip r:embed="rId7"/>
          <a:stretch>
            <a:fillRect/>
          </a:stretch>
        </p:blipFill>
        <p:spPr>
          <a:xfrm>
            <a:off x="732617" y="4106753"/>
            <a:ext cx="235549" cy="235549"/>
          </a:xfrm>
          <a:prstGeom prst="rect">
            <a:avLst/>
          </a:prstGeom>
        </p:spPr>
      </p:pic>
      <p:sp>
        <p:nvSpPr>
          <p:cNvPr id="31" name="Text 23"/>
          <p:cNvSpPr txBox="1"/>
          <p:nvPr/>
        </p:nvSpPr>
        <p:spPr>
          <a:xfrm>
            <a:off x="1188720" y="3922776"/>
            <a:ext cx="1508760" cy="603504"/>
          </a:xfrm>
          <a:prstGeom prst="rect">
            <a:avLst/>
          </a:prstGeom>
          <a:noFill/>
          <a:ln/>
        </p:spPr>
        <p:txBody>
          <a:bodyPr wrap="square" lIns="0" tIns="0" rIns="0" bIns="0" rtlCol="0" anchor="ctr"/>
          <a:lstStyle/>
          <a:p>
            <a:pPr marL="0" indent="0">
              <a:buNone/>
            </a:pPr>
            <a:r>
              <a:rPr lang="en-US" sz="1400" b="1" dirty="0">
                <a:solidFill>
                  <a:schemeClr val="tx2"/>
                </a:solidFill>
              </a:rPr>
              <a:t>NAT / PAT</a:t>
            </a:r>
            <a:endParaRPr lang="en-US" sz="1400" dirty="0"/>
          </a:p>
        </p:txBody>
      </p:sp>
      <p:sp>
        <p:nvSpPr>
          <p:cNvPr id="32" name="svc-desc"/>
          <p:cNvSpPr/>
          <p:nvPr/>
        </p:nvSpPr>
        <p:spPr>
          <a:xfrm>
            <a:off x="2880360" y="3922776"/>
            <a:ext cx="5715000" cy="603504"/>
          </a:xfrm>
          <a:prstGeom prst="roundRect">
            <a:avLst>
              <a:gd name="adj" fmla="val 21212"/>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33" name="Text 25"/>
          <p:cNvSpPr txBox="1"/>
          <p:nvPr/>
        </p:nvSpPr>
        <p:spPr>
          <a:xfrm>
            <a:off x="3063240" y="3922776"/>
            <a:ext cx="5394960" cy="603504"/>
          </a:xfrm>
          <a:prstGeom prst="rect">
            <a:avLst/>
          </a:prstGeom>
          <a:noFill/>
          <a:ln/>
        </p:spPr>
        <p:txBody>
          <a:bodyPr wrap="square" lIns="0" tIns="0" rIns="0" bIns="0" rtlCol="0" anchor="ctr"/>
          <a:lstStyle/>
          <a:p>
            <a:pPr marL="0" indent="0">
              <a:buNone/>
            </a:pPr>
            <a:r>
              <a:rPr lang="en-US" sz="1300" dirty="0">
                <a:solidFill>
                  <a:schemeClr val="tx1"/>
                </a:solidFill>
              </a:rPr>
              <a:t>Router maps private addresses and port numbers to one public address.</a:t>
            </a:r>
            <a:endParaRPr lang="en-US" sz="1300" dirty="0"/>
          </a:p>
        </p:txBody>
      </p:sp>
      <p:sp>
        <p:nvSpPr>
          <p:cNvPr id="3"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Protocol lab algorithms</a:t>
            </a:r>
            <a:endParaRPr lang="en-US" sz="3200" dirty="0"/>
          </a:p>
        </p:txBody>
      </p:sp>
      <p:sp>
        <p:nvSpPr>
          <p:cNvPr id="4" name="proto"/>
          <p:cNvSpPr/>
          <p:nvPr/>
        </p:nvSpPr>
        <p:spPr>
          <a:xfrm>
            <a:off x="548640" y="1097280"/>
            <a:ext cx="2560320" cy="3429000"/>
          </a:xfrm>
          <a:prstGeom prst="roundRect">
            <a:avLst>
              <a:gd name="adj" fmla="val 5000"/>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5" name="Text 2"/>
          <p:cNvSpPr txBox="1"/>
          <p:nvPr/>
        </p:nvSpPr>
        <p:spPr>
          <a:xfrm>
            <a:off x="548640" y="1188720"/>
            <a:ext cx="2560320" cy="411480"/>
          </a:xfrm>
          <a:prstGeom prst="rect">
            <a:avLst/>
          </a:prstGeom>
          <a:noFill/>
          <a:ln/>
        </p:spPr>
        <p:txBody>
          <a:bodyPr wrap="square" lIns="0" tIns="0" rIns="0" bIns="0" rtlCol="0" anchor="ctr"/>
          <a:lstStyle/>
          <a:p>
            <a:pPr marL="0" indent="0" algn="ctr">
              <a:buNone/>
            </a:pPr>
            <a:r>
              <a:rPr lang="en-US" sz="1700" b="1" dirty="0">
                <a:solidFill>
                  <a:schemeClr val="tx2"/>
                </a:solidFill>
              </a:rPr>
              <a:t>Error control</a:t>
            </a:r>
            <a:endParaRPr lang="en-US" sz="1700" dirty="0"/>
          </a:p>
        </p:txBody>
      </p:sp>
      <p:sp>
        <p:nvSpPr>
          <p:cNvPr id="6" name="Text 3"/>
          <p:cNvSpPr txBox="1"/>
          <p:nvPr/>
        </p:nvSpPr>
        <p:spPr>
          <a:xfrm>
            <a:off x="731520" y="1691640"/>
            <a:ext cx="2240280" cy="2743200"/>
          </a:xfrm>
          <a:prstGeom prst="rect">
            <a:avLst/>
          </a:prstGeom>
          <a:noFill/>
          <a:ln/>
        </p:spPr>
        <p:txBody>
          <a:bodyPr wrap="square" lIns="0" tIns="0" rIns="0" bIns="0" rtlCol="0" anchor="t"/>
          <a:lstStyle/>
          <a:p>
            <a:pPr marL="0" indent="0">
              <a:buNone/>
            </a:pPr>
            <a:r>
              <a:rPr lang="en-US" sz="1300" b="1" dirty="0">
                <a:solidFill>
                  <a:schemeClr val="tx2"/>
                </a:solidFill>
              </a:rPr>
              <a:t>Hamming (7,4)</a:t>
            </a:r>
            <a:endParaRPr lang="en-US" sz="1300" dirty="0"/>
          </a:p>
          <a:p>
            <a:pPr marL="0" indent="0">
              <a:spcAft>
                <a:spcPts val="900"/>
              </a:spcAft>
              <a:buNone/>
            </a:pPr>
            <a:r>
              <a:rPr lang="en-US" sz="1200" dirty="0">
                <a:solidFill>
                  <a:schemeClr val="tx1"/>
                </a:solidFill>
              </a:rPr>
              <a:t>4 data bits + 3 parity bits; finds and fixes a 1-bit error.</a:t>
            </a:r>
            <a:endParaRPr lang="en-US" sz="1300" dirty="0"/>
          </a:p>
          <a:p>
            <a:pPr marL="0" indent="0">
              <a:buNone/>
            </a:pPr>
            <a:r>
              <a:rPr lang="en-US" sz="1300" b="1" dirty="0">
                <a:solidFill>
                  <a:schemeClr val="tx2"/>
                </a:solidFill>
              </a:rPr>
              <a:t>CRC</a:t>
            </a:r>
            <a:endParaRPr lang="en-US" sz="1300" dirty="0"/>
          </a:p>
          <a:p>
            <a:pPr marL="0" indent="0">
              <a:spcAft>
                <a:spcPts val="900"/>
              </a:spcAft>
              <a:buNone/>
            </a:pPr>
            <a:r>
              <a:rPr lang="en-US" sz="1200" dirty="0">
                <a:solidFill>
                  <a:schemeClr val="tx1"/>
                </a:solidFill>
              </a:rPr>
              <a:t>Divides data by a generator polynomial; the remainder detects errors.</a:t>
            </a:r>
            <a:endParaRPr lang="en-US" sz="1300" dirty="0"/>
          </a:p>
          <a:p>
            <a:pPr marL="0" indent="0">
              <a:buNone/>
            </a:pPr>
            <a:r>
              <a:rPr lang="en-US" sz="1300" b="1" dirty="0">
                <a:solidFill>
                  <a:schemeClr val="tx2"/>
                </a:solidFill>
              </a:rPr>
              <a:t>Checksum</a:t>
            </a:r>
            <a:endParaRPr lang="en-US" sz="1300" dirty="0"/>
          </a:p>
          <a:p>
            <a:pPr marL="0" indent="0">
              <a:spcAft>
                <a:spcPts val="900"/>
              </a:spcAft>
              <a:buNone/>
            </a:pPr>
            <a:r>
              <a:rPr lang="en-US" sz="1200" dirty="0">
                <a:solidFill>
                  <a:schemeClr val="tx1"/>
                </a:solidFill>
              </a:rPr>
              <a:t>Adds up the data words; the receiver re-adds to check.</a:t>
            </a:r>
            <a:endParaRPr lang="en-US" sz="1300" dirty="0"/>
          </a:p>
        </p:txBody>
      </p:sp>
      <p:sp>
        <p:nvSpPr>
          <p:cNvPr id="7" name="proto"/>
          <p:cNvSpPr/>
          <p:nvPr/>
        </p:nvSpPr>
        <p:spPr>
          <a:xfrm>
            <a:off x="3291840" y="1097280"/>
            <a:ext cx="2560320" cy="3429000"/>
          </a:xfrm>
          <a:prstGeom prst="roundRect">
            <a:avLst>
              <a:gd name="adj" fmla="val 5000"/>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8" name="Text 5"/>
          <p:cNvSpPr txBox="1"/>
          <p:nvPr/>
        </p:nvSpPr>
        <p:spPr>
          <a:xfrm>
            <a:off x="3291840" y="1188720"/>
            <a:ext cx="2560320" cy="411480"/>
          </a:xfrm>
          <a:prstGeom prst="rect">
            <a:avLst/>
          </a:prstGeom>
          <a:noFill/>
          <a:ln/>
        </p:spPr>
        <p:txBody>
          <a:bodyPr wrap="square" lIns="0" tIns="0" rIns="0" bIns="0" rtlCol="0" anchor="ctr"/>
          <a:lstStyle/>
          <a:p>
            <a:pPr marL="0" indent="0" algn="ctr">
              <a:buNone/>
            </a:pPr>
            <a:r>
              <a:rPr lang="en-US" sz="1700" b="1" dirty="0">
                <a:solidFill>
                  <a:schemeClr val="tx2"/>
                </a:solidFill>
              </a:rPr>
              <a:t>Flow control</a:t>
            </a:r>
            <a:endParaRPr lang="en-US" sz="1700" dirty="0"/>
          </a:p>
        </p:txBody>
      </p:sp>
      <p:sp>
        <p:nvSpPr>
          <p:cNvPr id="9" name="Text 6"/>
          <p:cNvSpPr txBox="1"/>
          <p:nvPr/>
        </p:nvSpPr>
        <p:spPr>
          <a:xfrm>
            <a:off x="3474720" y="1691640"/>
            <a:ext cx="2240280" cy="2743200"/>
          </a:xfrm>
          <a:prstGeom prst="rect">
            <a:avLst/>
          </a:prstGeom>
          <a:noFill/>
          <a:ln/>
        </p:spPr>
        <p:txBody>
          <a:bodyPr wrap="square" lIns="0" tIns="0" rIns="0" bIns="0" rtlCol="0" anchor="t"/>
          <a:lstStyle/>
          <a:p>
            <a:pPr marL="0" indent="0">
              <a:buNone/>
            </a:pPr>
            <a:r>
              <a:rPr lang="en-US" sz="1300" b="1" dirty="0">
                <a:solidFill>
                  <a:schemeClr val="tx2"/>
                </a:solidFill>
              </a:rPr>
              <a:t>Go-Back-N</a:t>
            </a:r>
            <a:endParaRPr lang="en-US" sz="1300" dirty="0"/>
          </a:p>
          <a:p>
            <a:pPr marL="0" indent="0">
              <a:spcAft>
                <a:spcPts val="900"/>
              </a:spcAft>
              <a:buNone/>
            </a:pPr>
            <a:r>
              <a:rPr lang="en-US" sz="1200" dirty="0">
                <a:solidFill>
                  <a:schemeClr val="tx1"/>
                </a:solidFill>
              </a:rPr>
              <a:t>Sliding window; after a loss, resend from the lost frame onward.</a:t>
            </a:r>
            <a:endParaRPr lang="en-US" sz="1300" dirty="0"/>
          </a:p>
          <a:p>
            <a:pPr marL="0" indent="0">
              <a:buNone/>
            </a:pPr>
            <a:r>
              <a:rPr lang="en-US" sz="1300" b="1" dirty="0">
                <a:solidFill>
                  <a:schemeClr val="tx2"/>
                </a:solidFill>
              </a:rPr>
              <a:t>Selective Repeat</a:t>
            </a:r>
            <a:endParaRPr lang="en-US" sz="1300" dirty="0"/>
          </a:p>
          <a:p>
            <a:pPr marL="0" indent="0">
              <a:spcAft>
                <a:spcPts val="900"/>
              </a:spcAft>
              <a:buNone/>
            </a:pPr>
            <a:r>
              <a:rPr lang="en-US" sz="1200" dirty="0">
                <a:solidFill>
                  <a:schemeClr val="tx1"/>
                </a:solidFill>
              </a:rPr>
              <a:t>Resend only the lost frame; the receiver buffers the rest.</a:t>
            </a:r>
            <a:endParaRPr lang="en-US" sz="1300" dirty="0"/>
          </a:p>
        </p:txBody>
      </p:sp>
      <p:sp>
        <p:nvSpPr>
          <p:cNvPr id="10" name="proto"/>
          <p:cNvSpPr/>
          <p:nvPr/>
        </p:nvSpPr>
        <p:spPr>
          <a:xfrm>
            <a:off x="6035040" y="1097280"/>
            <a:ext cx="2560320" cy="3429000"/>
          </a:xfrm>
          <a:prstGeom prst="roundRect">
            <a:avLst>
              <a:gd name="adj" fmla="val 5000"/>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11" name="Text 8"/>
          <p:cNvSpPr txBox="1"/>
          <p:nvPr/>
        </p:nvSpPr>
        <p:spPr>
          <a:xfrm>
            <a:off x="6035040" y="1188720"/>
            <a:ext cx="2560320" cy="411480"/>
          </a:xfrm>
          <a:prstGeom prst="rect">
            <a:avLst/>
          </a:prstGeom>
          <a:noFill/>
          <a:ln/>
        </p:spPr>
        <p:txBody>
          <a:bodyPr wrap="square" lIns="0" tIns="0" rIns="0" bIns="0" rtlCol="0" anchor="ctr"/>
          <a:lstStyle/>
          <a:p>
            <a:pPr marL="0" indent="0" algn="ctr">
              <a:buNone/>
            </a:pPr>
            <a:r>
              <a:rPr lang="en-US" sz="1700" b="1" dirty="0">
                <a:solidFill>
                  <a:schemeClr val="tx2"/>
                </a:solidFill>
              </a:rPr>
              <a:t>Medium access</a:t>
            </a:r>
            <a:endParaRPr lang="en-US" sz="1700" dirty="0"/>
          </a:p>
        </p:txBody>
      </p:sp>
      <p:sp>
        <p:nvSpPr>
          <p:cNvPr id="12" name="Text 9"/>
          <p:cNvSpPr txBox="1"/>
          <p:nvPr/>
        </p:nvSpPr>
        <p:spPr>
          <a:xfrm>
            <a:off x="6217920" y="1691640"/>
            <a:ext cx="2240280" cy="2743200"/>
          </a:xfrm>
          <a:prstGeom prst="rect">
            <a:avLst/>
          </a:prstGeom>
          <a:noFill/>
          <a:ln/>
        </p:spPr>
        <p:txBody>
          <a:bodyPr wrap="square" lIns="0" tIns="0" rIns="0" bIns="0" rtlCol="0" anchor="t"/>
          <a:lstStyle/>
          <a:p>
            <a:pPr marL="0" indent="0">
              <a:buNone/>
            </a:pPr>
            <a:r>
              <a:rPr lang="en-US" sz="1300" b="1" dirty="0">
                <a:solidFill>
                  <a:schemeClr val="tx2"/>
                </a:solidFill>
              </a:rPr>
              <a:t>ALOHA</a:t>
            </a:r>
            <a:endParaRPr lang="en-US" sz="1300" dirty="0"/>
          </a:p>
          <a:p>
            <a:pPr marL="0" indent="0">
              <a:spcAft>
                <a:spcPts val="900"/>
              </a:spcAft>
              <a:buNone/>
            </a:pPr>
            <a:r>
              <a:rPr lang="en-US" sz="1200" dirty="0">
                <a:solidFill>
                  <a:schemeClr val="tx1"/>
                </a:solidFill>
              </a:rPr>
              <a:t>Send any time; after a collision wait a random time.</a:t>
            </a:r>
            <a:endParaRPr lang="en-US" sz="1300" dirty="0"/>
          </a:p>
          <a:p>
            <a:pPr marL="0" indent="0">
              <a:buNone/>
            </a:pPr>
            <a:r>
              <a:rPr lang="en-US" sz="1300" b="1" dirty="0">
                <a:solidFill>
                  <a:schemeClr val="tx2"/>
                </a:solidFill>
              </a:rPr>
              <a:t>Slotted ALOHA</a:t>
            </a:r>
            <a:endParaRPr lang="en-US" sz="1300" dirty="0"/>
          </a:p>
          <a:p>
            <a:pPr marL="0" indent="0">
              <a:spcAft>
                <a:spcPts val="900"/>
              </a:spcAft>
              <a:buNone/>
            </a:pPr>
            <a:r>
              <a:rPr lang="en-US" sz="1200" dirty="0">
                <a:solidFill>
                  <a:schemeClr val="tx1"/>
                </a:solidFill>
              </a:rPr>
              <a:t>Send only at slot starts, so fewer collisions.</a:t>
            </a:r>
            <a:endParaRPr lang="en-US" sz="1300" dirty="0"/>
          </a:p>
          <a:p>
            <a:pPr marL="0" indent="0">
              <a:buNone/>
            </a:pPr>
            <a:r>
              <a:rPr lang="en-US" sz="1300" b="1" dirty="0">
                <a:solidFill>
                  <a:schemeClr val="tx2"/>
                </a:solidFill>
              </a:rPr>
              <a:t>CSMA</a:t>
            </a:r>
            <a:endParaRPr lang="en-US" sz="1300" dirty="0"/>
          </a:p>
          <a:p>
            <a:pPr marL="0" indent="0">
              <a:spcAft>
                <a:spcPts val="900"/>
              </a:spcAft>
              <a:buNone/>
            </a:pPr>
            <a:r>
              <a:rPr lang="en-US" sz="1200" dirty="0">
                <a:solidFill>
                  <a:schemeClr val="tx1"/>
                </a:solidFill>
              </a:rPr>
              <a:t>Listen first; send only if the channel is idle.</a:t>
            </a:r>
            <a:endParaRPr lang="en-US" sz="1300" dirty="0"/>
          </a:p>
          <a:p>
            <a:pPr marL="0" indent="0">
              <a:buNone/>
            </a:pPr>
            <a:r>
              <a:rPr lang="en-US" sz="1300" b="1" dirty="0">
                <a:solidFill>
                  <a:schemeClr val="tx2"/>
                </a:solidFill>
              </a:rPr>
              <a:t>CSMA/CD</a:t>
            </a:r>
            <a:endParaRPr lang="en-US" sz="1300" dirty="0"/>
          </a:p>
          <a:p>
            <a:pPr marL="0" indent="0">
              <a:spcAft>
                <a:spcPts val="900"/>
              </a:spcAft>
              <a:buNone/>
            </a:pPr>
            <a:r>
              <a:rPr lang="en-US" sz="1200" dirty="0">
                <a:solidFill>
                  <a:schemeClr val="tx1"/>
                </a:solidFill>
              </a:rPr>
              <a:t>Also detects a collision while sending, then backs off.</a:t>
            </a:r>
            <a:endParaRPr lang="en-US" sz="13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Setup, how it runs and packet trace</a:t>
            </a:r>
            <a:endParaRPr lang="en-US" sz="3200" dirty="0"/>
          </a:p>
        </p:txBody>
      </p:sp>
      <p:sp>
        <p:nvSpPr>
          <p:cNvPr id="101" name="col-head"/>
          <p:cNvSpPr/>
          <p:nvPr/>
        </p:nvSpPr>
        <p:spPr>
          <a:xfrm>
            <a:off x="548640" y="1051560"/>
            <a:ext cx="2560320" cy="365760"/>
          </a:xfrm>
          <a:prstGeom prst="roundRect">
            <a:avLst>
              <a:gd name="adj" fmla="val 25000"/>
            </a:avLst>
          </a:prstGeom>
          <a:solidFill>
            <a:schemeClr val="accent4"/>
          </a:solidFill>
          <a:ln>
            <a:noFill/>
          </a:ln>
          <a:effectLst>
            <a:outerShdw blurRad="101600" dist="25400" dir="5400000" algn="bl" rotWithShape="0">
              <a:srgbClr val="7A74A8">
                <a:alpha val="18000"/>
              </a:srgbClr>
            </a:outerShdw>
          </a:effectLst>
        </p:spPr>
        <p:txBody>
          <a:bodyPr wrap="square" lIns="109728" tIns="54864" rIns="109728" bIns="54864" rtlCol="0" anchor="ctr"/>
          <a:lstStyle/>
          <a:p>
            <a:pPr marL="0" indent="0" algn="l">
              <a:buNone/>
            </a:pPr>
            <a:r>
              <a:rPr lang="en-US" sz="1300" b="1" dirty="0">
                <a:solidFill>
                  <a:schemeClr val="tx2"/>
                </a:solidFill>
              </a:rPr>
              <a:t>1  Setup</a:t>
            </a:r>
          </a:p>
        </p:txBody>
      </p:sp>
      <p:sp>
        <p:nvSpPr>
          <p:cNvPr id="102" name="step"/>
          <p:cNvSpPr/>
          <p:nvPr/>
        </p:nvSpPr>
        <p:spPr>
          <a:xfrm>
            <a:off x="548640" y="150876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03" name="step-num"/>
          <p:cNvSpPr/>
          <p:nvPr/>
        </p:nvSpPr>
        <p:spPr>
          <a:xfrm>
            <a:off x="621792" y="1655064"/>
            <a:ext cx="274320" cy="274320"/>
          </a:xfrm>
          <a:prstGeom prst="ellipse">
            <a:avLst/>
          </a:prstGeom>
          <a:solidFill>
            <a:schemeClr val="accent4"/>
          </a:solidFill>
          <a:ln>
            <a:noFill/>
          </a:ln>
        </p:spPr>
        <p:txBody>
          <a:bodyPr wrap="square" lIns="0" tIns="0" rIns="0" bIns="0" rtlCol="0" anchor="ctr"/>
          <a:lstStyle/>
          <a:p>
            <a:pPr marL="0" indent="0" algn="ctr">
              <a:buNone/>
            </a:pPr>
            <a:r>
              <a:rPr lang="en-US" sz="1000" b="1" dirty="0">
                <a:solidFill>
                  <a:schemeClr val="tx2"/>
                </a:solidFill>
              </a:rPr>
              <a:t>1</a:t>
            </a:r>
          </a:p>
        </p:txBody>
      </p:sp>
      <p:sp>
        <p:nvSpPr>
          <p:cNvPr id="104" name="text"/>
          <p:cNvSpPr txBox="1"/>
          <p:nvPr/>
        </p:nvSpPr>
        <p:spPr>
          <a:xfrm>
            <a:off x="969264" y="153619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Install: </a:t>
            </a:r>
            <a:r>
              <a:rPr lang="en-US" sz="1000" b="0" dirty="0">
                <a:solidFill>
                  <a:schemeClr val="tx1"/>
                </a:solidFill>
              </a:rPr>
              <a:t>Node 18+, npm 9+; npm install in root, backend, frontend</a:t>
            </a:r>
          </a:p>
        </p:txBody>
      </p:sp>
      <p:sp>
        <p:nvSpPr>
          <p:cNvPr id="105" name="step"/>
          <p:cNvSpPr/>
          <p:nvPr/>
        </p:nvSpPr>
        <p:spPr>
          <a:xfrm>
            <a:off x="548640" y="214884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06" name="step-num"/>
          <p:cNvSpPr/>
          <p:nvPr/>
        </p:nvSpPr>
        <p:spPr>
          <a:xfrm>
            <a:off x="621792" y="2295144"/>
            <a:ext cx="274320" cy="274320"/>
          </a:xfrm>
          <a:prstGeom prst="ellipse">
            <a:avLst/>
          </a:prstGeom>
          <a:solidFill>
            <a:schemeClr val="accent4"/>
          </a:solidFill>
          <a:ln>
            <a:noFill/>
          </a:ln>
        </p:spPr>
        <p:txBody>
          <a:bodyPr wrap="square" lIns="0" tIns="0" rIns="0" bIns="0" rtlCol="0" anchor="ctr"/>
          <a:lstStyle/>
          <a:p>
            <a:pPr marL="0" indent="0" algn="ctr">
              <a:buNone/>
            </a:pPr>
            <a:r>
              <a:rPr lang="en-US" sz="1000" b="1" dirty="0">
                <a:solidFill>
                  <a:schemeClr val="tx2"/>
                </a:solidFill>
              </a:rPr>
              <a:t>2</a:t>
            </a:r>
          </a:p>
        </p:txBody>
      </p:sp>
      <p:sp>
        <p:nvSpPr>
          <p:cNvPr id="107" name="text"/>
          <p:cNvSpPr txBox="1"/>
          <p:nvPr/>
        </p:nvSpPr>
        <p:spPr>
          <a:xfrm>
            <a:off x="969264" y="217627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Test: </a:t>
            </a:r>
            <a:r>
              <a:rPr lang="en-US" sz="1000" b="0" dirty="0">
                <a:solidFill>
                  <a:schemeClr val="tx1"/>
                </a:solidFill>
              </a:rPr>
              <a:t>In backend: npm test, 23 pass</a:t>
            </a:r>
          </a:p>
        </p:txBody>
      </p:sp>
      <p:sp>
        <p:nvSpPr>
          <p:cNvPr id="108" name="step"/>
          <p:cNvSpPr/>
          <p:nvPr/>
        </p:nvSpPr>
        <p:spPr>
          <a:xfrm>
            <a:off x="548640" y="278892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09" name="step-num"/>
          <p:cNvSpPr/>
          <p:nvPr/>
        </p:nvSpPr>
        <p:spPr>
          <a:xfrm>
            <a:off x="621792" y="2935224"/>
            <a:ext cx="274320" cy="274320"/>
          </a:xfrm>
          <a:prstGeom prst="ellipse">
            <a:avLst/>
          </a:prstGeom>
          <a:solidFill>
            <a:schemeClr val="accent4"/>
          </a:solidFill>
          <a:ln>
            <a:noFill/>
          </a:ln>
        </p:spPr>
        <p:txBody>
          <a:bodyPr wrap="square" lIns="0" tIns="0" rIns="0" bIns="0" rtlCol="0" anchor="ctr"/>
          <a:lstStyle/>
          <a:p>
            <a:pPr marL="0" indent="0" algn="ctr">
              <a:buNone/>
            </a:pPr>
            <a:r>
              <a:rPr lang="en-US" sz="1000" b="1" dirty="0">
                <a:solidFill>
                  <a:schemeClr val="tx2"/>
                </a:solidFill>
              </a:rPr>
              <a:t>3</a:t>
            </a:r>
          </a:p>
        </p:txBody>
      </p:sp>
      <p:sp>
        <p:nvSpPr>
          <p:cNvPr id="110" name="text"/>
          <p:cNvSpPr txBox="1"/>
          <p:nvPr/>
        </p:nvSpPr>
        <p:spPr>
          <a:xfrm>
            <a:off x="969264" y="281635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Backend: </a:t>
            </a:r>
            <a:r>
              <a:rPr lang="en-US" sz="1000" b="0" dirty="0">
                <a:solidFill>
                  <a:schemeClr val="tx1"/>
                </a:solidFill>
              </a:rPr>
              <a:t>npm start, port 5000</a:t>
            </a:r>
          </a:p>
        </p:txBody>
      </p:sp>
      <p:sp>
        <p:nvSpPr>
          <p:cNvPr id="111" name="step"/>
          <p:cNvSpPr/>
          <p:nvPr/>
        </p:nvSpPr>
        <p:spPr>
          <a:xfrm>
            <a:off x="548640" y="342900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12" name="step-num"/>
          <p:cNvSpPr/>
          <p:nvPr/>
        </p:nvSpPr>
        <p:spPr>
          <a:xfrm>
            <a:off x="621792" y="3575304"/>
            <a:ext cx="274320" cy="274320"/>
          </a:xfrm>
          <a:prstGeom prst="ellipse">
            <a:avLst/>
          </a:prstGeom>
          <a:solidFill>
            <a:schemeClr val="accent4"/>
          </a:solidFill>
          <a:ln>
            <a:noFill/>
          </a:ln>
        </p:spPr>
        <p:txBody>
          <a:bodyPr wrap="square" lIns="0" tIns="0" rIns="0" bIns="0" rtlCol="0" anchor="ctr"/>
          <a:lstStyle/>
          <a:p>
            <a:pPr marL="0" indent="0" algn="ctr">
              <a:buNone/>
            </a:pPr>
            <a:r>
              <a:rPr lang="en-US" sz="1000" b="1" dirty="0">
                <a:solidFill>
                  <a:schemeClr val="tx2"/>
                </a:solidFill>
              </a:rPr>
              <a:t>4</a:t>
            </a:r>
          </a:p>
        </p:txBody>
      </p:sp>
      <p:sp>
        <p:nvSpPr>
          <p:cNvPr id="113" name="text"/>
          <p:cNvSpPr txBox="1"/>
          <p:nvPr/>
        </p:nvSpPr>
        <p:spPr>
          <a:xfrm>
            <a:off x="969264" y="345643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Frontend: </a:t>
            </a:r>
            <a:r>
              <a:rPr lang="en-US" sz="1000" b="0" dirty="0">
                <a:solidFill>
                  <a:schemeClr val="tx1"/>
                </a:solidFill>
              </a:rPr>
              <a:t>npm run dev, open localhost:5173, click Launch Guided Demos</a:t>
            </a:r>
          </a:p>
        </p:txBody>
      </p:sp>
      <p:sp>
        <p:nvSpPr>
          <p:cNvPr id="114" name="col-head"/>
          <p:cNvSpPr/>
          <p:nvPr/>
        </p:nvSpPr>
        <p:spPr>
          <a:xfrm>
            <a:off x="3291840" y="1051560"/>
            <a:ext cx="2560320" cy="365760"/>
          </a:xfrm>
          <a:prstGeom prst="roundRect">
            <a:avLst>
              <a:gd name="adj" fmla="val 25000"/>
            </a:avLst>
          </a:prstGeom>
          <a:solidFill>
            <a:schemeClr val="accent1"/>
          </a:solidFill>
          <a:ln>
            <a:noFill/>
          </a:ln>
          <a:effectLst>
            <a:outerShdw blurRad="101600" dist="25400" dir="5400000" algn="bl" rotWithShape="0">
              <a:srgbClr val="7A74A8">
                <a:alpha val="18000"/>
              </a:srgbClr>
            </a:outerShdw>
          </a:effectLst>
        </p:spPr>
        <p:txBody>
          <a:bodyPr wrap="square" lIns="109728" tIns="54864" rIns="109728" bIns="54864" rtlCol="0" anchor="ctr"/>
          <a:lstStyle/>
          <a:p>
            <a:pPr marL="0" indent="0" algn="l">
              <a:buNone/>
            </a:pPr>
            <a:r>
              <a:rPr lang="en-US" sz="1300" b="1" dirty="0">
                <a:solidFill>
                  <a:schemeClr val="tx2"/>
                </a:solidFill>
              </a:rPr>
              <a:t>2  How it runs</a:t>
            </a:r>
          </a:p>
        </p:txBody>
      </p:sp>
      <p:sp>
        <p:nvSpPr>
          <p:cNvPr id="115" name="step"/>
          <p:cNvSpPr/>
          <p:nvPr/>
        </p:nvSpPr>
        <p:spPr>
          <a:xfrm>
            <a:off x="3291840" y="150876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16" name="step-num"/>
          <p:cNvSpPr/>
          <p:nvPr/>
        </p:nvSpPr>
        <p:spPr>
          <a:xfrm>
            <a:off x="3364992" y="1655064"/>
            <a:ext cx="274320" cy="274320"/>
          </a:xfrm>
          <a:prstGeom prst="ellipse">
            <a:avLst/>
          </a:prstGeom>
          <a:solidFill>
            <a:schemeClr val="accent1"/>
          </a:solidFill>
          <a:ln>
            <a:noFill/>
          </a:ln>
        </p:spPr>
        <p:txBody>
          <a:bodyPr wrap="square" lIns="0" tIns="0" rIns="0" bIns="0" rtlCol="0" anchor="ctr"/>
          <a:lstStyle/>
          <a:p>
            <a:pPr marL="0" indent="0" algn="ctr">
              <a:buNone/>
            </a:pPr>
            <a:r>
              <a:rPr lang="en-US" sz="1000" b="1" dirty="0">
                <a:solidFill>
                  <a:schemeClr val="tx2"/>
                </a:solidFill>
              </a:rPr>
              <a:t>1</a:t>
            </a:r>
          </a:p>
        </p:txBody>
      </p:sp>
      <p:sp>
        <p:nvSpPr>
          <p:cNvPr id="117" name="text"/>
          <p:cNvSpPr txBox="1"/>
          <p:nvPr/>
        </p:nvSpPr>
        <p:spPr>
          <a:xfrm>
            <a:off x="3712464" y="153619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Click: </a:t>
            </a:r>
            <a:r>
              <a:rPr lang="en-US" sz="1000" b="0" dirty="0">
                <a:solidFill>
                  <a:schemeClr val="tx1"/>
                </a:solidFill>
              </a:rPr>
              <a:t>Page or demo in the React UI (11 pages)</a:t>
            </a:r>
          </a:p>
        </p:txBody>
      </p:sp>
      <p:sp>
        <p:nvSpPr>
          <p:cNvPr id="118" name="step"/>
          <p:cNvSpPr/>
          <p:nvPr/>
        </p:nvSpPr>
        <p:spPr>
          <a:xfrm>
            <a:off x="3291840" y="214884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19" name="step-num"/>
          <p:cNvSpPr/>
          <p:nvPr/>
        </p:nvSpPr>
        <p:spPr>
          <a:xfrm>
            <a:off x="3364992" y="2295144"/>
            <a:ext cx="274320" cy="274320"/>
          </a:xfrm>
          <a:prstGeom prst="ellipse">
            <a:avLst/>
          </a:prstGeom>
          <a:solidFill>
            <a:schemeClr val="accent1"/>
          </a:solidFill>
          <a:ln>
            <a:noFill/>
          </a:ln>
        </p:spPr>
        <p:txBody>
          <a:bodyPr wrap="square" lIns="0" tIns="0" rIns="0" bIns="0" rtlCol="0" anchor="ctr"/>
          <a:lstStyle/>
          <a:p>
            <a:pPr marL="0" indent="0" algn="ctr">
              <a:buNone/>
            </a:pPr>
            <a:r>
              <a:rPr lang="en-US" sz="1000" b="1" dirty="0">
                <a:solidFill>
                  <a:schemeClr val="tx2"/>
                </a:solidFill>
              </a:rPr>
              <a:t>2</a:t>
            </a:r>
          </a:p>
        </p:txBody>
      </p:sp>
      <p:sp>
        <p:nvSpPr>
          <p:cNvPr id="120" name="text"/>
          <p:cNvSpPr txBox="1"/>
          <p:nvPr/>
        </p:nvSpPr>
        <p:spPr>
          <a:xfrm>
            <a:off x="3712464" y="217627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Proxy: </a:t>
            </a:r>
            <a:r>
              <a:rPr lang="en-US" sz="1000" b="0" dirty="0">
                <a:solidFill>
                  <a:schemeClr val="tx1"/>
                </a:solidFill>
              </a:rPr>
              <a:t>Vite forwards /api from 5173 to 5000</a:t>
            </a:r>
          </a:p>
        </p:txBody>
      </p:sp>
      <p:sp>
        <p:nvSpPr>
          <p:cNvPr id="121" name="step"/>
          <p:cNvSpPr/>
          <p:nvPr/>
        </p:nvSpPr>
        <p:spPr>
          <a:xfrm>
            <a:off x="3291840" y="278892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2" name="step-num"/>
          <p:cNvSpPr/>
          <p:nvPr/>
        </p:nvSpPr>
        <p:spPr>
          <a:xfrm>
            <a:off x="3364992" y="2935224"/>
            <a:ext cx="274320" cy="274320"/>
          </a:xfrm>
          <a:prstGeom prst="ellipse">
            <a:avLst/>
          </a:prstGeom>
          <a:solidFill>
            <a:schemeClr val="accent1"/>
          </a:solidFill>
          <a:ln>
            <a:noFill/>
          </a:ln>
        </p:spPr>
        <p:txBody>
          <a:bodyPr wrap="square" lIns="0" tIns="0" rIns="0" bIns="0" rtlCol="0" anchor="ctr"/>
          <a:lstStyle/>
          <a:p>
            <a:pPr marL="0" indent="0" algn="ctr">
              <a:buNone/>
            </a:pPr>
            <a:r>
              <a:rPr lang="en-US" sz="1000" b="1" dirty="0">
                <a:solidFill>
                  <a:schemeClr val="tx2"/>
                </a:solidFill>
              </a:rPr>
              <a:t>3</a:t>
            </a:r>
          </a:p>
        </p:txBody>
      </p:sp>
      <p:sp>
        <p:nvSpPr>
          <p:cNvPr id="123" name="text"/>
          <p:cNvSpPr txBox="1"/>
          <p:nvPr/>
        </p:nvSpPr>
        <p:spPr>
          <a:xfrm>
            <a:off x="3712464" y="281635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Engines: </a:t>
            </a:r>
            <a:r>
              <a:rPr lang="en-US" sz="1000" b="0" dirty="0">
                <a:solidFill>
                  <a:schemeClr val="tx1"/>
                </a:solidFill>
              </a:rPr>
              <a:t>Express runs routing, ACL, QoS, tracer; saves to SQLite</a:t>
            </a:r>
          </a:p>
        </p:txBody>
      </p:sp>
      <p:sp>
        <p:nvSpPr>
          <p:cNvPr id="124" name="step"/>
          <p:cNvSpPr/>
          <p:nvPr/>
        </p:nvSpPr>
        <p:spPr>
          <a:xfrm>
            <a:off x="3291840" y="342900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5" name="step-num"/>
          <p:cNvSpPr/>
          <p:nvPr/>
        </p:nvSpPr>
        <p:spPr>
          <a:xfrm>
            <a:off x="3364992" y="3575304"/>
            <a:ext cx="274320" cy="274320"/>
          </a:xfrm>
          <a:prstGeom prst="ellipse">
            <a:avLst/>
          </a:prstGeom>
          <a:solidFill>
            <a:schemeClr val="accent1"/>
          </a:solidFill>
          <a:ln>
            <a:noFill/>
          </a:ln>
        </p:spPr>
        <p:txBody>
          <a:bodyPr wrap="square" lIns="0" tIns="0" rIns="0" bIns="0" rtlCol="0" anchor="ctr"/>
          <a:lstStyle/>
          <a:p>
            <a:pPr marL="0" indent="0" algn="ctr">
              <a:buNone/>
            </a:pPr>
            <a:r>
              <a:rPr lang="en-US" sz="1000" b="1" dirty="0">
                <a:solidFill>
                  <a:schemeClr val="tx2"/>
                </a:solidFill>
              </a:rPr>
              <a:t>4</a:t>
            </a:r>
          </a:p>
        </p:txBody>
      </p:sp>
      <p:sp>
        <p:nvSpPr>
          <p:cNvPr id="126" name="text"/>
          <p:cNvSpPr txBox="1"/>
          <p:nvPr/>
        </p:nvSpPr>
        <p:spPr>
          <a:xfrm>
            <a:off x="3712464" y="345643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Reply: </a:t>
            </a:r>
            <a:r>
              <a:rPr lang="en-US" sz="1000" b="0" dirty="0">
                <a:solidFill>
                  <a:schemeClr val="tx1"/>
                </a:solidFill>
              </a:rPr>
              <a:t>JSON back; map and charts redraw</a:t>
            </a:r>
          </a:p>
        </p:txBody>
      </p:sp>
      <p:sp>
        <p:nvSpPr>
          <p:cNvPr id="127" name="col-head"/>
          <p:cNvSpPr/>
          <p:nvPr/>
        </p:nvSpPr>
        <p:spPr>
          <a:xfrm>
            <a:off x="6035040" y="1051560"/>
            <a:ext cx="2560320" cy="365760"/>
          </a:xfrm>
          <a:prstGeom prst="roundRect">
            <a:avLst>
              <a:gd name="adj" fmla="val 25000"/>
            </a:avLst>
          </a:prstGeom>
          <a:solidFill>
            <a:schemeClr val="accent3"/>
          </a:solidFill>
          <a:ln>
            <a:noFill/>
          </a:ln>
          <a:effectLst>
            <a:outerShdw blurRad="101600" dist="25400" dir="5400000" algn="bl" rotWithShape="0">
              <a:srgbClr val="7A74A8">
                <a:alpha val="18000"/>
              </a:srgbClr>
            </a:outerShdw>
          </a:effectLst>
        </p:spPr>
        <p:txBody>
          <a:bodyPr wrap="square" lIns="109728" tIns="54864" rIns="109728" bIns="54864" rtlCol="0" anchor="ctr"/>
          <a:lstStyle/>
          <a:p>
            <a:pPr marL="0" indent="0" algn="l">
              <a:buNone/>
            </a:pPr>
            <a:r>
              <a:rPr lang="en-US" sz="1300" b="1" dirty="0">
                <a:solidFill>
                  <a:schemeClr val="tx2"/>
                </a:solidFill>
              </a:rPr>
              <a:t>3  How a packet is traced</a:t>
            </a:r>
          </a:p>
        </p:txBody>
      </p:sp>
      <p:sp>
        <p:nvSpPr>
          <p:cNvPr id="128" name="step"/>
          <p:cNvSpPr/>
          <p:nvPr/>
        </p:nvSpPr>
        <p:spPr>
          <a:xfrm>
            <a:off x="6035040" y="150876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9" name="step-num"/>
          <p:cNvSpPr/>
          <p:nvPr/>
        </p:nvSpPr>
        <p:spPr>
          <a:xfrm>
            <a:off x="6108192" y="1655064"/>
            <a:ext cx="274320" cy="274320"/>
          </a:xfrm>
          <a:prstGeom prst="ellipse">
            <a:avLst/>
          </a:prstGeom>
          <a:solidFill>
            <a:schemeClr val="accent3"/>
          </a:solidFill>
          <a:ln>
            <a:noFill/>
          </a:ln>
        </p:spPr>
        <p:txBody>
          <a:bodyPr wrap="square" lIns="0" tIns="0" rIns="0" bIns="0" rtlCol="0" anchor="ctr"/>
          <a:lstStyle/>
          <a:p>
            <a:pPr marL="0" indent="0" algn="ctr">
              <a:buNone/>
            </a:pPr>
            <a:r>
              <a:rPr lang="en-US" sz="1000" b="1" dirty="0">
                <a:solidFill>
                  <a:schemeClr val="tx2"/>
                </a:solidFill>
              </a:rPr>
              <a:t>1</a:t>
            </a:r>
          </a:p>
        </p:txBody>
      </p:sp>
      <p:sp>
        <p:nvSpPr>
          <p:cNvPr id="130" name="text"/>
          <p:cNvSpPr txBox="1"/>
          <p:nvPr/>
        </p:nvSpPr>
        <p:spPr>
          <a:xfrm>
            <a:off x="6455664" y="153619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Route: </a:t>
            </a:r>
            <a:r>
              <a:rPr lang="en-US" sz="1000" b="0" dirty="0">
                <a:solidFill>
                  <a:schemeClr val="tx1"/>
                </a:solidFill>
              </a:rPr>
              <a:t>Compute the path over the live topology (OSPF or RIP)</a:t>
            </a:r>
          </a:p>
        </p:txBody>
      </p:sp>
      <p:sp>
        <p:nvSpPr>
          <p:cNvPr id="131" name="step"/>
          <p:cNvSpPr/>
          <p:nvPr/>
        </p:nvSpPr>
        <p:spPr>
          <a:xfrm>
            <a:off x="6035040" y="214884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32" name="step-num"/>
          <p:cNvSpPr/>
          <p:nvPr/>
        </p:nvSpPr>
        <p:spPr>
          <a:xfrm>
            <a:off x="6108192" y="2295144"/>
            <a:ext cx="274320" cy="274320"/>
          </a:xfrm>
          <a:prstGeom prst="ellipse">
            <a:avLst/>
          </a:prstGeom>
          <a:solidFill>
            <a:schemeClr val="accent3"/>
          </a:solidFill>
          <a:ln>
            <a:noFill/>
          </a:ln>
        </p:spPr>
        <p:txBody>
          <a:bodyPr wrap="square" lIns="0" tIns="0" rIns="0" bIns="0" rtlCol="0" anchor="ctr"/>
          <a:lstStyle/>
          <a:p>
            <a:pPr marL="0" indent="0" algn="ctr">
              <a:buNone/>
            </a:pPr>
            <a:r>
              <a:rPr lang="en-US" sz="1000" b="1" dirty="0">
                <a:solidFill>
                  <a:schemeClr val="tx2"/>
                </a:solidFill>
              </a:rPr>
              <a:t>2</a:t>
            </a:r>
          </a:p>
        </p:txBody>
      </p:sp>
      <p:sp>
        <p:nvSpPr>
          <p:cNvPr id="133" name="text"/>
          <p:cNvSpPr txBox="1"/>
          <p:nvPr/>
        </p:nvSpPr>
        <p:spPr>
          <a:xfrm>
            <a:off x="6455664" y="217627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ACL: </a:t>
            </a:r>
            <a:r>
              <a:rPr lang="en-US" sz="1000" b="0" dirty="0">
                <a:solidFill>
                  <a:schemeClr val="tx1"/>
                </a:solidFill>
              </a:rPr>
              <a:t>At each hop: permit moves on, deny gives Blocked</a:t>
            </a:r>
          </a:p>
        </p:txBody>
      </p:sp>
      <p:sp>
        <p:nvSpPr>
          <p:cNvPr id="134" name="step"/>
          <p:cNvSpPr/>
          <p:nvPr/>
        </p:nvSpPr>
        <p:spPr>
          <a:xfrm>
            <a:off x="6035040" y="278892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35" name="step-num"/>
          <p:cNvSpPr/>
          <p:nvPr/>
        </p:nvSpPr>
        <p:spPr>
          <a:xfrm>
            <a:off x="6108192" y="2935224"/>
            <a:ext cx="274320" cy="274320"/>
          </a:xfrm>
          <a:prstGeom prst="ellipse">
            <a:avLst/>
          </a:prstGeom>
          <a:solidFill>
            <a:schemeClr val="accent3"/>
          </a:solidFill>
          <a:ln>
            <a:noFill/>
          </a:ln>
        </p:spPr>
        <p:txBody>
          <a:bodyPr wrap="square" lIns="0" tIns="0" rIns="0" bIns="0" rtlCol="0" anchor="ctr"/>
          <a:lstStyle/>
          <a:p>
            <a:pPr marL="0" indent="0" algn="ctr">
              <a:buNone/>
            </a:pPr>
            <a:r>
              <a:rPr lang="en-US" sz="1000" b="1" dirty="0">
                <a:solidFill>
                  <a:schemeClr val="tx2"/>
                </a:solidFill>
              </a:rPr>
              <a:t>3</a:t>
            </a:r>
          </a:p>
        </p:txBody>
      </p:sp>
      <p:sp>
        <p:nvSpPr>
          <p:cNvPr id="136" name="text"/>
          <p:cNvSpPr txBox="1"/>
          <p:nvPr/>
        </p:nvSpPr>
        <p:spPr>
          <a:xfrm>
            <a:off x="6455664" y="281635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Arrive: </a:t>
            </a:r>
            <a:r>
              <a:rPr lang="en-US" sz="1000" b="0" dirty="0">
                <a:solidFill>
                  <a:schemeClr val="tx1"/>
                </a:solidFill>
              </a:rPr>
              <a:t>Repeat until the packet arrives: Delivered</a:t>
            </a:r>
          </a:p>
        </p:txBody>
      </p:sp>
      <p:sp>
        <p:nvSpPr>
          <p:cNvPr id="137" name="step"/>
          <p:cNvSpPr/>
          <p:nvPr/>
        </p:nvSpPr>
        <p:spPr>
          <a:xfrm>
            <a:off x="6035040" y="3429000"/>
            <a:ext cx="2560320" cy="566928"/>
          </a:xfrm>
          <a:prstGeom prst="roundRect">
            <a:avLst>
              <a:gd name="adj" fmla="val 12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38" name="step-num"/>
          <p:cNvSpPr/>
          <p:nvPr/>
        </p:nvSpPr>
        <p:spPr>
          <a:xfrm>
            <a:off x="6108192" y="3575304"/>
            <a:ext cx="274320" cy="274320"/>
          </a:xfrm>
          <a:prstGeom prst="ellipse">
            <a:avLst/>
          </a:prstGeom>
          <a:solidFill>
            <a:schemeClr val="accent3"/>
          </a:solidFill>
          <a:ln>
            <a:noFill/>
          </a:ln>
        </p:spPr>
        <p:txBody>
          <a:bodyPr wrap="square" lIns="0" tIns="0" rIns="0" bIns="0" rtlCol="0" anchor="ctr"/>
          <a:lstStyle/>
          <a:p>
            <a:pPr marL="0" indent="0" algn="ctr">
              <a:buNone/>
            </a:pPr>
            <a:r>
              <a:rPr lang="en-US" sz="1000" b="1" dirty="0">
                <a:solidFill>
                  <a:schemeClr val="tx2"/>
                </a:solidFill>
              </a:rPr>
              <a:t>4</a:t>
            </a:r>
          </a:p>
        </p:txBody>
      </p:sp>
      <p:sp>
        <p:nvSpPr>
          <p:cNvPr id="139" name="text"/>
          <p:cNvSpPr txBox="1"/>
          <p:nvPr/>
        </p:nvSpPr>
        <p:spPr>
          <a:xfrm>
            <a:off x="6455664" y="3456432"/>
            <a:ext cx="2066544" cy="512064"/>
          </a:xfrm>
          <a:prstGeom prst="rect">
            <a:avLst/>
          </a:prstGeom>
          <a:noFill/>
        </p:spPr>
        <p:txBody>
          <a:bodyPr wrap="square" lIns="0" tIns="0" rIns="0" bIns="0" rtlCol="0" anchor="ctr"/>
          <a:lstStyle/>
          <a:p>
            <a:pPr marL="0" indent="0" algn="l">
              <a:buNone/>
            </a:pPr>
            <a:r>
              <a:rPr lang="en-US" sz="1000" b="1" dirty="0">
                <a:solidFill>
                  <a:schemeClr val="tx2"/>
                </a:solidFill>
              </a:rPr>
              <a:t>Link down: </a:t>
            </a:r>
            <a:r>
              <a:rPr lang="en-US" sz="1000" b="0" dirty="0">
                <a:solidFill>
                  <a:schemeClr val="tx1"/>
                </a:solidFill>
              </a:rPr>
              <a:t>Route is computed again, e.g. OSPF switches to R3</a:t>
            </a:r>
          </a:p>
        </p:txBody>
      </p:sp>
      <p:sp>
        <p:nvSpPr>
          <p:cNvPr id="140" name="stack"/>
          <p:cNvSpPr/>
          <p:nvPr/>
        </p:nvSpPr>
        <p:spPr>
          <a:xfrm>
            <a:off x="548640" y="4160520"/>
            <a:ext cx="2560320" cy="347472"/>
          </a:xfrm>
          <a:prstGeom prst="roundRect">
            <a:avLst>
              <a:gd name="adj" fmla="val 40000"/>
            </a:avLst>
          </a:prstGeom>
          <a:solidFill>
            <a:schemeClr val="accent2"/>
          </a:solidFill>
          <a:ln>
            <a:noFill/>
          </a:ln>
        </p:spPr>
        <p:txBody>
          <a:bodyPr wrap="square" lIns="36576" tIns="18288" rIns="36576" bIns="18288" rtlCol="0" anchor="ctr"/>
          <a:lstStyle/>
          <a:p>
            <a:pPr marL="0" indent="0" algn="ctr">
              <a:buNone/>
            </a:pPr>
            <a:r>
              <a:rPr lang="en-US" sz="900" b="1" dirty="0">
                <a:solidFill>
                  <a:schemeClr val="tx2"/>
                </a:solidFill>
              </a:rPr>
              <a:t>Frontend: React, TypeScript, Vite, Tailwind</a:t>
            </a:r>
          </a:p>
        </p:txBody>
      </p:sp>
      <p:sp>
        <p:nvSpPr>
          <p:cNvPr id="141" name="stack"/>
          <p:cNvSpPr/>
          <p:nvPr/>
        </p:nvSpPr>
        <p:spPr>
          <a:xfrm>
            <a:off x="3291840" y="4160520"/>
            <a:ext cx="2560320" cy="347472"/>
          </a:xfrm>
          <a:prstGeom prst="roundRect">
            <a:avLst>
              <a:gd name="adj" fmla="val 40000"/>
            </a:avLst>
          </a:prstGeom>
          <a:solidFill>
            <a:schemeClr val="accent5"/>
          </a:solidFill>
          <a:ln>
            <a:noFill/>
          </a:ln>
        </p:spPr>
        <p:txBody>
          <a:bodyPr wrap="square" lIns="36576" tIns="18288" rIns="36576" bIns="18288" rtlCol="0" anchor="ctr"/>
          <a:lstStyle/>
          <a:p>
            <a:pPr marL="0" indent="0" algn="ctr">
              <a:buNone/>
            </a:pPr>
            <a:r>
              <a:rPr lang="en-US" sz="900" b="1" dirty="0">
                <a:solidFill>
                  <a:schemeClr val="tx2"/>
                </a:solidFill>
              </a:rPr>
              <a:t>Backend: Node.js, Express, SQLite (sql.js)</a:t>
            </a:r>
          </a:p>
        </p:txBody>
      </p:sp>
      <p:sp>
        <p:nvSpPr>
          <p:cNvPr id="142" name="stack"/>
          <p:cNvSpPr/>
          <p:nvPr/>
        </p:nvSpPr>
        <p:spPr>
          <a:xfrm>
            <a:off x="6035040" y="4160520"/>
            <a:ext cx="2560320" cy="347472"/>
          </a:xfrm>
          <a:prstGeom prst="roundRect">
            <a:avLst>
              <a:gd name="adj" fmla="val 40000"/>
            </a:avLst>
          </a:prstGeom>
          <a:solidFill>
            <a:schemeClr val="accent6"/>
          </a:solidFill>
          <a:ln>
            <a:noFill/>
          </a:ln>
        </p:spPr>
        <p:txBody>
          <a:bodyPr wrap="square" lIns="36576" tIns="18288" rIns="36576" bIns="18288" rtlCol="0" anchor="ctr"/>
          <a:lstStyle/>
          <a:p>
            <a:pPr marL="0" indent="0" algn="ctr">
              <a:buNone/>
            </a:pPr>
            <a:r>
              <a:rPr lang="en-US" sz="900" b="1" dirty="0">
                <a:solidFill>
                  <a:schemeClr val="tx2"/>
                </a:solidFill>
              </a:rPr>
              <a:t>Tests &amp; C: Vitest, 9 C programs (gcc)</a:t>
            </a:r>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Scenarios</a:t>
            </a:r>
            <a:endParaRPr lang="en-US" sz="3200" dirty="0"/>
          </a:p>
        </p:txBody>
      </p:sp>
      <p:sp>
        <p:nvSpPr>
          <p:cNvPr id="4" name="scenario-row"/>
          <p:cNvSpPr/>
          <p:nvPr/>
        </p:nvSpPr>
        <p:spPr>
          <a:xfrm>
            <a:off x="548640" y="1188720"/>
            <a:ext cx="8046720" cy="566928"/>
          </a:xfrm>
          <a:prstGeom prst="roundRect">
            <a:avLst>
              <a:gd name="adj" fmla="val 22581"/>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5" name="num-circle"/>
          <p:cNvSpPr/>
          <p:nvPr/>
        </p:nvSpPr>
        <p:spPr>
          <a:xfrm>
            <a:off x="658368" y="1271016"/>
            <a:ext cx="402336" cy="402336"/>
          </a:xfrm>
          <a:prstGeom prst="ellipse">
            <a:avLst/>
          </a:prstGeom>
          <a:solidFill>
            <a:schemeClr val="accent2"/>
          </a:solidFill>
          <a:ln w="6350">
            <a:solidFill>
              <a:schemeClr val="accent2"/>
            </a:solidFill>
            <a:prstDash val="solid"/>
          </a:ln>
        </p:spPr>
      </p:sp>
      <p:sp>
        <p:nvSpPr>
          <p:cNvPr id="6" name="Text 3"/>
          <p:cNvSpPr txBox="1"/>
          <p:nvPr/>
        </p:nvSpPr>
        <p:spPr>
          <a:xfrm>
            <a:off x="658368" y="1271016"/>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7" name="Text 4"/>
          <p:cNvSpPr txBox="1"/>
          <p:nvPr/>
        </p:nvSpPr>
        <p:spPr>
          <a:xfrm>
            <a:off x="1234440" y="1188720"/>
            <a:ext cx="2377440" cy="566928"/>
          </a:xfrm>
          <a:prstGeom prst="rect">
            <a:avLst/>
          </a:prstGeom>
          <a:noFill/>
          <a:ln/>
        </p:spPr>
        <p:txBody>
          <a:bodyPr wrap="square" lIns="0" tIns="0" rIns="0" bIns="0" rtlCol="0" anchor="ctr"/>
          <a:lstStyle/>
          <a:p>
            <a:pPr marL="0" indent="0">
              <a:buNone/>
            </a:pPr>
            <a:r>
              <a:rPr lang="en-US" sz="1500" b="1" dirty="0">
                <a:solidFill>
                  <a:schemeClr val="tx2"/>
                </a:solidFill>
              </a:rPr>
              <a:t>Normal web request</a:t>
            </a:r>
            <a:endParaRPr lang="en-US" sz="1500" dirty="0"/>
          </a:p>
        </p:txBody>
      </p:sp>
      <p:sp>
        <p:nvSpPr>
          <p:cNvPr id="8" name="Text 5"/>
          <p:cNvSpPr txBox="1"/>
          <p:nvPr/>
        </p:nvSpPr>
        <p:spPr>
          <a:xfrm>
            <a:off x="3657600" y="1188720"/>
            <a:ext cx="4846320" cy="566928"/>
          </a:xfrm>
          <a:prstGeom prst="rect">
            <a:avLst/>
          </a:prstGeom>
          <a:noFill/>
          <a:ln/>
        </p:spPr>
        <p:txBody>
          <a:bodyPr wrap="square" lIns="0" tIns="0" rIns="0" bIns="0" rtlCol="0" anchor="ctr"/>
          <a:lstStyle/>
          <a:p>
            <a:pPr marL="0" indent="0">
              <a:buNone/>
            </a:pPr>
            <a:r>
              <a:rPr lang="en-US" sz="1300" dirty="0">
                <a:solidFill>
                  <a:schemeClr val="tx1"/>
                </a:solidFill>
              </a:rPr>
              <a:t>Student PC reaches the LMS server across VLANs</a:t>
            </a:r>
            <a:endParaRPr lang="en-US" sz="1300" dirty="0"/>
          </a:p>
        </p:txBody>
      </p:sp>
      <p:sp>
        <p:nvSpPr>
          <p:cNvPr id="9" name="scenario-row"/>
          <p:cNvSpPr/>
          <p:nvPr/>
        </p:nvSpPr>
        <p:spPr>
          <a:xfrm>
            <a:off x="548640" y="1874520"/>
            <a:ext cx="8046720" cy="566928"/>
          </a:xfrm>
          <a:prstGeom prst="roundRect">
            <a:avLst>
              <a:gd name="adj" fmla="val 22581"/>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10" name="num-circle"/>
          <p:cNvSpPr/>
          <p:nvPr/>
        </p:nvSpPr>
        <p:spPr>
          <a:xfrm>
            <a:off x="658368" y="1956816"/>
            <a:ext cx="402336" cy="402336"/>
          </a:xfrm>
          <a:prstGeom prst="ellipse">
            <a:avLst/>
          </a:prstGeom>
          <a:solidFill>
            <a:schemeClr val="accent5"/>
          </a:solidFill>
          <a:ln w="6350">
            <a:solidFill>
              <a:schemeClr val="accent5"/>
            </a:solidFill>
            <a:prstDash val="solid"/>
          </a:ln>
        </p:spPr>
      </p:sp>
      <p:sp>
        <p:nvSpPr>
          <p:cNvPr id="11" name="Text 8"/>
          <p:cNvSpPr txBox="1"/>
          <p:nvPr/>
        </p:nvSpPr>
        <p:spPr>
          <a:xfrm>
            <a:off x="658368" y="1956816"/>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2" name="Text 9"/>
          <p:cNvSpPr txBox="1"/>
          <p:nvPr/>
        </p:nvSpPr>
        <p:spPr>
          <a:xfrm>
            <a:off x="1234440" y="1874520"/>
            <a:ext cx="2377440" cy="566928"/>
          </a:xfrm>
          <a:prstGeom prst="rect">
            <a:avLst/>
          </a:prstGeom>
          <a:noFill/>
          <a:ln/>
        </p:spPr>
        <p:txBody>
          <a:bodyPr wrap="square" lIns="0" tIns="0" rIns="0" bIns="0" rtlCol="0" anchor="ctr"/>
          <a:lstStyle/>
          <a:p>
            <a:pPr marL="0" indent="0">
              <a:buNone/>
            </a:pPr>
            <a:r>
              <a:rPr lang="en-US" sz="1500" b="1" dirty="0">
                <a:solidFill>
                  <a:schemeClr val="tx2"/>
                </a:solidFill>
              </a:rPr>
              <a:t>ACL blocks access</a:t>
            </a:r>
            <a:endParaRPr lang="en-US" sz="1500" dirty="0"/>
          </a:p>
        </p:txBody>
      </p:sp>
      <p:sp>
        <p:nvSpPr>
          <p:cNvPr id="13" name="Text 10"/>
          <p:cNvSpPr txBox="1"/>
          <p:nvPr/>
        </p:nvSpPr>
        <p:spPr>
          <a:xfrm>
            <a:off x="3657600" y="1874520"/>
            <a:ext cx="4846320" cy="566928"/>
          </a:xfrm>
          <a:prstGeom prst="rect">
            <a:avLst/>
          </a:prstGeom>
          <a:noFill/>
          <a:ln/>
        </p:spPr>
        <p:txBody>
          <a:bodyPr wrap="square" lIns="0" tIns="0" rIns="0" bIns="0" rtlCol="0" anchor="ctr"/>
          <a:lstStyle/>
          <a:p>
            <a:pPr marL="0" indent="0">
              <a:buNone/>
            </a:pPr>
            <a:r>
              <a:rPr lang="en-US" sz="1300" dirty="0">
                <a:solidFill>
                  <a:schemeClr val="tx1"/>
                </a:solidFill>
              </a:rPr>
              <a:t>Student cannot reach the Admin Finance PC</a:t>
            </a:r>
            <a:endParaRPr lang="en-US" sz="1300" dirty="0"/>
          </a:p>
        </p:txBody>
      </p:sp>
      <p:sp>
        <p:nvSpPr>
          <p:cNvPr id="14" name="scenario-row"/>
          <p:cNvSpPr/>
          <p:nvPr/>
        </p:nvSpPr>
        <p:spPr>
          <a:xfrm>
            <a:off x="548640" y="2560320"/>
            <a:ext cx="8046720" cy="566928"/>
          </a:xfrm>
          <a:prstGeom prst="roundRect">
            <a:avLst>
              <a:gd name="adj" fmla="val 22581"/>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15" name="num-circle"/>
          <p:cNvSpPr/>
          <p:nvPr/>
        </p:nvSpPr>
        <p:spPr>
          <a:xfrm>
            <a:off x="658368" y="2642616"/>
            <a:ext cx="402336" cy="402336"/>
          </a:xfrm>
          <a:prstGeom prst="ellipse">
            <a:avLst/>
          </a:prstGeom>
          <a:solidFill>
            <a:schemeClr val="accent3"/>
          </a:solidFill>
          <a:ln w="6350">
            <a:solidFill>
              <a:schemeClr val="accent3"/>
            </a:solidFill>
            <a:prstDash val="solid"/>
          </a:ln>
        </p:spPr>
      </p:sp>
      <p:sp>
        <p:nvSpPr>
          <p:cNvPr id="16" name="Text 13"/>
          <p:cNvSpPr txBox="1"/>
          <p:nvPr/>
        </p:nvSpPr>
        <p:spPr>
          <a:xfrm>
            <a:off x="658368" y="2642616"/>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7" name="Text 14"/>
          <p:cNvSpPr txBox="1"/>
          <p:nvPr/>
        </p:nvSpPr>
        <p:spPr>
          <a:xfrm>
            <a:off x="1234440" y="2560320"/>
            <a:ext cx="2377440" cy="566928"/>
          </a:xfrm>
          <a:prstGeom prst="rect">
            <a:avLst/>
          </a:prstGeom>
          <a:noFill/>
          <a:ln/>
        </p:spPr>
        <p:txBody>
          <a:bodyPr wrap="square" lIns="0" tIns="0" rIns="0" bIns="0" rtlCol="0" anchor="ctr"/>
          <a:lstStyle/>
          <a:p>
            <a:pPr marL="0" indent="0">
              <a:buNone/>
            </a:pPr>
            <a:r>
              <a:rPr lang="en-US" sz="1500" b="1" dirty="0">
                <a:solidFill>
                  <a:schemeClr val="tx2"/>
                </a:solidFill>
              </a:rPr>
              <a:t>Fault recovery</a:t>
            </a:r>
            <a:endParaRPr lang="en-US" sz="1500" dirty="0"/>
          </a:p>
        </p:txBody>
      </p:sp>
      <p:sp>
        <p:nvSpPr>
          <p:cNvPr id="18" name="Text 15"/>
          <p:cNvSpPr txBox="1"/>
          <p:nvPr/>
        </p:nvSpPr>
        <p:spPr>
          <a:xfrm>
            <a:off x="3657600" y="2560320"/>
            <a:ext cx="4846320" cy="566928"/>
          </a:xfrm>
          <a:prstGeom prst="rect">
            <a:avLst/>
          </a:prstGeom>
          <a:noFill/>
          <a:ln/>
        </p:spPr>
        <p:txBody>
          <a:bodyPr wrap="square" lIns="0" tIns="0" rIns="0" bIns="0" rtlCol="0" anchor="ctr"/>
          <a:lstStyle/>
          <a:p>
            <a:pPr marL="0" indent="0">
              <a:buNone/>
            </a:pPr>
            <a:r>
              <a:rPr lang="en-US" sz="1300" dirty="0">
                <a:solidFill>
                  <a:schemeClr val="tx1"/>
                </a:solidFill>
              </a:rPr>
              <a:t>R1–R2 link cut, OSPF switches to R3</a:t>
            </a:r>
            <a:endParaRPr lang="en-US" sz="1300" dirty="0"/>
          </a:p>
        </p:txBody>
      </p:sp>
      <p:sp>
        <p:nvSpPr>
          <p:cNvPr id="19" name="scenario-row"/>
          <p:cNvSpPr/>
          <p:nvPr/>
        </p:nvSpPr>
        <p:spPr>
          <a:xfrm>
            <a:off x="548640" y="3246120"/>
            <a:ext cx="8046720" cy="566928"/>
          </a:xfrm>
          <a:prstGeom prst="roundRect">
            <a:avLst>
              <a:gd name="adj" fmla="val 22581"/>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20" name="num-circle"/>
          <p:cNvSpPr/>
          <p:nvPr/>
        </p:nvSpPr>
        <p:spPr>
          <a:xfrm>
            <a:off x="658368" y="3328416"/>
            <a:ext cx="402336" cy="402336"/>
          </a:xfrm>
          <a:prstGeom prst="ellipse">
            <a:avLst/>
          </a:prstGeom>
          <a:solidFill>
            <a:schemeClr val="accent6"/>
          </a:solidFill>
          <a:ln w="6350">
            <a:solidFill>
              <a:schemeClr val="accent6"/>
            </a:solidFill>
            <a:prstDash val="solid"/>
          </a:ln>
        </p:spPr>
      </p:sp>
      <p:sp>
        <p:nvSpPr>
          <p:cNvPr id="21" name="Text 18"/>
          <p:cNvSpPr txBox="1"/>
          <p:nvPr/>
        </p:nvSpPr>
        <p:spPr>
          <a:xfrm>
            <a:off x="658368" y="3328416"/>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4</a:t>
            </a:r>
            <a:endParaRPr lang="en-US" sz="1500" dirty="0"/>
          </a:p>
        </p:txBody>
      </p:sp>
      <p:sp>
        <p:nvSpPr>
          <p:cNvPr id="22" name="Text 19"/>
          <p:cNvSpPr txBox="1"/>
          <p:nvPr/>
        </p:nvSpPr>
        <p:spPr>
          <a:xfrm>
            <a:off x="1234440" y="3246120"/>
            <a:ext cx="2377440" cy="566928"/>
          </a:xfrm>
          <a:prstGeom prst="rect">
            <a:avLst/>
          </a:prstGeom>
          <a:noFill/>
          <a:ln/>
        </p:spPr>
        <p:txBody>
          <a:bodyPr wrap="square" lIns="0" tIns="0" rIns="0" bIns="0" rtlCol="0" anchor="ctr"/>
          <a:lstStyle/>
          <a:p>
            <a:pPr marL="0" indent="0">
              <a:buNone/>
            </a:pPr>
            <a:r>
              <a:rPr lang="en-US" sz="1500" b="1" dirty="0">
                <a:solidFill>
                  <a:schemeClr val="tx2"/>
                </a:solidFill>
              </a:rPr>
              <a:t>Congestion &amp; QoS</a:t>
            </a:r>
            <a:endParaRPr lang="en-US" sz="1500" dirty="0"/>
          </a:p>
        </p:txBody>
      </p:sp>
      <p:sp>
        <p:nvSpPr>
          <p:cNvPr id="23" name="Text 20"/>
          <p:cNvSpPr txBox="1"/>
          <p:nvPr/>
        </p:nvSpPr>
        <p:spPr>
          <a:xfrm>
            <a:off x="3657600" y="3246120"/>
            <a:ext cx="4846320" cy="566928"/>
          </a:xfrm>
          <a:prstGeom prst="rect">
            <a:avLst/>
          </a:prstGeom>
          <a:noFill/>
          <a:ln/>
        </p:spPr>
        <p:txBody>
          <a:bodyPr wrap="square" lIns="0" tIns="0" rIns="0" bIns="0" rtlCol="0" anchor="ctr"/>
          <a:lstStyle/>
          <a:p>
            <a:pPr marL="0" indent="0">
              <a:buNone/>
            </a:pPr>
            <a:r>
              <a:rPr lang="en-US" sz="1300" dirty="0">
                <a:solidFill>
                  <a:schemeClr val="tx1"/>
                </a:solidFill>
              </a:rPr>
              <a:t>Priority queue keeps VoIP at 0% loss</a:t>
            </a:r>
            <a:endParaRPr lang="en-US" sz="1300" dirty="0"/>
          </a:p>
        </p:txBody>
      </p:sp>
      <p:sp>
        <p:nvSpPr>
          <p:cNvPr id="24" name="scenario-row"/>
          <p:cNvSpPr/>
          <p:nvPr/>
        </p:nvSpPr>
        <p:spPr>
          <a:xfrm>
            <a:off x="548640" y="3931920"/>
            <a:ext cx="8046720" cy="566928"/>
          </a:xfrm>
          <a:prstGeom prst="roundRect">
            <a:avLst>
              <a:gd name="adj" fmla="val 22581"/>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sp>
        <p:nvSpPr>
          <p:cNvPr id="25" name="num-circle"/>
          <p:cNvSpPr/>
          <p:nvPr/>
        </p:nvSpPr>
        <p:spPr>
          <a:xfrm>
            <a:off x="658368" y="4014216"/>
            <a:ext cx="402336" cy="402336"/>
          </a:xfrm>
          <a:prstGeom prst="ellipse">
            <a:avLst/>
          </a:prstGeom>
          <a:solidFill>
            <a:schemeClr val="accent4"/>
          </a:solidFill>
          <a:ln w="6350">
            <a:solidFill>
              <a:schemeClr val="accent4"/>
            </a:solidFill>
            <a:prstDash val="solid"/>
          </a:ln>
        </p:spPr>
      </p:sp>
      <p:sp>
        <p:nvSpPr>
          <p:cNvPr id="26" name="Text 23"/>
          <p:cNvSpPr txBox="1"/>
          <p:nvPr/>
        </p:nvSpPr>
        <p:spPr>
          <a:xfrm>
            <a:off x="658368" y="4014216"/>
            <a:ext cx="402336" cy="402336"/>
          </a:xfrm>
          <a:prstGeom prst="rect">
            <a:avLst/>
          </a:prstGeom>
          <a:noFill/>
          <a:ln/>
        </p:spPr>
        <p:txBody>
          <a:bodyPr wrap="square" lIns="0" tIns="0" rIns="0" bIns="0" rtlCol="0" anchor="ctr"/>
          <a:lstStyle/>
          <a:p>
            <a:pPr marL="0" indent="0" algn="ctr">
              <a:buNone/>
            </a:pPr>
            <a:r>
              <a:rPr lang="en-US" sz="1500" b="1" dirty="0">
                <a:solidFill>
                  <a:schemeClr val="tx2"/>
                </a:solidFill>
              </a:rPr>
              <a:t>5</a:t>
            </a:r>
            <a:endParaRPr lang="en-US" sz="1500" dirty="0"/>
          </a:p>
        </p:txBody>
      </p:sp>
      <p:sp>
        <p:nvSpPr>
          <p:cNvPr id="27" name="Text 24"/>
          <p:cNvSpPr txBox="1"/>
          <p:nvPr/>
        </p:nvSpPr>
        <p:spPr>
          <a:xfrm>
            <a:off x="1234440" y="3931920"/>
            <a:ext cx="2377440" cy="566928"/>
          </a:xfrm>
          <a:prstGeom prst="rect">
            <a:avLst/>
          </a:prstGeom>
          <a:noFill/>
          <a:ln/>
        </p:spPr>
        <p:txBody>
          <a:bodyPr wrap="square" lIns="0" tIns="0" rIns="0" bIns="0" rtlCol="0" anchor="ctr"/>
          <a:lstStyle/>
          <a:p>
            <a:pPr marL="0" indent="0">
              <a:buNone/>
            </a:pPr>
            <a:r>
              <a:rPr lang="en-US" sz="1500" b="1" dirty="0">
                <a:solidFill>
                  <a:schemeClr val="tx2"/>
                </a:solidFill>
              </a:rPr>
              <a:t>Error correction</a:t>
            </a:r>
            <a:endParaRPr lang="en-US" sz="1500" dirty="0"/>
          </a:p>
        </p:txBody>
      </p:sp>
      <p:sp>
        <p:nvSpPr>
          <p:cNvPr id="28" name="Text 25"/>
          <p:cNvSpPr txBox="1"/>
          <p:nvPr/>
        </p:nvSpPr>
        <p:spPr>
          <a:xfrm>
            <a:off x="3657600" y="3931920"/>
            <a:ext cx="4846320" cy="566928"/>
          </a:xfrm>
          <a:prstGeom prst="rect">
            <a:avLst/>
          </a:prstGeom>
          <a:noFill/>
          <a:ln/>
        </p:spPr>
        <p:txBody>
          <a:bodyPr wrap="square" lIns="0" tIns="0" rIns="0" bIns="0" rtlCol="0" anchor="ctr"/>
          <a:lstStyle/>
          <a:p>
            <a:pPr marL="0" indent="0">
              <a:buNone/>
            </a:pPr>
            <a:r>
              <a:rPr lang="en-US" sz="1300" dirty="0">
                <a:solidFill>
                  <a:schemeClr val="tx1"/>
                </a:solidFill>
              </a:rPr>
              <a:t>Hamming (7,4) repairs a 1-bit error</a:t>
            </a:r>
            <a:endParaRPr lang="en-US" sz="1300" dirty="0"/>
          </a:p>
        </p:txBody>
      </p:sp>
      <p:sp>
        <p:nvSpPr>
          <p:cNvPr id="3"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Metrics</a:t>
            </a:r>
            <a:endParaRPr lang="en-US" sz="3200" dirty="0"/>
          </a:p>
        </p:txBody>
      </p:sp>
      <p:sp>
        <p:nvSpPr>
          <p:cNvPr id="101" name="metric"/>
          <p:cNvSpPr/>
          <p:nvPr/>
        </p:nvSpPr>
        <p:spPr>
          <a:xfrm>
            <a:off x="548640" y="1097280"/>
            <a:ext cx="1874520" cy="868680"/>
          </a:xfrm>
          <a:prstGeom prst="roundRect">
            <a:avLst>
              <a:gd name="adj" fmla="val 10000"/>
            </a:avLst>
          </a:prstGeom>
          <a:solidFill>
            <a:schemeClr val="accent1"/>
          </a:solidFill>
          <a:ln w="9525">
            <a:solidFill>
              <a:schemeClr val="accent1"/>
            </a:solidFill>
          </a:ln>
          <a:effectLst>
            <a:outerShdw blurRad="101600" dist="25400" dir="5400000" algn="bl" rotWithShape="0">
              <a:srgbClr val="7A74A8">
                <a:alpha val="18000"/>
              </a:srgbClr>
            </a:outerShdw>
          </a:effectLst>
        </p:spPr>
        <p:txBody>
          <a:bodyPr/>
          <a:lstStyle/>
          <a:p>
            <a:endParaRPr lang="en-US"/>
          </a:p>
        </p:txBody>
      </p:sp>
      <p:sp>
        <p:nvSpPr>
          <p:cNvPr id="102" name="text"/>
          <p:cNvSpPr txBox="1"/>
          <p:nvPr/>
        </p:nvSpPr>
        <p:spPr>
          <a:xfrm>
            <a:off x="548640" y="1143000"/>
            <a:ext cx="1874520" cy="502920"/>
          </a:xfrm>
          <a:prstGeom prst="rect">
            <a:avLst/>
          </a:prstGeom>
          <a:noFill/>
        </p:spPr>
        <p:txBody>
          <a:bodyPr wrap="square" lIns="0" tIns="0" rIns="0" bIns="0" rtlCol="0" anchor="ctr"/>
          <a:lstStyle/>
          <a:p>
            <a:pPr marL="0" indent="0" algn="ctr">
              <a:buNone/>
            </a:pPr>
            <a:r>
              <a:rPr lang="en-US" sz="3000" b="1" dirty="0">
                <a:solidFill>
                  <a:schemeClr val="tx2"/>
                </a:solidFill>
              </a:rPr>
              <a:t>11</a:t>
            </a:r>
          </a:p>
        </p:txBody>
      </p:sp>
      <p:sp>
        <p:nvSpPr>
          <p:cNvPr id="103" name="text"/>
          <p:cNvSpPr txBox="1"/>
          <p:nvPr/>
        </p:nvSpPr>
        <p:spPr>
          <a:xfrm>
            <a:off x="548640" y="1645920"/>
            <a:ext cx="1874520" cy="274320"/>
          </a:xfrm>
          <a:prstGeom prst="rect">
            <a:avLst/>
          </a:prstGeom>
          <a:noFill/>
        </p:spPr>
        <p:txBody>
          <a:bodyPr wrap="square" lIns="0" tIns="0" rIns="0" bIns="0" rtlCol="0" anchor="ctr"/>
          <a:lstStyle/>
          <a:p>
            <a:pPr marL="0" indent="0" algn="ctr">
              <a:buNone/>
            </a:pPr>
            <a:r>
              <a:rPr lang="en-US" sz="1200" b="0" dirty="0">
                <a:solidFill>
                  <a:schemeClr val="tx1"/>
                </a:solidFill>
              </a:rPr>
              <a:t>dashboard pages</a:t>
            </a:r>
          </a:p>
        </p:txBody>
      </p:sp>
      <p:sp>
        <p:nvSpPr>
          <p:cNvPr id="104" name="metric"/>
          <p:cNvSpPr/>
          <p:nvPr/>
        </p:nvSpPr>
        <p:spPr>
          <a:xfrm>
            <a:off x="2606040" y="1097280"/>
            <a:ext cx="1874520" cy="868680"/>
          </a:xfrm>
          <a:prstGeom prst="roundRect">
            <a:avLst>
              <a:gd name="adj" fmla="val 10000"/>
            </a:avLst>
          </a:prstGeom>
          <a:solidFill>
            <a:schemeClr val="accent2"/>
          </a:solidFill>
          <a:ln w="9525">
            <a:solidFill>
              <a:schemeClr val="accent2"/>
            </a:solidFill>
          </a:ln>
          <a:effectLst>
            <a:outerShdw blurRad="101600" dist="25400" dir="5400000" algn="bl" rotWithShape="0">
              <a:srgbClr val="7A74A8">
                <a:alpha val="18000"/>
              </a:srgbClr>
            </a:outerShdw>
          </a:effectLst>
        </p:spPr>
        <p:txBody>
          <a:bodyPr/>
          <a:lstStyle/>
          <a:p>
            <a:endParaRPr lang="en-US"/>
          </a:p>
        </p:txBody>
      </p:sp>
      <p:sp>
        <p:nvSpPr>
          <p:cNvPr id="105" name="text"/>
          <p:cNvSpPr txBox="1"/>
          <p:nvPr/>
        </p:nvSpPr>
        <p:spPr>
          <a:xfrm>
            <a:off x="2606040" y="1143000"/>
            <a:ext cx="1874520" cy="502920"/>
          </a:xfrm>
          <a:prstGeom prst="rect">
            <a:avLst/>
          </a:prstGeom>
          <a:noFill/>
        </p:spPr>
        <p:txBody>
          <a:bodyPr wrap="square" lIns="0" tIns="0" rIns="0" bIns="0" rtlCol="0" anchor="ctr"/>
          <a:lstStyle/>
          <a:p>
            <a:pPr marL="0" indent="0" algn="ctr">
              <a:buNone/>
            </a:pPr>
            <a:r>
              <a:rPr lang="en-US" sz="3000" b="1" dirty="0">
                <a:solidFill>
                  <a:schemeClr val="tx2"/>
                </a:solidFill>
              </a:rPr>
              <a:t>5</a:t>
            </a:r>
          </a:p>
        </p:txBody>
      </p:sp>
      <p:sp>
        <p:nvSpPr>
          <p:cNvPr id="106" name="text"/>
          <p:cNvSpPr txBox="1"/>
          <p:nvPr/>
        </p:nvSpPr>
        <p:spPr>
          <a:xfrm>
            <a:off x="2606040" y="1645920"/>
            <a:ext cx="1874520" cy="274320"/>
          </a:xfrm>
          <a:prstGeom prst="rect">
            <a:avLst/>
          </a:prstGeom>
          <a:noFill/>
        </p:spPr>
        <p:txBody>
          <a:bodyPr wrap="square" lIns="0" tIns="0" rIns="0" bIns="0" rtlCol="0" anchor="ctr"/>
          <a:lstStyle/>
          <a:p>
            <a:pPr marL="0" indent="0" algn="ctr">
              <a:buNone/>
            </a:pPr>
            <a:r>
              <a:rPr lang="en-US" sz="1200" b="0" dirty="0">
                <a:solidFill>
                  <a:schemeClr val="tx1"/>
                </a:solidFill>
              </a:rPr>
              <a:t>demo scenarios</a:t>
            </a:r>
          </a:p>
        </p:txBody>
      </p:sp>
      <p:sp>
        <p:nvSpPr>
          <p:cNvPr id="107" name="metric"/>
          <p:cNvSpPr/>
          <p:nvPr/>
        </p:nvSpPr>
        <p:spPr>
          <a:xfrm>
            <a:off x="4663440" y="1097280"/>
            <a:ext cx="1874520" cy="868680"/>
          </a:xfrm>
          <a:prstGeom prst="roundRect">
            <a:avLst>
              <a:gd name="adj" fmla="val 10000"/>
            </a:avLst>
          </a:prstGeom>
          <a:solidFill>
            <a:schemeClr val="accent3"/>
          </a:solidFill>
          <a:ln w="9525">
            <a:solidFill>
              <a:schemeClr val="accent3"/>
            </a:solidFill>
          </a:ln>
          <a:effectLst>
            <a:outerShdw blurRad="101600" dist="25400" dir="5400000" algn="bl" rotWithShape="0">
              <a:srgbClr val="7A74A8">
                <a:alpha val="18000"/>
              </a:srgbClr>
            </a:outerShdw>
          </a:effectLst>
        </p:spPr>
        <p:txBody>
          <a:bodyPr/>
          <a:lstStyle/>
          <a:p>
            <a:endParaRPr lang="en-US"/>
          </a:p>
        </p:txBody>
      </p:sp>
      <p:sp>
        <p:nvSpPr>
          <p:cNvPr id="108" name="text"/>
          <p:cNvSpPr txBox="1"/>
          <p:nvPr/>
        </p:nvSpPr>
        <p:spPr>
          <a:xfrm>
            <a:off x="4663440" y="1143000"/>
            <a:ext cx="1874520" cy="502920"/>
          </a:xfrm>
          <a:prstGeom prst="rect">
            <a:avLst/>
          </a:prstGeom>
          <a:noFill/>
        </p:spPr>
        <p:txBody>
          <a:bodyPr wrap="square" lIns="0" tIns="0" rIns="0" bIns="0" rtlCol="0" anchor="ctr"/>
          <a:lstStyle/>
          <a:p>
            <a:pPr marL="0" indent="0" algn="ctr">
              <a:buNone/>
            </a:pPr>
            <a:r>
              <a:rPr lang="en-US" sz="3000" b="1" dirty="0">
                <a:solidFill>
                  <a:schemeClr val="tx2"/>
                </a:solidFill>
              </a:rPr>
              <a:t>9</a:t>
            </a:r>
          </a:p>
        </p:txBody>
      </p:sp>
      <p:sp>
        <p:nvSpPr>
          <p:cNvPr id="109" name="text"/>
          <p:cNvSpPr txBox="1"/>
          <p:nvPr/>
        </p:nvSpPr>
        <p:spPr>
          <a:xfrm>
            <a:off x="4663440" y="1645920"/>
            <a:ext cx="1874520" cy="274320"/>
          </a:xfrm>
          <a:prstGeom prst="rect">
            <a:avLst/>
          </a:prstGeom>
          <a:noFill/>
        </p:spPr>
        <p:txBody>
          <a:bodyPr wrap="square" lIns="0" tIns="0" rIns="0" bIns="0" rtlCol="0" anchor="ctr"/>
          <a:lstStyle/>
          <a:p>
            <a:pPr marL="0" indent="0" algn="ctr">
              <a:buNone/>
            </a:pPr>
            <a:r>
              <a:rPr lang="en-US" sz="1200" b="0" dirty="0">
                <a:solidFill>
                  <a:schemeClr val="tx1"/>
                </a:solidFill>
              </a:rPr>
              <a:t>C programs</a:t>
            </a:r>
          </a:p>
        </p:txBody>
      </p:sp>
      <p:sp>
        <p:nvSpPr>
          <p:cNvPr id="110" name="metric"/>
          <p:cNvSpPr/>
          <p:nvPr/>
        </p:nvSpPr>
        <p:spPr>
          <a:xfrm>
            <a:off x="6720840" y="1097280"/>
            <a:ext cx="1874520" cy="868680"/>
          </a:xfrm>
          <a:prstGeom prst="roundRect">
            <a:avLst>
              <a:gd name="adj" fmla="val 10000"/>
            </a:avLst>
          </a:prstGeom>
          <a:solidFill>
            <a:schemeClr val="accent4"/>
          </a:solidFill>
          <a:ln w="9525">
            <a:solidFill>
              <a:schemeClr val="accent4"/>
            </a:solidFill>
          </a:ln>
          <a:effectLst>
            <a:outerShdw blurRad="101600" dist="25400" dir="5400000" algn="bl" rotWithShape="0">
              <a:srgbClr val="7A74A8">
                <a:alpha val="18000"/>
              </a:srgbClr>
            </a:outerShdw>
          </a:effectLst>
        </p:spPr>
        <p:txBody>
          <a:bodyPr/>
          <a:lstStyle/>
          <a:p>
            <a:endParaRPr lang="en-US"/>
          </a:p>
        </p:txBody>
      </p:sp>
      <p:sp>
        <p:nvSpPr>
          <p:cNvPr id="111" name="text"/>
          <p:cNvSpPr txBox="1"/>
          <p:nvPr/>
        </p:nvSpPr>
        <p:spPr>
          <a:xfrm>
            <a:off x="6720840" y="1143000"/>
            <a:ext cx="1874520" cy="502920"/>
          </a:xfrm>
          <a:prstGeom prst="rect">
            <a:avLst/>
          </a:prstGeom>
          <a:noFill/>
        </p:spPr>
        <p:txBody>
          <a:bodyPr wrap="square" lIns="0" tIns="0" rIns="0" bIns="0" rtlCol="0" anchor="ctr"/>
          <a:lstStyle/>
          <a:p>
            <a:pPr marL="0" indent="0" algn="ctr">
              <a:buNone/>
            </a:pPr>
            <a:r>
              <a:rPr lang="en-US" sz="3000" b="1" dirty="0">
                <a:solidFill>
                  <a:schemeClr val="tx2"/>
                </a:solidFill>
              </a:rPr>
              <a:t>23 / 23</a:t>
            </a:r>
          </a:p>
        </p:txBody>
      </p:sp>
      <p:sp>
        <p:nvSpPr>
          <p:cNvPr id="112" name="text"/>
          <p:cNvSpPr txBox="1"/>
          <p:nvPr/>
        </p:nvSpPr>
        <p:spPr>
          <a:xfrm>
            <a:off x="6720840" y="1645920"/>
            <a:ext cx="1874520" cy="274320"/>
          </a:xfrm>
          <a:prstGeom prst="rect">
            <a:avLst/>
          </a:prstGeom>
          <a:noFill/>
        </p:spPr>
        <p:txBody>
          <a:bodyPr wrap="square" lIns="0" tIns="0" rIns="0" bIns="0" rtlCol="0" anchor="ctr"/>
          <a:lstStyle/>
          <a:p>
            <a:pPr marL="0" indent="0" algn="ctr">
              <a:buNone/>
            </a:pPr>
            <a:r>
              <a:rPr lang="en-US" sz="1200" b="0" dirty="0">
                <a:solidFill>
                  <a:schemeClr val="tx1"/>
                </a:solidFill>
              </a:rPr>
              <a:t>tests pass</a:t>
            </a:r>
          </a:p>
        </p:txBody>
      </p:sp>
      <p:sp>
        <p:nvSpPr>
          <p:cNvPr id="113" name="text"/>
          <p:cNvSpPr txBox="1"/>
          <p:nvPr/>
        </p:nvSpPr>
        <p:spPr>
          <a:xfrm>
            <a:off x="548640" y="2148840"/>
            <a:ext cx="1554480" cy="256032"/>
          </a:xfrm>
          <a:prstGeom prst="rect">
            <a:avLst/>
          </a:prstGeom>
          <a:noFill/>
        </p:spPr>
        <p:txBody>
          <a:bodyPr wrap="square" lIns="0" tIns="0" rIns="0" bIns="0" rtlCol="0" anchor="ctr"/>
          <a:lstStyle/>
          <a:p>
            <a:pPr marL="0" indent="0" algn="l">
              <a:buNone/>
            </a:pPr>
            <a:r>
              <a:rPr lang="en-US" sz="1100" b="1" dirty="0">
                <a:solidFill>
                  <a:schemeClr val="tx2"/>
                </a:solidFill>
              </a:rPr>
              <a:t>Metric</a:t>
            </a:r>
          </a:p>
        </p:txBody>
      </p:sp>
      <p:sp>
        <p:nvSpPr>
          <p:cNvPr id="114" name="text"/>
          <p:cNvSpPr txBox="1"/>
          <p:nvPr/>
        </p:nvSpPr>
        <p:spPr>
          <a:xfrm>
            <a:off x="2240280" y="2148840"/>
            <a:ext cx="3931920" cy="256032"/>
          </a:xfrm>
          <a:prstGeom prst="rect">
            <a:avLst/>
          </a:prstGeom>
          <a:noFill/>
        </p:spPr>
        <p:txBody>
          <a:bodyPr wrap="square" lIns="0" tIns="0" rIns="0" bIns="0" rtlCol="0" anchor="ctr"/>
          <a:lstStyle/>
          <a:p>
            <a:pPr marL="0" indent="0" algn="l">
              <a:buNone/>
            </a:pPr>
            <a:r>
              <a:rPr lang="en-US" sz="1100" b="1" dirty="0">
                <a:solidFill>
                  <a:schemeClr val="tx2"/>
                </a:solidFill>
              </a:rPr>
              <a:t>How it is measured</a:t>
            </a:r>
          </a:p>
        </p:txBody>
      </p:sp>
      <p:sp>
        <p:nvSpPr>
          <p:cNvPr id="115" name="text"/>
          <p:cNvSpPr txBox="1"/>
          <p:nvPr/>
        </p:nvSpPr>
        <p:spPr>
          <a:xfrm>
            <a:off x="6309360" y="2148840"/>
            <a:ext cx="2286000" cy="256032"/>
          </a:xfrm>
          <a:prstGeom prst="rect">
            <a:avLst/>
          </a:prstGeom>
          <a:noFill/>
        </p:spPr>
        <p:txBody>
          <a:bodyPr wrap="square" lIns="0" tIns="0" rIns="0" bIns="0" rtlCol="0" anchor="ctr"/>
          <a:lstStyle/>
          <a:p>
            <a:pPr marL="0" indent="0" algn="ctr">
              <a:buNone/>
            </a:pPr>
            <a:r>
              <a:rPr lang="en-US" sz="1100" b="1" dirty="0">
                <a:solidFill>
                  <a:schemeClr val="tx2"/>
                </a:solidFill>
              </a:rPr>
              <a:t>Result</a:t>
            </a:r>
          </a:p>
        </p:txBody>
      </p:sp>
      <p:sp>
        <p:nvSpPr>
          <p:cNvPr id="116" name="row"/>
          <p:cNvSpPr/>
          <p:nvPr/>
        </p:nvSpPr>
        <p:spPr>
          <a:xfrm>
            <a:off x="548640" y="2450592"/>
            <a:ext cx="8046720" cy="438912"/>
          </a:xfrm>
          <a:prstGeom prst="roundRect">
            <a:avLst>
              <a:gd name="adj" fmla="val 20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17" name="metric-name"/>
          <p:cNvSpPr/>
          <p:nvPr/>
        </p:nvSpPr>
        <p:spPr>
          <a:xfrm>
            <a:off x="621792" y="2505456"/>
            <a:ext cx="1508760" cy="329184"/>
          </a:xfrm>
          <a:prstGeom prst="roundRect">
            <a:avLst>
              <a:gd name="adj" fmla="val 30000"/>
            </a:avLst>
          </a:prstGeom>
          <a:solidFill>
            <a:schemeClr val="accent3"/>
          </a:solidFill>
          <a:ln>
            <a:noFill/>
          </a:ln>
        </p:spPr>
        <p:txBody>
          <a:bodyPr wrap="square" lIns="36576" tIns="18288" rIns="36576" bIns="18288" rtlCol="0" anchor="ctr"/>
          <a:lstStyle/>
          <a:p>
            <a:pPr marL="0" indent="0" algn="ctr">
              <a:buNone/>
            </a:pPr>
            <a:r>
              <a:rPr lang="en-US" sz="1100" b="1" dirty="0">
                <a:solidFill>
                  <a:schemeClr val="tx2"/>
                </a:solidFill>
              </a:rPr>
              <a:t>Packet loss</a:t>
            </a:r>
          </a:p>
        </p:txBody>
      </p:sp>
      <p:sp>
        <p:nvSpPr>
          <p:cNvPr id="118" name="text"/>
          <p:cNvSpPr txBox="1"/>
          <p:nvPr/>
        </p:nvSpPr>
        <p:spPr>
          <a:xfrm>
            <a:off x="2240280" y="2450592"/>
            <a:ext cx="3931920" cy="438912"/>
          </a:xfrm>
          <a:prstGeom prst="rect">
            <a:avLst/>
          </a:prstGeom>
          <a:noFill/>
        </p:spPr>
        <p:txBody>
          <a:bodyPr wrap="square" lIns="0" tIns="0" rIns="0" bIns="0" rtlCol="0" anchor="ctr"/>
          <a:lstStyle/>
          <a:p>
            <a:pPr marL="0" indent="0" algn="l">
              <a:buNone/>
            </a:pPr>
            <a:r>
              <a:rPr lang="en-US" sz="1100" b="0" dirty="0">
                <a:solidFill>
                  <a:schemeClr val="tx1"/>
                </a:solidFill>
              </a:rPr>
              <a:t>VoIP under congestion, with the priority queue on</a:t>
            </a:r>
          </a:p>
        </p:txBody>
      </p:sp>
      <p:sp>
        <p:nvSpPr>
          <p:cNvPr id="119" name="result"/>
          <p:cNvSpPr/>
          <p:nvPr/>
        </p:nvSpPr>
        <p:spPr>
          <a:xfrm>
            <a:off x="6355080" y="2505456"/>
            <a:ext cx="2194560" cy="329184"/>
          </a:xfrm>
          <a:prstGeom prst="roundRect">
            <a:avLst>
              <a:gd name="adj" fmla="val 30000"/>
            </a:avLst>
          </a:prstGeom>
          <a:solidFill>
            <a:schemeClr val="accent2"/>
          </a:solidFill>
          <a:ln>
            <a:noFill/>
          </a:ln>
        </p:spPr>
        <p:txBody>
          <a:bodyPr wrap="square" lIns="36576" tIns="18288" rIns="36576" bIns="18288" rtlCol="0" anchor="ctr"/>
          <a:lstStyle/>
          <a:p>
            <a:pPr marL="0" indent="0" algn="ctr">
              <a:buNone/>
            </a:pPr>
            <a:r>
              <a:rPr lang="en-US" sz="1100" b="1" dirty="0">
                <a:solidFill>
                  <a:schemeClr val="tx2"/>
                </a:solidFill>
              </a:rPr>
              <a:t>0% loss</a:t>
            </a:r>
          </a:p>
        </p:txBody>
      </p:sp>
      <p:sp>
        <p:nvSpPr>
          <p:cNvPr id="120" name="row"/>
          <p:cNvSpPr/>
          <p:nvPr/>
        </p:nvSpPr>
        <p:spPr>
          <a:xfrm>
            <a:off x="548640" y="2962656"/>
            <a:ext cx="8046720" cy="438912"/>
          </a:xfrm>
          <a:prstGeom prst="roundRect">
            <a:avLst>
              <a:gd name="adj" fmla="val 20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1" name="metric-name"/>
          <p:cNvSpPr/>
          <p:nvPr/>
        </p:nvSpPr>
        <p:spPr>
          <a:xfrm>
            <a:off x="621792" y="3017520"/>
            <a:ext cx="1508760" cy="329184"/>
          </a:xfrm>
          <a:prstGeom prst="roundRect">
            <a:avLst>
              <a:gd name="adj" fmla="val 30000"/>
            </a:avLst>
          </a:prstGeom>
          <a:solidFill>
            <a:schemeClr val="accent1"/>
          </a:solidFill>
          <a:ln>
            <a:noFill/>
          </a:ln>
        </p:spPr>
        <p:txBody>
          <a:bodyPr wrap="square" lIns="36576" tIns="18288" rIns="36576" bIns="18288" rtlCol="0" anchor="ctr"/>
          <a:lstStyle/>
          <a:p>
            <a:pPr marL="0" indent="0" algn="ctr">
              <a:buNone/>
            </a:pPr>
            <a:r>
              <a:rPr lang="en-US" sz="1100" b="1" dirty="0">
                <a:solidFill>
                  <a:schemeClr val="tx2"/>
                </a:solidFill>
              </a:rPr>
              <a:t>Best path</a:t>
            </a:r>
          </a:p>
        </p:txBody>
      </p:sp>
      <p:sp>
        <p:nvSpPr>
          <p:cNvPr id="122" name="text"/>
          <p:cNvSpPr txBox="1"/>
          <p:nvPr/>
        </p:nvSpPr>
        <p:spPr>
          <a:xfrm>
            <a:off x="2240280" y="2962656"/>
            <a:ext cx="3931920" cy="438912"/>
          </a:xfrm>
          <a:prstGeom prst="rect">
            <a:avLst/>
          </a:prstGeom>
          <a:noFill/>
        </p:spPr>
        <p:txBody>
          <a:bodyPr wrap="square" lIns="0" tIns="0" rIns="0" bIns="0" rtlCol="0" anchor="ctr"/>
          <a:lstStyle/>
          <a:p>
            <a:pPr marL="0" indent="0" algn="l">
              <a:buNone/>
            </a:pPr>
            <a:r>
              <a:rPr lang="en-US" sz="1100" b="0" dirty="0">
                <a:solidFill>
                  <a:schemeClr val="tx1"/>
                </a:solidFill>
              </a:rPr>
              <a:t>OSPF link cost vs RIP hop count on the same network</a:t>
            </a:r>
          </a:p>
        </p:txBody>
      </p:sp>
      <p:sp>
        <p:nvSpPr>
          <p:cNvPr id="123" name="result"/>
          <p:cNvSpPr/>
          <p:nvPr/>
        </p:nvSpPr>
        <p:spPr>
          <a:xfrm>
            <a:off x="6355080" y="3017520"/>
            <a:ext cx="2194560" cy="329184"/>
          </a:xfrm>
          <a:prstGeom prst="roundRect">
            <a:avLst>
              <a:gd name="adj" fmla="val 30000"/>
            </a:avLst>
          </a:prstGeom>
          <a:solidFill>
            <a:schemeClr val="accent2"/>
          </a:solidFill>
          <a:ln>
            <a:noFill/>
          </a:ln>
        </p:spPr>
        <p:txBody>
          <a:bodyPr wrap="square" lIns="36576" tIns="18288" rIns="36576" bIns="18288" rtlCol="0" anchor="ctr"/>
          <a:lstStyle/>
          <a:p>
            <a:pPr marL="0" indent="0" algn="ctr">
              <a:buNone/>
            </a:pPr>
            <a:r>
              <a:rPr lang="en-US" sz="1100" b="1" dirty="0">
                <a:solidFill>
                  <a:schemeClr val="tx2"/>
                </a:solidFill>
              </a:rPr>
              <a:t>OSPF lowest-cost path</a:t>
            </a:r>
          </a:p>
        </p:txBody>
      </p:sp>
      <p:sp>
        <p:nvSpPr>
          <p:cNvPr id="124" name="row"/>
          <p:cNvSpPr/>
          <p:nvPr/>
        </p:nvSpPr>
        <p:spPr>
          <a:xfrm>
            <a:off x="548640" y="3474720"/>
            <a:ext cx="8046720" cy="438912"/>
          </a:xfrm>
          <a:prstGeom prst="roundRect">
            <a:avLst>
              <a:gd name="adj" fmla="val 20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5" name="metric-name"/>
          <p:cNvSpPr/>
          <p:nvPr/>
        </p:nvSpPr>
        <p:spPr>
          <a:xfrm>
            <a:off x="621792" y="3529584"/>
            <a:ext cx="1508760" cy="329184"/>
          </a:xfrm>
          <a:prstGeom prst="roundRect">
            <a:avLst>
              <a:gd name="adj" fmla="val 30000"/>
            </a:avLst>
          </a:prstGeom>
          <a:solidFill>
            <a:schemeClr val="accent4"/>
          </a:solidFill>
          <a:ln>
            <a:noFill/>
          </a:ln>
        </p:spPr>
        <p:txBody>
          <a:bodyPr wrap="square" lIns="36576" tIns="18288" rIns="36576" bIns="18288" rtlCol="0" anchor="ctr"/>
          <a:lstStyle/>
          <a:p>
            <a:pPr marL="0" indent="0" algn="ctr">
              <a:buNone/>
            </a:pPr>
            <a:r>
              <a:rPr lang="en-US" sz="1100" b="1" dirty="0">
                <a:solidFill>
                  <a:schemeClr val="tx2"/>
                </a:solidFill>
              </a:rPr>
              <a:t>Failover</a:t>
            </a:r>
          </a:p>
        </p:txBody>
      </p:sp>
      <p:sp>
        <p:nvSpPr>
          <p:cNvPr id="126" name="text"/>
          <p:cNvSpPr txBox="1"/>
          <p:nvPr/>
        </p:nvSpPr>
        <p:spPr>
          <a:xfrm>
            <a:off x="2240280" y="3474720"/>
            <a:ext cx="3931920" cy="438912"/>
          </a:xfrm>
          <a:prstGeom prst="rect">
            <a:avLst/>
          </a:prstGeom>
          <a:noFill/>
        </p:spPr>
        <p:txBody>
          <a:bodyPr wrap="square" lIns="0" tIns="0" rIns="0" bIns="0" rtlCol="0" anchor="ctr"/>
          <a:lstStyle/>
          <a:p>
            <a:pPr marL="0" indent="0" algn="l">
              <a:buNone/>
            </a:pPr>
            <a:r>
              <a:rPr lang="en-US" sz="1100" b="0" dirty="0">
                <a:solidFill>
                  <a:schemeClr val="tx1"/>
                </a:solidFill>
              </a:rPr>
              <a:t>R1 to R2 link is cut and the route is computed again</a:t>
            </a:r>
          </a:p>
        </p:txBody>
      </p:sp>
      <p:sp>
        <p:nvSpPr>
          <p:cNvPr id="127" name="result"/>
          <p:cNvSpPr/>
          <p:nvPr/>
        </p:nvSpPr>
        <p:spPr>
          <a:xfrm>
            <a:off x="6355080" y="3529584"/>
            <a:ext cx="2194560" cy="329184"/>
          </a:xfrm>
          <a:prstGeom prst="roundRect">
            <a:avLst>
              <a:gd name="adj" fmla="val 30000"/>
            </a:avLst>
          </a:prstGeom>
          <a:solidFill>
            <a:schemeClr val="accent2"/>
          </a:solidFill>
          <a:ln>
            <a:noFill/>
          </a:ln>
        </p:spPr>
        <p:txBody>
          <a:bodyPr wrap="square" lIns="36576" tIns="18288" rIns="36576" bIns="18288" rtlCol="0" anchor="ctr"/>
          <a:lstStyle/>
          <a:p>
            <a:pPr marL="0" indent="0" algn="ctr">
              <a:buNone/>
            </a:pPr>
            <a:r>
              <a:rPr lang="en-US" sz="1100" b="1" dirty="0">
                <a:solidFill>
                  <a:schemeClr val="tx2"/>
                </a:solidFill>
              </a:rPr>
              <a:t>Rerouted via R3</a:t>
            </a:r>
          </a:p>
        </p:txBody>
      </p:sp>
      <p:sp>
        <p:nvSpPr>
          <p:cNvPr id="128" name="row"/>
          <p:cNvSpPr/>
          <p:nvPr/>
        </p:nvSpPr>
        <p:spPr>
          <a:xfrm>
            <a:off x="548640" y="3986784"/>
            <a:ext cx="8046720" cy="438912"/>
          </a:xfrm>
          <a:prstGeom prst="roundRect">
            <a:avLst>
              <a:gd name="adj" fmla="val 20000"/>
            </a:avLst>
          </a:prstGeom>
          <a:solidFill>
            <a:srgbClr val="FFFFFF"/>
          </a:solidFill>
          <a:ln w="9525">
            <a:solidFill>
              <a:srgbClr val="FFFFFF"/>
            </a:solidFill>
          </a:ln>
          <a:effectLst>
            <a:outerShdw blurRad="101600" dist="25400" dir="5400000" algn="bl" rotWithShape="0">
              <a:srgbClr val="7A74A8">
                <a:alpha val="18000"/>
              </a:srgbClr>
            </a:outerShdw>
          </a:effectLst>
        </p:spPr>
        <p:txBody>
          <a:bodyPr/>
          <a:lstStyle/>
          <a:p>
            <a:endParaRPr lang="en-US"/>
          </a:p>
        </p:txBody>
      </p:sp>
      <p:sp>
        <p:nvSpPr>
          <p:cNvPr id="129" name="metric-name"/>
          <p:cNvSpPr/>
          <p:nvPr/>
        </p:nvSpPr>
        <p:spPr>
          <a:xfrm>
            <a:off x="621792" y="4041648"/>
            <a:ext cx="1508760" cy="329184"/>
          </a:xfrm>
          <a:prstGeom prst="roundRect">
            <a:avLst>
              <a:gd name="adj" fmla="val 30000"/>
            </a:avLst>
          </a:prstGeom>
          <a:solidFill>
            <a:schemeClr val="accent5"/>
          </a:solidFill>
          <a:ln>
            <a:noFill/>
          </a:ln>
        </p:spPr>
        <p:txBody>
          <a:bodyPr wrap="square" lIns="36576" tIns="18288" rIns="36576" bIns="18288" rtlCol="0" anchor="ctr"/>
          <a:lstStyle/>
          <a:p>
            <a:pPr marL="0" indent="0" algn="ctr">
              <a:buNone/>
            </a:pPr>
            <a:r>
              <a:rPr lang="en-US" sz="1100" b="1" dirty="0">
                <a:solidFill>
                  <a:schemeClr val="tx2"/>
                </a:solidFill>
              </a:rPr>
              <a:t>Access control</a:t>
            </a:r>
          </a:p>
        </p:txBody>
      </p:sp>
      <p:sp>
        <p:nvSpPr>
          <p:cNvPr id="130" name="text"/>
          <p:cNvSpPr txBox="1"/>
          <p:nvPr/>
        </p:nvSpPr>
        <p:spPr>
          <a:xfrm>
            <a:off x="2240280" y="3986784"/>
            <a:ext cx="3931920" cy="438912"/>
          </a:xfrm>
          <a:prstGeom prst="rect">
            <a:avLst/>
          </a:prstGeom>
          <a:noFill/>
        </p:spPr>
        <p:txBody>
          <a:bodyPr wrap="square" lIns="0" tIns="0" rIns="0" bIns="0" rtlCol="0" anchor="ctr"/>
          <a:lstStyle/>
          <a:p>
            <a:pPr marL="0" indent="0" algn="l">
              <a:buNone/>
            </a:pPr>
            <a:r>
              <a:rPr lang="en-US" sz="1100" b="0" dirty="0">
                <a:solidFill>
                  <a:schemeClr val="tx1"/>
                </a:solidFill>
              </a:rPr>
              <a:t>ACL checked at every hop: pass or blocked</a:t>
            </a:r>
          </a:p>
        </p:txBody>
      </p:sp>
      <p:sp>
        <p:nvSpPr>
          <p:cNvPr id="131" name="result"/>
          <p:cNvSpPr/>
          <p:nvPr/>
        </p:nvSpPr>
        <p:spPr>
          <a:xfrm>
            <a:off x="6355080" y="4041648"/>
            <a:ext cx="2194560" cy="329184"/>
          </a:xfrm>
          <a:prstGeom prst="roundRect">
            <a:avLst>
              <a:gd name="adj" fmla="val 30000"/>
            </a:avLst>
          </a:prstGeom>
          <a:solidFill>
            <a:schemeClr val="accent2"/>
          </a:solidFill>
          <a:ln>
            <a:noFill/>
          </a:ln>
        </p:spPr>
        <p:txBody>
          <a:bodyPr wrap="square" lIns="36576" tIns="18288" rIns="36576" bIns="18288" rtlCol="0" anchor="ctr"/>
          <a:lstStyle/>
          <a:p>
            <a:pPr marL="0" indent="0" algn="ctr">
              <a:buNone/>
            </a:pPr>
            <a:r>
              <a:rPr lang="en-US" sz="1100" b="1" dirty="0">
                <a:solidFill>
                  <a:schemeClr val="tx2"/>
                </a:solidFill>
              </a:rPr>
              <a:t>Student to Admin PC blocked</a:t>
            </a:r>
          </a:p>
        </p:txBody>
      </p:sp>
      <p:sp>
        <p:nvSpPr>
          <p:cNvPr id="132" name="text"/>
          <p:cNvSpPr txBox="1"/>
          <p:nvPr/>
        </p:nvSpPr>
        <p:spPr>
          <a:xfrm>
            <a:off x="548640" y="4526280"/>
            <a:ext cx="7315200" cy="228600"/>
          </a:xfrm>
          <a:prstGeom prst="rect">
            <a:avLst/>
          </a:prstGeom>
          <a:noFill/>
        </p:spPr>
        <p:txBody>
          <a:bodyPr wrap="square" lIns="0" tIns="0" rIns="0" bIns="0" rtlCol="0" anchor="ctr"/>
          <a:lstStyle/>
          <a:p>
            <a:pPr marL="0" indent="0" algn="l">
              <a:buNone/>
            </a:pPr>
            <a:r>
              <a:rPr lang="en-US" sz="900" b="0" dirty="0">
                <a:solidFill>
                  <a:srgbClr val="8A86A8"/>
                </a:solidFill>
              </a:rPr>
              <a:t>Results are collected on the Experiment Reports page</a:t>
            </a:r>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Results: baseline vs proposed</a:t>
            </a:r>
            <a:endParaRPr lang="en-US" sz="3200" dirty="0"/>
          </a:p>
        </p:txBody>
      </p:sp>
      <p:sp>
        <p:nvSpPr>
          <p:cNvPr id="4" name="Text 1"/>
          <p:cNvSpPr txBox="1"/>
          <p:nvPr/>
        </p:nvSpPr>
        <p:spPr>
          <a:xfrm>
            <a:off x="2788920" y="1005840"/>
            <a:ext cx="2560320" cy="274320"/>
          </a:xfrm>
          <a:prstGeom prst="rect">
            <a:avLst/>
          </a:prstGeom>
          <a:noFill/>
          <a:ln/>
        </p:spPr>
        <p:txBody>
          <a:bodyPr wrap="square" lIns="0" tIns="0" rIns="0" bIns="0" rtlCol="0" anchor="ctr"/>
          <a:lstStyle/>
          <a:p>
            <a:pPr marL="0" indent="0" algn="ctr">
              <a:buNone/>
            </a:pPr>
            <a:r>
              <a:rPr lang="en-US" sz="1300" b="1" dirty="0">
                <a:solidFill>
                  <a:srgbClr val="B5547A"/>
                </a:solidFill>
              </a:rPr>
              <a:t>Baseline</a:t>
            </a:r>
            <a:endParaRPr lang="en-US" sz="1300" dirty="0"/>
          </a:p>
        </p:txBody>
      </p:sp>
      <p:sp>
        <p:nvSpPr>
          <p:cNvPr id="5" name="Text 2"/>
          <p:cNvSpPr txBox="1"/>
          <p:nvPr/>
        </p:nvSpPr>
        <p:spPr>
          <a:xfrm>
            <a:off x="5806440" y="1005840"/>
            <a:ext cx="2788920" cy="274320"/>
          </a:xfrm>
          <a:prstGeom prst="rect">
            <a:avLst/>
          </a:prstGeom>
          <a:noFill/>
          <a:ln/>
        </p:spPr>
        <p:txBody>
          <a:bodyPr wrap="square" lIns="0" tIns="0" rIns="0" bIns="0" rtlCol="0" anchor="ctr"/>
          <a:lstStyle/>
          <a:p>
            <a:pPr marL="0" indent="0" algn="ctr">
              <a:buNone/>
            </a:pPr>
            <a:r>
              <a:rPr lang="en-US" sz="1300" b="1" dirty="0">
                <a:solidFill>
                  <a:srgbClr val="2F8F68"/>
                </a:solidFill>
              </a:rPr>
              <a:t>Proposed</a:t>
            </a:r>
            <a:endParaRPr lang="en-US" sz="1300" dirty="0"/>
          </a:p>
        </p:txBody>
      </p:sp>
      <p:sp>
        <p:nvSpPr>
          <p:cNvPr id="6" name="res-label"/>
          <p:cNvSpPr/>
          <p:nvPr/>
        </p:nvSpPr>
        <p:spPr>
          <a:xfrm>
            <a:off x="548640" y="1371600"/>
            <a:ext cx="2103120" cy="603504"/>
          </a:xfrm>
          <a:prstGeom prst="roundRect">
            <a:avLst>
              <a:gd name="adj" fmla="val 21212"/>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7" name="icon-circle"/>
          <p:cNvSpPr/>
          <p:nvPr/>
        </p:nvSpPr>
        <p:spPr>
          <a:xfrm>
            <a:off x="640080" y="1463040"/>
            <a:ext cx="420624" cy="420624"/>
          </a:xfrm>
          <a:prstGeom prst="ellipse">
            <a:avLst/>
          </a:prstGeom>
          <a:solidFill>
            <a:srgbClr val="FFFFFF"/>
          </a:solidFill>
          <a:ln w="6350">
            <a:solidFill>
              <a:srgbClr val="FFFFFF"/>
            </a:solidFill>
            <a:prstDash val="solid"/>
          </a:ln>
        </p:spPr>
      </p:sp>
      <p:pic>
        <p:nvPicPr>
          <p:cNvPr id="8" name="icon" descr="preencoded.png"/>
          <p:cNvPicPr>
            <a:picLocks noChangeAspect="1"/>
          </p:cNvPicPr>
          <p:nvPr/>
        </p:nvPicPr>
        <p:blipFill>
          <a:blip r:embed="rId3"/>
          <a:stretch>
            <a:fillRect/>
          </a:stretch>
        </p:blipFill>
        <p:spPr>
          <a:xfrm>
            <a:off x="732617" y="1555577"/>
            <a:ext cx="235549" cy="235549"/>
          </a:xfrm>
          <a:prstGeom prst="rect">
            <a:avLst/>
          </a:prstGeom>
        </p:spPr>
      </p:pic>
      <p:sp>
        <p:nvSpPr>
          <p:cNvPr id="9" name="Text 5"/>
          <p:cNvSpPr txBox="1"/>
          <p:nvPr/>
        </p:nvSpPr>
        <p:spPr>
          <a:xfrm>
            <a:off x="1143000" y="1371600"/>
            <a:ext cx="1463040" cy="603504"/>
          </a:xfrm>
          <a:prstGeom prst="rect">
            <a:avLst/>
          </a:prstGeom>
          <a:noFill/>
          <a:ln/>
        </p:spPr>
        <p:txBody>
          <a:bodyPr wrap="square" lIns="0" tIns="0" rIns="0" bIns="0" rtlCol="0" anchor="ctr"/>
          <a:lstStyle/>
          <a:p>
            <a:pPr marL="0" indent="0">
              <a:buNone/>
            </a:pPr>
            <a:r>
              <a:rPr lang="en-US" sz="1200" b="1" dirty="0">
                <a:solidFill>
                  <a:schemeClr val="tx2"/>
                </a:solidFill>
              </a:rPr>
              <a:t>Routing path</a:t>
            </a:r>
            <a:endParaRPr lang="en-US" sz="1200" dirty="0"/>
          </a:p>
        </p:txBody>
      </p:sp>
      <p:sp>
        <p:nvSpPr>
          <p:cNvPr id="10" name="res-bad"/>
          <p:cNvSpPr/>
          <p:nvPr/>
        </p:nvSpPr>
        <p:spPr>
          <a:xfrm>
            <a:off x="2788920" y="1371600"/>
            <a:ext cx="2560320" cy="603504"/>
          </a:xfrm>
          <a:prstGeom prst="roundRect">
            <a:avLst>
              <a:gd name="adj" fmla="val 21212"/>
            </a:avLst>
          </a:prstGeom>
          <a:solidFill>
            <a:srgbClr val="FBE3EA"/>
          </a:solidFill>
          <a:ln w="6350">
            <a:solidFill>
              <a:srgbClr val="FBE3EA"/>
            </a:solidFill>
            <a:prstDash val="solid"/>
          </a:ln>
          <a:effectLst>
            <a:outerShdw blurRad="101600" dist="25400" dir="5400000" algn="bl" rotWithShape="0">
              <a:srgbClr val="7A74A8">
                <a:alpha val="18000"/>
              </a:srgbClr>
            </a:outerShdw>
          </a:effectLst>
        </p:spPr>
      </p:sp>
      <p:sp>
        <p:nvSpPr>
          <p:cNvPr id="11" name="icon-circle"/>
          <p:cNvSpPr/>
          <p:nvPr/>
        </p:nvSpPr>
        <p:spPr>
          <a:xfrm>
            <a:off x="2880360" y="1481328"/>
            <a:ext cx="384048" cy="384048"/>
          </a:xfrm>
          <a:prstGeom prst="ellipse">
            <a:avLst/>
          </a:prstGeom>
          <a:solidFill>
            <a:srgbClr val="F4B5C8"/>
          </a:solidFill>
          <a:ln w="6350">
            <a:solidFill>
              <a:srgbClr val="F4B5C8"/>
            </a:solidFill>
            <a:prstDash val="solid"/>
          </a:ln>
        </p:spPr>
      </p:sp>
      <p:pic>
        <p:nvPicPr>
          <p:cNvPr id="12" name="icon" descr="preencoded.png"/>
          <p:cNvPicPr>
            <a:picLocks noChangeAspect="1"/>
          </p:cNvPicPr>
          <p:nvPr/>
        </p:nvPicPr>
        <p:blipFill>
          <a:blip r:embed="rId4"/>
          <a:stretch>
            <a:fillRect/>
          </a:stretch>
        </p:blipFill>
        <p:spPr>
          <a:xfrm>
            <a:off x="2964851" y="1565819"/>
            <a:ext cx="215067" cy="215067"/>
          </a:xfrm>
          <a:prstGeom prst="rect">
            <a:avLst/>
          </a:prstGeom>
        </p:spPr>
      </p:pic>
      <p:sp>
        <p:nvSpPr>
          <p:cNvPr id="13" name="Text 8"/>
          <p:cNvSpPr txBox="1"/>
          <p:nvPr/>
        </p:nvSpPr>
        <p:spPr>
          <a:xfrm>
            <a:off x="3383280" y="1371600"/>
            <a:ext cx="1920240" cy="603504"/>
          </a:xfrm>
          <a:prstGeom prst="rect">
            <a:avLst/>
          </a:prstGeom>
          <a:noFill/>
          <a:ln/>
        </p:spPr>
        <p:txBody>
          <a:bodyPr wrap="square" lIns="0" tIns="0" rIns="0" bIns="0" rtlCol="0" anchor="ctr"/>
          <a:lstStyle/>
          <a:p>
            <a:pPr marL="0" indent="0">
              <a:buNone/>
            </a:pPr>
            <a:r>
              <a:rPr lang="en-US" sz="1300" dirty="0">
                <a:solidFill>
                  <a:schemeClr val="tx1"/>
                </a:solidFill>
              </a:rPr>
              <a:t>RIP: fewest hops</a:t>
            </a:r>
            <a:endParaRPr lang="en-US" sz="1300" dirty="0"/>
          </a:p>
        </p:txBody>
      </p:sp>
      <p:sp>
        <p:nvSpPr>
          <p:cNvPr id="14" name="arrow"/>
          <p:cNvSpPr/>
          <p:nvPr/>
        </p:nvSpPr>
        <p:spPr>
          <a:xfrm>
            <a:off x="5440680" y="1554480"/>
            <a:ext cx="274320" cy="237744"/>
          </a:xfrm>
          <a:prstGeom prst="rightArrow">
            <a:avLst/>
          </a:prstGeom>
          <a:solidFill>
            <a:srgbClr val="A9A4C9"/>
          </a:solidFill>
          <a:ln w="6350">
            <a:solidFill>
              <a:srgbClr val="A9A4C9"/>
            </a:solidFill>
            <a:prstDash val="solid"/>
          </a:ln>
        </p:spPr>
      </p:sp>
      <p:sp>
        <p:nvSpPr>
          <p:cNvPr id="15" name="res-good"/>
          <p:cNvSpPr/>
          <p:nvPr/>
        </p:nvSpPr>
        <p:spPr>
          <a:xfrm>
            <a:off x="5806440" y="1371600"/>
            <a:ext cx="2788920" cy="603504"/>
          </a:xfrm>
          <a:prstGeom prst="roundRect">
            <a:avLst>
              <a:gd name="adj" fmla="val 21212"/>
            </a:avLst>
          </a:prstGeom>
          <a:solidFill>
            <a:srgbClr val="D7F2E5"/>
          </a:solidFill>
          <a:ln w="6350">
            <a:solidFill>
              <a:srgbClr val="D7F2E5"/>
            </a:solidFill>
            <a:prstDash val="solid"/>
          </a:ln>
          <a:effectLst>
            <a:outerShdw blurRad="101600" dist="25400" dir="5400000" algn="bl" rotWithShape="0">
              <a:srgbClr val="7A74A8">
                <a:alpha val="18000"/>
              </a:srgbClr>
            </a:outerShdw>
          </a:effectLst>
        </p:spPr>
      </p:sp>
      <p:sp>
        <p:nvSpPr>
          <p:cNvPr id="16" name="icon-circle"/>
          <p:cNvSpPr/>
          <p:nvPr/>
        </p:nvSpPr>
        <p:spPr>
          <a:xfrm>
            <a:off x="5897880" y="1481328"/>
            <a:ext cx="384048" cy="384048"/>
          </a:xfrm>
          <a:prstGeom prst="ellipse">
            <a:avLst/>
          </a:prstGeom>
          <a:solidFill>
            <a:srgbClr val="9ADDBF"/>
          </a:solidFill>
          <a:ln w="6350">
            <a:solidFill>
              <a:srgbClr val="9ADDBF"/>
            </a:solidFill>
            <a:prstDash val="solid"/>
          </a:ln>
        </p:spPr>
      </p:sp>
      <p:pic>
        <p:nvPicPr>
          <p:cNvPr id="17" name="icon" descr="preencoded.png"/>
          <p:cNvPicPr>
            <a:picLocks noChangeAspect="1"/>
          </p:cNvPicPr>
          <p:nvPr/>
        </p:nvPicPr>
        <p:blipFill>
          <a:blip r:embed="rId5"/>
          <a:stretch>
            <a:fillRect/>
          </a:stretch>
        </p:blipFill>
        <p:spPr>
          <a:xfrm>
            <a:off x="5982371" y="1565819"/>
            <a:ext cx="215067" cy="215067"/>
          </a:xfrm>
          <a:prstGeom prst="rect">
            <a:avLst/>
          </a:prstGeom>
        </p:spPr>
      </p:pic>
      <p:sp>
        <p:nvSpPr>
          <p:cNvPr id="18" name="Text 12"/>
          <p:cNvSpPr txBox="1"/>
          <p:nvPr/>
        </p:nvSpPr>
        <p:spPr>
          <a:xfrm>
            <a:off x="6400800" y="1371600"/>
            <a:ext cx="2148840" cy="603504"/>
          </a:xfrm>
          <a:prstGeom prst="rect">
            <a:avLst/>
          </a:prstGeom>
          <a:noFill/>
          <a:ln/>
        </p:spPr>
        <p:txBody>
          <a:bodyPr wrap="square" lIns="0" tIns="0" rIns="0" bIns="0" rtlCol="0" anchor="ctr"/>
          <a:lstStyle/>
          <a:p>
            <a:pPr marL="0" indent="0">
              <a:buNone/>
            </a:pPr>
            <a:r>
              <a:rPr lang="en-US" sz="1400" b="1" dirty="0">
                <a:solidFill>
                  <a:schemeClr val="tx1"/>
                </a:solidFill>
              </a:rPr>
              <a:t>OSPF: lowest-cost path</a:t>
            </a:r>
            <a:endParaRPr lang="en-US" sz="1400" dirty="0"/>
          </a:p>
        </p:txBody>
      </p:sp>
      <p:sp>
        <p:nvSpPr>
          <p:cNvPr id="19" name="res-label"/>
          <p:cNvSpPr/>
          <p:nvPr/>
        </p:nvSpPr>
        <p:spPr>
          <a:xfrm>
            <a:off x="548640" y="2066544"/>
            <a:ext cx="2103120" cy="603504"/>
          </a:xfrm>
          <a:prstGeom prst="roundRect">
            <a:avLst>
              <a:gd name="adj" fmla="val 21212"/>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20" name="icon-circle"/>
          <p:cNvSpPr/>
          <p:nvPr/>
        </p:nvSpPr>
        <p:spPr>
          <a:xfrm>
            <a:off x="640080" y="2157984"/>
            <a:ext cx="420624" cy="420624"/>
          </a:xfrm>
          <a:prstGeom prst="ellipse">
            <a:avLst/>
          </a:prstGeom>
          <a:solidFill>
            <a:srgbClr val="FFFFFF"/>
          </a:solidFill>
          <a:ln w="6350">
            <a:solidFill>
              <a:srgbClr val="FFFFFF"/>
            </a:solidFill>
            <a:prstDash val="solid"/>
          </a:ln>
        </p:spPr>
      </p:sp>
      <p:pic>
        <p:nvPicPr>
          <p:cNvPr id="21" name="icon" descr="preencoded.png"/>
          <p:cNvPicPr>
            <a:picLocks noChangeAspect="1"/>
          </p:cNvPicPr>
          <p:nvPr/>
        </p:nvPicPr>
        <p:blipFill>
          <a:blip r:embed="rId6"/>
          <a:stretch>
            <a:fillRect/>
          </a:stretch>
        </p:blipFill>
        <p:spPr>
          <a:xfrm>
            <a:off x="732617" y="2250521"/>
            <a:ext cx="235549" cy="235549"/>
          </a:xfrm>
          <a:prstGeom prst="rect">
            <a:avLst/>
          </a:prstGeom>
        </p:spPr>
      </p:pic>
      <p:sp>
        <p:nvSpPr>
          <p:cNvPr id="22" name="Text 15"/>
          <p:cNvSpPr txBox="1"/>
          <p:nvPr/>
        </p:nvSpPr>
        <p:spPr>
          <a:xfrm>
            <a:off x="1143000" y="2066544"/>
            <a:ext cx="1463040" cy="603504"/>
          </a:xfrm>
          <a:prstGeom prst="rect">
            <a:avLst/>
          </a:prstGeom>
          <a:noFill/>
          <a:ln/>
        </p:spPr>
        <p:txBody>
          <a:bodyPr wrap="square" lIns="0" tIns="0" rIns="0" bIns="0" rtlCol="0" anchor="ctr"/>
          <a:lstStyle/>
          <a:p>
            <a:pPr marL="0" indent="0">
              <a:buNone/>
            </a:pPr>
            <a:r>
              <a:rPr lang="en-US" sz="1200" b="1" dirty="0">
                <a:solidFill>
                  <a:schemeClr val="tx2"/>
                </a:solidFill>
              </a:rPr>
              <a:t>Link failure</a:t>
            </a:r>
            <a:endParaRPr lang="en-US" sz="1200" dirty="0"/>
          </a:p>
        </p:txBody>
      </p:sp>
      <p:sp>
        <p:nvSpPr>
          <p:cNvPr id="23" name="res-bad"/>
          <p:cNvSpPr/>
          <p:nvPr/>
        </p:nvSpPr>
        <p:spPr>
          <a:xfrm>
            <a:off x="2788920" y="2066544"/>
            <a:ext cx="2560320" cy="603504"/>
          </a:xfrm>
          <a:prstGeom prst="roundRect">
            <a:avLst>
              <a:gd name="adj" fmla="val 21212"/>
            </a:avLst>
          </a:prstGeom>
          <a:solidFill>
            <a:srgbClr val="FBE3EA"/>
          </a:solidFill>
          <a:ln w="6350">
            <a:solidFill>
              <a:srgbClr val="FBE3EA"/>
            </a:solidFill>
            <a:prstDash val="solid"/>
          </a:ln>
          <a:effectLst>
            <a:outerShdw blurRad="101600" dist="25400" dir="5400000" algn="bl" rotWithShape="0">
              <a:srgbClr val="7A74A8">
                <a:alpha val="18000"/>
              </a:srgbClr>
            </a:outerShdw>
          </a:effectLst>
        </p:spPr>
      </p:sp>
      <p:sp>
        <p:nvSpPr>
          <p:cNvPr id="24" name="icon-circle"/>
          <p:cNvSpPr/>
          <p:nvPr/>
        </p:nvSpPr>
        <p:spPr>
          <a:xfrm>
            <a:off x="2880360" y="2176272"/>
            <a:ext cx="384048" cy="384048"/>
          </a:xfrm>
          <a:prstGeom prst="ellipse">
            <a:avLst/>
          </a:prstGeom>
          <a:solidFill>
            <a:srgbClr val="F4B5C8"/>
          </a:solidFill>
          <a:ln w="6350">
            <a:solidFill>
              <a:srgbClr val="F4B5C8"/>
            </a:solidFill>
            <a:prstDash val="solid"/>
          </a:ln>
        </p:spPr>
      </p:sp>
      <p:pic>
        <p:nvPicPr>
          <p:cNvPr id="25" name="icon" descr="preencoded.png"/>
          <p:cNvPicPr>
            <a:picLocks noChangeAspect="1"/>
          </p:cNvPicPr>
          <p:nvPr/>
        </p:nvPicPr>
        <p:blipFill>
          <a:blip r:embed="rId4"/>
          <a:stretch>
            <a:fillRect/>
          </a:stretch>
        </p:blipFill>
        <p:spPr>
          <a:xfrm>
            <a:off x="2964851" y="2260763"/>
            <a:ext cx="215067" cy="215067"/>
          </a:xfrm>
          <a:prstGeom prst="rect">
            <a:avLst/>
          </a:prstGeom>
        </p:spPr>
      </p:pic>
      <p:sp>
        <p:nvSpPr>
          <p:cNvPr id="26" name="Text 18"/>
          <p:cNvSpPr txBox="1"/>
          <p:nvPr/>
        </p:nvSpPr>
        <p:spPr>
          <a:xfrm>
            <a:off x="3383280" y="2066544"/>
            <a:ext cx="1920240" cy="603504"/>
          </a:xfrm>
          <a:prstGeom prst="rect">
            <a:avLst/>
          </a:prstGeom>
          <a:noFill/>
          <a:ln/>
        </p:spPr>
        <p:txBody>
          <a:bodyPr wrap="square" lIns="0" tIns="0" rIns="0" bIns="0" rtlCol="0" anchor="ctr"/>
          <a:lstStyle/>
          <a:p>
            <a:pPr marL="0" indent="0">
              <a:buNone/>
            </a:pPr>
            <a:r>
              <a:rPr lang="en-US" sz="1300" dirty="0">
                <a:solidFill>
                  <a:schemeClr val="tx1"/>
                </a:solidFill>
              </a:rPr>
              <a:t>Traffic lost, outage</a:t>
            </a:r>
            <a:endParaRPr lang="en-US" sz="1300" dirty="0"/>
          </a:p>
        </p:txBody>
      </p:sp>
      <p:sp>
        <p:nvSpPr>
          <p:cNvPr id="27" name="arrow"/>
          <p:cNvSpPr/>
          <p:nvPr/>
        </p:nvSpPr>
        <p:spPr>
          <a:xfrm>
            <a:off x="5440680" y="2249424"/>
            <a:ext cx="274320" cy="237744"/>
          </a:xfrm>
          <a:prstGeom prst="rightArrow">
            <a:avLst/>
          </a:prstGeom>
          <a:solidFill>
            <a:srgbClr val="A9A4C9"/>
          </a:solidFill>
          <a:ln w="6350">
            <a:solidFill>
              <a:srgbClr val="A9A4C9"/>
            </a:solidFill>
            <a:prstDash val="solid"/>
          </a:ln>
        </p:spPr>
      </p:sp>
      <p:sp>
        <p:nvSpPr>
          <p:cNvPr id="28" name="res-good"/>
          <p:cNvSpPr/>
          <p:nvPr/>
        </p:nvSpPr>
        <p:spPr>
          <a:xfrm>
            <a:off x="5806440" y="2066544"/>
            <a:ext cx="2788920" cy="603504"/>
          </a:xfrm>
          <a:prstGeom prst="roundRect">
            <a:avLst>
              <a:gd name="adj" fmla="val 21212"/>
            </a:avLst>
          </a:prstGeom>
          <a:solidFill>
            <a:srgbClr val="D7F2E5"/>
          </a:solidFill>
          <a:ln w="6350">
            <a:solidFill>
              <a:srgbClr val="D7F2E5"/>
            </a:solidFill>
            <a:prstDash val="solid"/>
          </a:ln>
          <a:effectLst>
            <a:outerShdw blurRad="101600" dist="25400" dir="5400000" algn="bl" rotWithShape="0">
              <a:srgbClr val="7A74A8">
                <a:alpha val="18000"/>
              </a:srgbClr>
            </a:outerShdw>
          </a:effectLst>
        </p:spPr>
      </p:sp>
      <p:sp>
        <p:nvSpPr>
          <p:cNvPr id="29" name="icon-circle"/>
          <p:cNvSpPr/>
          <p:nvPr/>
        </p:nvSpPr>
        <p:spPr>
          <a:xfrm>
            <a:off x="5897880" y="2176272"/>
            <a:ext cx="384048" cy="384048"/>
          </a:xfrm>
          <a:prstGeom prst="ellipse">
            <a:avLst/>
          </a:prstGeom>
          <a:solidFill>
            <a:srgbClr val="9ADDBF"/>
          </a:solidFill>
          <a:ln w="6350">
            <a:solidFill>
              <a:srgbClr val="9ADDBF"/>
            </a:solidFill>
            <a:prstDash val="solid"/>
          </a:ln>
        </p:spPr>
      </p:sp>
      <p:pic>
        <p:nvPicPr>
          <p:cNvPr id="30" name="icon" descr="preencoded.png"/>
          <p:cNvPicPr>
            <a:picLocks noChangeAspect="1"/>
          </p:cNvPicPr>
          <p:nvPr/>
        </p:nvPicPr>
        <p:blipFill>
          <a:blip r:embed="rId5"/>
          <a:stretch>
            <a:fillRect/>
          </a:stretch>
        </p:blipFill>
        <p:spPr>
          <a:xfrm>
            <a:off x="5982371" y="2260763"/>
            <a:ext cx="215067" cy="215067"/>
          </a:xfrm>
          <a:prstGeom prst="rect">
            <a:avLst/>
          </a:prstGeom>
        </p:spPr>
      </p:pic>
      <p:sp>
        <p:nvSpPr>
          <p:cNvPr id="31" name="Text 22"/>
          <p:cNvSpPr txBox="1"/>
          <p:nvPr/>
        </p:nvSpPr>
        <p:spPr>
          <a:xfrm>
            <a:off x="6400800" y="2066544"/>
            <a:ext cx="2148840" cy="603504"/>
          </a:xfrm>
          <a:prstGeom prst="rect">
            <a:avLst/>
          </a:prstGeom>
          <a:noFill/>
          <a:ln/>
        </p:spPr>
        <p:txBody>
          <a:bodyPr wrap="square" lIns="0" tIns="0" rIns="0" bIns="0" rtlCol="0" anchor="ctr"/>
          <a:lstStyle/>
          <a:p>
            <a:pPr marL="0" indent="0">
              <a:buNone/>
            </a:pPr>
            <a:r>
              <a:rPr lang="en-US" sz="1400" b="1" dirty="0">
                <a:solidFill>
                  <a:schemeClr val="tx1"/>
                </a:solidFill>
              </a:rPr>
              <a:t>Reroutes via R3</a:t>
            </a:r>
            <a:endParaRPr lang="en-US" sz="1400" dirty="0"/>
          </a:p>
        </p:txBody>
      </p:sp>
      <p:sp>
        <p:nvSpPr>
          <p:cNvPr id="32" name="res-label"/>
          <p:cNvSpPr/>
          <p:nvPr/>
        </p:nvSpPr>
        <p:spPr>
          <a:xfrm>
            <a:off x="548640" y="2761488"/>
            <a:ext cx="2103120" cy="603504"/>
          </a:xfrm>
          <a:prstGeom prst="roundRect">
            <a:avLst>
              <a:gd name="adj" fmla="val 21212"/>
            </a:avLst>
          </a:prstGeom>
          <a:solidFill>
            <a:schemeClr val="accent5"/>
          </a:solidFill>
          <a:ln w="6350">
            <a:solidFill>
              <a:schemeClr val="accent5"/>
            </a:solidFill>
            <a:prstDash val="solid"/>
          </a:ln>
          <a:effectLst>
            <a:outerShdw blurRad="101600" dist="25400" dir="5400000" algn="bl" rotWithShape="0">
              <a:srgbClr val="7A74A8">
                <a:alpha val="18000"/>
              </a:srgbClr>
            </a:outerShdw>
          </a:effectLst>
        </p:spPr>
      </p:sp>
      <p:sp>
        <p:nvSpPr>
          <p:cNvPr id="33" name="icon-circle"/>
          <p:cNvSpPr/>
          <p:nvPr/>
        </p:nvSpPr>
        <p:spPr>
          <a:xfrm>
            <a:off x="640080" y="2852928"/>
            <a:ext cx="420624" cy="420624"/>
          </a:xfrm>
          <a:prstGeom prst="ellipse">
            <a:avLst/>
          </a:prstGeom>
          <a:solidFill>
            <a:srgbClr val="FFFFFF"/>
          </a:solidFill>
          <a:ln w="6350">
            <a:solidFill>
              <a:srgbClr val="FFFFFF"/>
            </a:solidFill>
            <a:prstDash val="solid"/>
          </a:ln>
        </p:spPr>
      </p:sp>
      <p:pic>
        <p:nvPicPr>
          <p:cNvPr id="34" name="icon" descr="preencoded.png"/>
          <p:cNvPicPr>
            <a:picLocks noChangeAspect="1"/>
          </p:cNvPicPr>
          <p:nvPr/>
        </p:nvPicPr>
        <p:blipFill>
          <a:blip r:embed="rId7"/>
          <a:stretch>
            <a:fillRect/>
          </a:stretch>
        </p:blipFill>
        <p:spPr>
          <a:xfrm>
            <a:off x="732617" y="2945465"/>
            <a:ext cx="235549" cy="235549"/>
          </a:xfrm>
          <a:prstGeom prst="rect">
            <a:avLst/>
          </a:prstGeom>
        </p:spPr>
      </p:pic>
      <p:sp>
        <p:nvSpPr>
          <p:cNvPr id="35" name="Text 25"/>
          <p:cNvSpPr txBox="1"/>
          <p:nvPr/>
        </p:nvSpPr>
        <p:spPr>
          <a:xfrm>
            <a:off x="1143000" y="2761488"/>
            <a:ext cx="1463040" cy="603504"/>
          </a:xfrm>
          <a:prstGeom prst="rect">
            <a:avLst/>
          </a:prstGeom>
          <a:noFill/>
          <a:ln/>
        </p:spPr>
        <p:txBody>
          <a:bodyPr wrap="square" lIns="0" tIns="0" rIns="0" bIns="0" rtlCol="0" anchor="ctr"/>
          <a:lstStyle/>
          <a:p>
            <a:pPr marL="0" indent="0">
              <a:buNone/>
            </a:pPr>
            <a:r>
              <a:rPr lang="en-US" sz="1200" b="1" dirty="0">
                <a:solidFill>
                  <a:schemeClr val="tx2"/>
                </a:solidFill>
              </a:rPr>
              <a:t>Student → Admin PC</a:t>
            </a:r>
            <a:endParaRPr lang="en-US" sz="1200" dirty="0"/>
          </a:p>
        </p:txBody>
      </p:sp>
      <p:sp>
        <p:nvSpPr>
          <p:cNvPr id="36" name="res-bad"/>
          <p:cNvSpPr/>
          <p:nvPr/>
        </p:nvSpPr>
        <p:spPr>
          <a:xfrm>
            <a:off x="2788920" y="2761488"/>
            <a:ext cx="2560320" cy="603504"/>
          </a:xfrm>
          <a:prstGeom prst="roundRect">
            <a:avLst>
              <a:gd name="adj" fmla="val 21212"/>
            </a:avLst>
          </a:prstGeom>
          <a:solidFill>
            <a:srgbClr val="FBE3EA"/>
          </a:solidFill>
          <a:ln w="6350">
            <a:solidFill>
              <a:srgbClr val="FBE3EA"/>
            </a:solidFill>
            <a:prstDash val="solid"/>
          </a:ln>
          <a:effectLst>
            <a:outerShdw blurRad="101600" dist="25400" dir="5400000" algn="bl" rotWithShape="0">
              <a:srgbClr val="7A74A8">
                <a:alpha val="18000"/>
              </a:srgbClr>
            </a:outerShdw>
          </a:effectLst>
        </p:spPr>
      </p:sp>
      <p:sp>
        <p:nvSpPr>
          <p:cNvPr id="37" name="icon-circle"/>
          <p:cNvSpPr/>
          <p:nvPr/>
        </p:nvSpPr>
        <p:spPr>
          <a:xfrm>
            <a:off x="2880360" y="2871216"/>
            <a:ext cx="384048" cy="384048"/>
          </a:xfrm>
          <a:prstGeom prst="ellipse">
            <a:avLst/>
          </a:prstGeom>
          <a:solidFill>
            <a:srgbClr val="F4B5C8"/>
          </a:solidFill>
          <a:ln w="6350">
            <a:solidFill>
              <a:srgbClr val="F4B5C8"/>
            </a:solidFill>
            <a:prstDash val="solid"/>
          </a:ln>
        </p:spPr>
      </p:sp>
      <p:pic>
        <p:nvPicPr>
          <p:cNvPr id="38" name="icon" descr="preencoded.png"/>
          <p:cNvPicPr>
            <a:picLocks noChangeAspect="1"/>
          </p:cNvPicPr>
          <p:nvPr/>
        </p:nvPicPr>
        <p:blipFill>
          <a:blip r:embed="rId4"/>
          <a:stretch>
            <a:fillRect/>
          </a:stretch>
        </p:blipFill>
        <p:spPr>
          <a:xfrm>
            <a:off x="2964851" y="2955707"/>
            <a:ext cx="215067" cy="215067"/>
          </a:xfrm>
          <a:prstGeom prst="rect">
            <a:avLst/>
          </a:prstGeom>
        </p:spPr>
      </p:pic>
      <p:sp>
        <p:nvSpPr>
          <p:cNvPr id="39" name="Text 28"/>
          <p:cNvSpPr txBox="1"/>
          <p:nvPr/>
        </p:nvSpPr>
        <p:spPr>
          <a:xfrm>
            <a:off x="3383280" y="2761488"/>
            <a:ext cx="1920240" cy="603504"/>
          </a:xfrm>
          <a:prstGeom prst="rect">
            <a:avLst/>
          </a:prstGeom>
          <a:noFill/>
          <a:ln/>
        </p:spPr>
        <p:txBody>
          <a:bodyPr wrap="square" lIns="0" tIns="0" rIns="0" bIns="0" rtlCol="0" anchor="ctr"/>
          <a:lstStyle/>
          <a:p>
            <a:pPr marL="0" indent="0">
              <a:buNone/>
            </a:pPr>
            <a:r>
              <a:rPr lang="en-US" sz="1300" dirty="0">
                <a:solidFill>
                  <a:schemeClr val="tx1"/>
                </a:solidFill>
              </a:rPr>
              <a:t>Access allowed</a:t>
            </a:r>
            <a:endParaRPr lang="en-US" sz="1300" dirty="0"/>
          </a:p>
        </p:txBody>
      </p:sp>
      <p:sp>
        <p:nvSpPr>
          <p:cNvPr id="40" name="arrow"/>
          <p:cNvSpPr/>
          <p:nvPr/>
        </p:nvSpPr>
        <p:spPr>
          <a:xfrm>
            <a:off x="5440680" y="2944368"/>
            <a:ext cx="274320" cy="237744"/>
          </a:xfrm>
          <a:prstGeom prst="rightArrow">
            <a:avLst/>
          </a:prstGeom>
          <a:solidFill>
            <a:srgbClr val="A9A4C9"/>
          </a:solidFill>
          <a:ln w="6350">
            <a:solidFill>
              <a:srgbClr val="A9A4C9"/>
            </a:solidFill>
            <a:prstDash val="solid"/>
          </a:ln>
        </p:spPr>
      </p:sp>
      <p:sp>
        <p:nvSpPr>
          <p:cNvPr id="41" name="res-good"/>
          <p:cNvSpPr/>
          <p:nvPr/>
        </p:nvSpPr>
        <p:spPr>
          <a:xfrm>
            <a:off x="5806440" y="2761488"/>
            <a:ext cx="2788920" cy="603504"/>
          </a:xfrm>
          <a:prstGeom prst="roundRect">
            <a:avLst>
              <a:gd name="adj" fmla="val 21212"/>
            </a:avLst>
          </a:prstGeom>
          <a:solidFill>
            <a:srgbClr val="D7F2E5"/>
          </a:solidFill>
          <a:ln w="6350">
            <a:solidFill>
              <a:srgbClr val="D7F2E5"/>
            </a:solidFill>
            <a:prstDash val="solid"/>
          </a:ln>
          <a:effectLst>
            <a:outerShdw blurRad="101600" dist="25400" dir="5400000" algn="bl" rotWithShape="0">
              <a:srgbClr val="7A74A8">
                <a:alpha val="18000"/>
              </a:srgbClr>
            </a:outerShdw>
          </a:effectLst>
        </p:spPr>
      </p:sp>
      <p:sp>
        <p:nvSpPr>
          <p:cNvPr id="42" name="icon-circle"/>
          <p:cNvSpPr/>
          <p:nvPr/>
        </p:nvSpPr>
        <p:spPr>
          <a:xfrm>
            <a:off x="5897880" y="2871216"/>
            <a:ext cx="384048" cy="384048"/>
          </a:xfrm>
          <a:prstGeom prst="ellipse">
            <a:avLst/>
          </a:prstGeom>
          <a:solidFill>
            <a:srgbClr val="9ADDBF"/>
          </a:solidFill>
          <a:ln w="6350">
            <a:solidFill>
              <a:srgbClr val="9ADDBF"/>
            </a:solidFill>
            <a:prstDash val="solid"/>
          </a:ln>
        </p:spPr>
      </p:sp>
      <p:pic>
        <p:nvPicPr>
          <p:cNvPr id="43" name="icon" descr="preencoded.png"/>
          <p:cNvPicPr>
            <a:picLocks noChangeAspect="1"/>
          </p:cNvPicPr>
          <p:nvPr/>
        </p:nvPicPr>
        <p:blipFill>
          <a:blip r:embed="rId5"/>
          <a:stretch>
            <a:fillRect/>
          </a:stretch>
        </p:blipFill>
        <p:spPr>
          <a:xfrm>
            <a:off x="5982371" y="2955707"/>
            <a:ext cx="215067" cy="215067"/>
          </a:xfrm>
          <a:prstGeom prst="rect">
            <a:avLst/>
          </a:prstGeom>
        </p:spPr>
      </p:pic>
      <p:sp>
        <p:nvSpPr>
          <p:cNvPr id="44" name="Text 32"/>
          <p:cNvSpPr txBox="1"/>
          <p:nvPr/>
        </p:nvSpPr>
        <p:spPr>
          <a:xfrm>
            <a:off x="6400800" y="2761488"/>
            <a:ext cx="2148840" cy="603504"/>
          </a:xfrm>
          <a:prstGeom prst="rect">
            <a:avLst/>
          </a:prstGeom>
          <a:noFill/>
          <a:ln/>
        </p:spPr>
        <p:txBody>
          <a:bodyPr wrap="square" lIns="0" tIns="0" rIns="0" bIns="0" rtlCol="0" anchor="ctr"/>
          <a:lstStyle/>
          <a:p>
            <a:pPr marL="0" indent="0">
              <a:buNone/>
            </a:pPr>
            <a:r>
              <a:rPr lang="en-US" sz="1400" b="1" dirty="0">
                <a:solidFill>
                  <a:schemeClr val="tx1"/>
                </a:solidFill>
              </a:rPr>
              <a:t>Blocked by ACL</a:t>
            </a:r>
            <a:endParaRPr lang="en-US" sz="1400" dirty="0"/>
          </a:p>
        </p:txBody>
      </p:sp>
      <p:sp>
        <p:nvSpPr>
          <p:cNvPr id="45" name="res-label"/>
          <p:cNvSpPr/>
          <p:nvPr/>
        </p:nvSpPr>
        <p:spPr>
          <a:xfrm>
            <a:off x="548640" y="3456432"/>
            <a:ext cx="2103120" cy="603504"/>
          </a:xfrm>
          <a:prstGeom prst="roundRect">
            <a:avLst>
              <a:gd name="adj" fmla="val 21212"/>
            </a:avLst>
          </a:prstGeom>
          <a:solidFill>
            <a:schemeClr val="accent6"/>
          </a:solidFill>
          <a:ln w="6350">
            <a:solidFill>
              <a:schemeClr val="accent6"/>
            </a:solidFill>
            <a:prstDash val="solid"/>
          </a:ln>
          <a:effectLst>
            <a:outerShdw blurRad="101600" dist="25400" dir="5400000" algn="bl" rotWithShape="0">
              <a:srgbClr val="7A74A8">
                <a:alpha val="18000"/>
              </a:srgbClr>
            </a:outerShdw>
          </a:effectLst>
        </p:spPr>
      </p:sp>
      <p:sp>
        <p:nvSpPr>
          <p:cNvPr id="46" name="icon-circle"/>
          <p:cNvSpPr/>
          <p:nvPr/>
        </p:nvSpPr>
        <p:spPr>
          <a:xfrm>
            <a:off x="640080" y="3547872"/>
            <a:ext cx="420624" cy="420624"/>
          </a:xfrm>
          <a:prstGeom prst="ellipse">
            <a:avLst/>
          </a:prstGeom>
          <a:solidFill>
            <a:srgbClr val="FFFFFF"/>
          </a:solidFill>
          <a:ln w="6350">
            <a:solidFill>
              <a:srgbClr val="FFFFFF"/>
            </a:solidFill>
            <a:prstDash val="solid"/>
          </a:ln>
        </p:spPr>
      </p:sp>
      <p:pic>
        <p:nvPicPr>
          <p:cNvPr id="47" name="icon" descr="preencoded.png"/>
          <p:cNvPicPr>
            <a:picLocks noChangeAspect="1"/>
          </p:cNvPicPr>
          <p:nvPr/>
        </p:nvPicPr>
        <p:blipFill>
          <a:blip r:embed="rId8"/>
          <a:stretch>
            <a:fillRect/>
          </a:stretch>
        </p:blipFill>
        <p:spPr>
          <a:xfrm>
            <a:off x="732617" y="3640409"/>
            <a:ext cx="235549" cy="235549"/>
          </a:xfrm>
          <a:prstGeom prst="rect">
            <a:avLst/>
          </a:prstGeom>
        </p:spPr>
      </p:pic>
      <p:sp>
        <p:nvSpPr>
          <p:cNvPr id="48" name="Text 35"/>
          <p:cNvSpPr txBox="1"/>
          <p:nvPr/>
        </p:nvSpPr>
        <p:spPr>
          <a:xfrm>
            <a:off x="1143000" y="3456432"/>
            <a:ext cx="1463040" cy="603504"/>
          </a:xfrm>
          <a:prstGeom prst="rect">
            <a:avLst/>
          </a:prstGeom>
          <a:noFill/>
          <a:ln/>
        </p:spPr>
        <p:txBody>
          <a:bodyPr wrap="square" lIns="0" tIns="0" rIns="0" bIns="0" rtlCol="0" anchor="ctr"/>
          <a:lstStyle/>
          <a:p>
            <a:pPr marL="0" indent="0">
              <a:buNone/>
            </a:pPr>
            <a:r>
              <a:rPr lang="en-US" sz="1200" b="1" dirty="0">
                <a:solidFill>
                  <a:schemeClr val="tx2"/>
                </a:solidFill>
              </a:rPr>
              <a:t>VoIP in congestion</a:t>
            </a:r>
            <a:endParaRPr lang="en-US" sz="1200" dirty="0"/>
          </a:p>
        </p:txBody>
      </p:sp>
      <p:sp>
        <p:nvSpPr>
          <p:cNvPr id="49" name="res-bad"/>
          <p:cNvSpPr/>
          <p:nvPr/>
        </p:nvSpPr>
        <p:spPr>
          <a:xfrm>
            <a:off x="2788920" y="3456432"/>
            <a:ext cx="2560320" cy="603504"/>
          </a:xfrm>
          <a:prstGeom prst="roundRect">
            <a:avLst>
              <a:gd name="adj" fmla="val 21212"/>
            </a:avLst>
          </a:prstGeom>
          <a:solidFill>
            <a:srgbClr val="FBE3EA"/>
          </a:solidFill>
          <a:ln w="6350">
            <a:solidFill>
              <a:srgbClr val="FBE3EA"/>
            </a:solidFill>
            <a:prstDash val="solid"/>
          </a:ln>
          <a:effectLst>
            <a:outerShdw blurRad="101600" dist="25400" dir="5400000" algn="bl" rotWithShape="0">
              <a:srgbClr val="7A74A8">
                <a:alpha val="18000"/>
              </a:srgbClr>
            </a:outerShdw>
          </a:effectLst>
        </p:spPr>
      </p:sp>
      <p:sp>
        <p:nvSpPr>
          <p:cNvPr id="50" name="icon-circle"/>
          <p:cNvSpPr/>
          <p:nvPr/>
        </p:nvSpPr>
        <p:spPr>
          <a:xfrm>
            <a:off x="2880360" y="3566160"/>
            <a:ext cx="384048" cy="384048"/>
          </a:xfrm>
          <a:prstGeom prst="ellipse">
            <a:avLst/>
          </a:prstGeom>
          <a:solidFill>
            <a:srgbClr val="F4B5C8"/>
          </a:solidFill>
          <a:ln w="6350">
            <a:solidFill>
              <a:srgbClr val="F4B5C8"/>
            </a:solidFill>
            <a:prstDash val="solid"/>
          </a:ln>
        </p:spPr>
      </p:sp>
      <p:pic>
        <p:nvPicPr>
          <p:cNvPr id="51" name="icon" descr="preencoded.png"/>
          <p:cNvPicPr>
            <a:picLocks noChangeAspect="1"/>
          </p:cNvPicPr>
          <p:nvPr/>
        </p:nvPicPr>
        <p:blipFill>
          <a:blip r:embed="rId4"/>
          <a:stretch>
            <a:fillRect/>
          </a:stretch>
        </p:blipFill>
        <p:spPr>
          <a:xfrm>
            <a:off x="2964851" y="3650651"/>
            <a:ext cx="215067" cy="215067"/>
          </a:xfrm>
          <a:prstGeom prst="rect">
            <a:avLst/>
          </a:prstGeom>
        </p:spPr>
      </p:pic>
      <p:sp>
        <p:nvSpPr>
          <p:cNvPr id="52" name="Text 38"/>
          <p:cNvSpPr txBox="1"/>
          <p:nvPr/>
        </p:nvSpPr>
        <p:spPr>
          <a:xfrm>
            <a:off x="3383280" y="3456432"/>
            <a:ext cx="1920240" cy="603504"/>
          </a:xfrm>
          <a:prstGeom prst="rect">
            <a:avLst/>
          </a:prstGeom>
          <a:noFill/>
          <a:ln/>
        </p:spPr>
        <p:txBody>
          <a:bodyPr wrap="square" lIns="0" tIns="0" rIns="0" bIns="0" rtlCol="0" anchor="ctr"/>
          <a:lstStyle/>
          <a:p>
            <a:pPr marL="0" indent="0">
              <a:buNone/>
            </a:pPr>
            <a:r>
              <a:rPr lang="en-US" sz="1300" dirty="0">
                <a:solidFill>
                  <a:schemeClr val="tx1"/>
                </a:solidFill>
              </a:rPr>
              <a:t>Calls can drop</a:t>
            </a:r>
            <a:endParaRPr lang="en-US" sz="1300" dirty="0"/>
          </a:p>
        </p:txBody>
      </p:sp>
      <p:sp>
        <p:nvSpPr>
          <p:cNvPr id="53" name="arrow"/>
          <p:cNvSpPr/>
          <p:nvPr/>
        </p:nvSpPr>
        <p:spPr>
          <a:xfrm>
            <a:off x="5440680" y="3639312"/>
            <a:ext cx="274320" cy="237744"/>
          </a:xfrm>
          <a:prstGeom prst="rightArrow">
            <a:avLst/>
          </a:prstGeom>
          <a:solidFill>
            <a:srgbClr val="A9A4C9"/>
          </a:solidFill>
          <a:ln w="6350">
            <a:solidFill>
              <a:srgbClr val="A9A4C9"/>
            </a:solidFill>
            <a:prstDash val="solid"/>
          </a:ln>
        </p:spPr>
      </p:sp>
      <p:sp>
        <p:nvSpPr>
          <p:cNvPr id="54" name="res-good"/>
          <p:cNvSpPr/>
          <p:nvPr/>
        </p:nvSpPr>
        <p:spPr>
          <a:xfrm>
            <a:off x="5806440" y="3456432"/>
            <a:ext cx="2788920" cy="603504"/>
          </a:xfrm>
          <a:prstGeom prst="roundRect">
            <a:avLst>
              <a:gd name="adj" fmla="val 21212"/>
            </a:avLst>
          </a:prstGeom>
          <a:solidFill>
            <a:srgbClr val="D7F2E5"/>
          </a:solidFill>
          <a:ln w="6350">
            <a:solidFill>
              <a:srgbClr val="D7F2E5"/>
            </a:solidFill>
            <a:prstDash val="solid"/>
          </a:ln>
          <a:effectLst>
            <a:outerShdw blurRad="101600" dist="25400" dir="5400000" algn="bl" rotWithShape="0">
              <a:srgbClr val="7A74A8">
                <a:alpha val="18000"/>
              </a:srgbClr>
            </a:outerShdw>
          </a:effectLst>
        </p:spPr>
      </p:sp>
      <p:sp>
        <p:nvSpPr>
          <p:cNvPr id="55" name="icon-circle"/>
          <p:cNvSpPr/>
          <p:nvPr/>
        </p:nvSpPr>
        <p:spPr>
          <a:xfrm>
            <a:off x="5897880" y="3566160"/>
            <a:ext cx="384048" cy="384048"/>
          </a:xfrm>
          <a:prstGeom prst="ellipse">
            <a:avLst/>
          </a:prstGeom>
          <a:solidFill>
            <a:srgbClr val="9ADDBF"/>
          </a:solidFill>
          <a:ln w="6350">
            <a:solidFill>
              <a:srgbClr val="9ADDBF"/>
            </a:solidFill>
            <a:prstDash val="solid"/>
          </a:ln>
        </p:spPr>
      </p:sp>
      <p:pic>
        <p:nvPicPr>
          <p:cNvPr id="56" name="icon" descr="preencoded.png"/>
          <p:cNvPicPr>
            <a:picLocks noChangeAspect="1"/>
          </p:cNvPicPr>
          <p:nvPr/>
        </p:nvPicPr>
        <p:blipFill>
          <a:blip r:embed="rId5"/>
          <a:stretch>
            <a:fillRect/>
          </a:stretch>
        </p:blipFill>
        <p:spPr>
          <a:xfrm>
            <a:off x="5982371" y="3650651"/>
            <a:ext cx="215067" cy="215067"/>
          </a:xfrm>
          <a:prstGeom prst="rect">
            <a:avLst/>
          </a:prstGeom>
        </p:spPr>
      </p:pic>
      <p:sp>
        <p:nvSpPr>
          <p:cNvPr id="57" name="Text 42"/>
          <p:cNvSpPr txBox="1"/>
          <p:nvPr/>
        </p:nvSpPr>
        <p:spPr>
          <a:xfrm>
            <a:off x="6400800" y="3456432"/>
            <a:ext cx="2148840" cy="603504"/>
          </a:xfrm>
          <a:prstGeom prst="rect">
            <a:avLst/>
          </a:prstGeom>
          <a:noFill/>
          <a:ln/>
        </p:spPr>
        <p:txBody>
          <a:bodyPr wrap="square" lIns="0" tIns="0" rIns="0" bIns="0" rtlCol="0" anchor="ctr"/>
          <a:lstStyle/>
          <a:p>
            <a:pPr marL="0" indent="0">
              <a:buNone/>
            </a:pPr>
            <a:r>
              <a:rPr lang="en-US" sz="1400" b="1" dirty="0">
                <a:solidFill>
                  <a:schemeClr val="tx1"/>
                </a:solidFill>
              </a:rPr>
              <a:t>0% packet loss</a:t>
            </a:r>
            <a:endParaRPr lang="en-US" sz="1400" dirty="0"/>
          </a:p>
        </p:txBody>
      </p:sp>
      <p:sp>
        <p:nvSpPr>
          <p:cNvPr id="58" name="res-ribbon"/>
          <p:cNvSpPr/>
          <p:nvPr/>
        </p:nvSpPr>
        <p:spPr>
          <a:xfrm>
            <a:off x="548640" y="4206240"/>
            <a:ext cx="8046720" cy="457200"/>
          </a:xfrm>
          <a:prstGeom prst="roundRect">
            <a:avLst>
              <a:gd name="adj" fmla="val 28000"/>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59" name="Text 44"/>
          <p:cNvSpPr txBox="1"/>
          <p:nvPr/>
        </p:nvSpPr>
        <p:spPr>
          <a:xfrm>
            <a:off x="548640" y="4206240"/>
            <a:ext cx="8046720" cy="457200"/>
          </a:xfrm>
          <a:prstGeom prst="rect">
            <a:avLst/>
          </a:prstGeom>
          <a:noFill/>
          <a:ln/>
        </p:spPr>
        <p:txBody>
          <a:bodyPr wrap="square" lIns="0" tIns="0" rIns="0" bIns="0" rtlCol="0" anchor="ctr"/>
          <a:lstStyle/>
          <a:p>
            <a:pPr marL="0" indent="0" algn="ctr">
              <a:buNone/>
            </a:pPr>
            <a:r>
              <a:rPr lang="en-US" sz="1500" b="1" dirty="0">
                <a:solidFill>
                  <a:schemeClr val="tx2"/>
                </a:solidFill>
              </a:rPr>
              <a:t>23 / 23 automated tests pass  ·  5 guided demo scenarios</a:t>
            </a:r>
            <a:endParaRPr lang="en-US" sz="1500" dirty="0"/>
          </a:p>
        </p:txBody>
      </p:sp>
      <p:sp>
        <p:nvSpPr>
          <p:cNvPr id="3"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Analysis and limitations</a:t>
            </a:r>
            <a:endParaRPr lang="en-US" sz="3200" dirty="0"/>
          </a:p>
        </p:txBody>
      </p:sp>
      <p:sp>
        <p:nvSpPr>
          <p:cNvPr id="4" name="al-card"/>
          <p:cNvSpPr/>
          <p:nvPr/>
        </p:nvSpPr>
        <p:spPr>
          <a:xfrm>
            <a:off x="548640" y="1280160"/>
            <a:ext cx="3931920" cy="3017520"/>
          </a:xfrm>
          <a:prstGeom prst="roundRect">
            <a:avLst>
              <a:gd name="adj" fmla="val 4242"/>
            </a:avLst>
          </a:prstGeom>
          <a:solidFill>
            <a:schemeClr val="accent2"/>
          </a:solidFill>
          <a:ln w="6350">
            <a:solidFill>
              <a:schemeClr val="accent2"/>
            </a:solidFill>
            <a:prstDash val="solid"/>
          </a:ln>
          <a:effectLst>
            <a:outerShdw blurRad="101600" dist="25400" dir="5400000" algn="bl" rotWithShape="0">
              <a:srgbClr val="7A74A8">
                <a:alpha val="18000"/>
              </a:srgbClr>
            </a:outerShdw>
          </a:effectLst>
        </p:spPr>
      </p:sp>
      <p:sp>
        <p:nvSpPr>
          <p:cNvPr id="5" name="icon-circle"/>
          <p:cNvSpPr/>
          <p:nvPr/>
        </p:nvSpPr>
        <p:spPr>
          <a:xfrm>
            <a:off x="822960" y="1463040"/>
            <a:ext cx="548640" cy="548640"/>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943661" y="1583741"/>
            <a:ext cx="307238" cy="307238"/>
          </a:xfrm>
          <a:prstGeom prst="rect">
            <a:avLst/>
          </a:prstGeom>
        </p:spPr>
      </p:pic>
      <p:sp>
        <p:nvSpPr>
          <p:cNvPr id="7" name="Text 3"/>
          <p:cNvSpPr txBox="1"/>
          <p:nvPr/>
        </p:nvSpPr>
        <p:spPr>
          <a:xfrm>
            <a:off x="1508760" y="1463040"/>
            <a:ext cx="2743200" cy="548640"/>
          </a:xfrm>
          <a:prstGeom prst="rect">
            <a:avLst/>
          </a:prstGeom>
          <a:noFill/>
          <a:ln/>
        </p:spPr>
        <p:txBody>
          <a:bodyPr wrap="square" lIns="0" tIns="0" rIns="0" bIns="0" rtlCol="0" anchor="ctr"/>
          <a:lstStyle/>
          <a:p>
            <a:pPr marL="0" indent="0">
              <a:buNone/>
            </a:pPr>
            <a:r>
              <a:rPr lang="en-US" sz="2000" b="1" dirty="0">
                <a:solidFill>
                  <a:schemeClr val="tx2"/>
                </a:solidFill>
              </a:rPr>
              <a:t>Analysis</a:t>
            </a:r>
            <a:endParaRPr lang="en-US" sz="2000" dirty="0"/>
          </a:p>
        </p:txBody>
      </p:sp>
      <p:sp>
        <p:nvSpPr>
          <p:cNvPr id="8" name="Text 4"/>
          <p:cNvSpPr txBox="1"/>
          <p:nvPr/>
        </p:nvSpPr>
        <p:spPr>
          <a:xfrm>
            <a:off x="914400" y="2240280"/>
            <a:ext cx="3291840" cy="19202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OSPF picks better paths than RIP</a:t>
            </a:r>
            <a:endParaRPr lang="en-US" sz="1400" dirty="0"/>
          </a:p>
          <a:p>
            <a:pPr marL="203200" indent="-203200">
              <a:spcAft>
                <a:spcPts val="1000"/>
              </a:spcAft>
              <a:buSzPct val="100000"/>
              <a:buChar char="•"/>
            </a:pPr>
            <a:r>
              <a:rPr lang="en-US" sz="1400" dirty="0">
                <a:solidFill>
                  <a:schemeClr val="tx1"/>
                </a:solidFill>
              </a:rPr>
              <a:t>Backup link removes the single point of failure</a:t>
            </a:r>
            <a:endParaRPr lang="en-US" sz="1400" dirty="0"/>
          </a:p>
          <a:p>
            <a:pPr marL="203200" indent="-203200">
              <a:spcAft>
                <a:spcPts val="1000"/>
              </a:spcAft>
              <a:buSzPct val="100000"/>
              <a:buChar char="•"/>
            </a:pPr>
            <a:r>
              <a:rPr lang="en-US" sz="1400" dirty="0">
                <a:solidFill>
                  <a:schemeClr val="tx1"/>
                </a:solidFill>
              </a:rPr>
              <a:t>ACL stops unwanted traffic at the router</a:t>
            </a:r>
            <a:endParaRPr lang="en-US" sz="1400" dirty="0"/>
          </a:p>
          <a:p>
            <a:pPr marL="203200" indent="-203200">
              <a:spcAft>
                <a:spcPts val="1000"/>
              </a:spcAft>
              <a:buSzPct val="100000"/>
              <a:buChar char="•"/>
            </a:pPr>
            <a:r>
              <a:rPr lang="en-US" sz="1400" dirty="0">
                <a:solidFill>
                  <a:schemeClr val="tx1"/>
                </a:solidFill>
              </a:rPr>
              <a:t>Priority queue protects voice calls</a:t>
            </a:r>
            <a:endParaRPr lang="en-US" sz="1400" dirty="0"/>
          </a:p>
        </p:txBody>
      </p:sp>
      <p:sp>
        <p:nvSpPr>
          <p:cNvPr id="9" name="al-card"/>
          <p:cNvSpPr/>
          <p:nvPr/>
        </p:nvSpPr>
        <p:spPr>
          <a:xfrm>
            <a:off x="4663440" y="1280160"/>
            <a:ext cx="3931920" cy="3017520"/>
          </a:xfrm>
          <a:prstGeom prst="roundRect">
            <a:avLst>
              <a:gd name="adj" fmla="val 4242"/>
            </a:avLst>
          </a:prstGeom>
          <a:solidFill>
            <a:schemeClr val="accent3"/>
          </a:solidFill>
          <a:ln w="6350">
            <a:solidFill>
              <a:schemeClr val="accent3"/>
            </a:solidFill>
            <a:prstDash val="solid"/>
          </a:ln>
          <a:effectLst>
            <a:outerShdw blurRad="101600" dist="25400" dir="5400000" algn="bl" rotWithShape="0">
              <a:srgbClr val="7A74A8">
                <a:alpha val="18000"/>
              </a:srgbClr>
            </a:outerShdw>
          </a:effectLst>
        </p:spPr>
      </p:sp>
      <p:sp>
        <p:nvSpPr>
          <p:cNvPr id="10" name="icon-circle"/>
          <p:cNvSpPr/>
          <p:nvPr/>
        </p:nvSpPr>
        <p:spPr>
          <a:xfrm>
            <a:off x="4937760" y="1463040"/>
            <a:ext cx="548640" cy="548640"/>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5058461" y="1583741"/>
            <a:ext cx="307238" cy="307238"/>
          </a:xfrm>
          <a:prstGeom prst="rect">
            <a:avLst/>
          </a:prstGeom>
        </p:spPr>
      </p:pic>
      <p:sp>
        <p:nvSpPr>
          <p:cNvPr id="12" name="Text 7"/>
          <p:cNvSpPr txBox="1"/>
          <p:nvPr/>
        </p:nvSpPr>
        <p:spPr>
          <a:xfrm>
            <a:off x="5623560" y="1463040"/>
            <a:ext cx="2743200" cy="548640"/>
          </a:xfrm>
          <a:prstGeom prst="rect">
            <a:avLst/>
          </a:prstGeom>
          <a:noFill/>
          <a:ln/>
        </p:spPr>
        <p:txBody>
          <a:bodyPr wrap="square" lIns="0" tIns="0" rIns="0" bIns="0" rtlCol="0" anchor="ctr"/>
          <a:lstStyle/>
          <a:p>
            <a:pPr marL="0" indent="0">
              <a:buNone/>
            </a:pPr>
            <a:r>
              <a:rPr lang="en-US" sz="2000" b="1" dirty="0">
                <a:solidFill>
                  <a:schemeClr val="tx2"/>
                </a:solidFill>
              </a:rPr>
              <a:t>Limitations</a:t>
            </a:r>
            <a:endParaRPr lang="en-US" sz="2000" dirty="0"/>
          </a:p>
        </p:txBody>
      </p:sp>
      <p:sp>
        <p:nvSpPr>
          <p:cNvPr id="13" name="Text 8"/>
          <p:cNvSpPr txBox="1"/>
          <p:nvPr/>
        </p:nvSpPr>
        <p:spPr>
          <a:xfrm>
            <a:off x="5029200" y="2240280"/>
            <a:ext cx="3291840" cy="19202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Software simulation, not real devices</a:t>
            </a:r>
            <a:endParaRPr lang="en-US" sz="1400" dirty="0"/>
          </a:p>
          <a:p>
            <a:pPr marL="203200" indent="-203200">
              <a:spcAft>
                <a:spcPts val="1000"/>
              </a:spcAft>
              <a:buSzPct val="100000"/>
              <a:buChar char="•"/>
            </a:pPr>
            <a:r>
              <a:rPr lang="en-US" sz="1400" dirty="0">
                <a:solidFill>
                  <a:schemeClr val="tx1"/>
                </a:solidFill>
              </a:rPr>
              <a:t>Services are simplified models</a:t>
            </a:r>
            <a:endParaRPr lang="en-US" sz="1400" dirty="0"/>
          </a:p>
          <a:p>
            <a:pPr marL="203200" indent="-203200">
              <a:spcAft>
                <a:spcPts val="1000"/>
              </a:spcAft>
              <a:buSzPct val="100000"/>
              <a:buChar char="•"/>
            </a:pPr>
            <a:r>
              <a:rPr lang="en-US" sz="1400" dirty="0">
                <a:solidFill>
                  <a:schemeClr val="tx1"/>
                </a:solidFill>
              </a:rPr>
              <a:t>Results are from the demo network</a:t>
            </a:r>
            <a:endParaRPr lang="en-US" sz="1400" dirty="0"/>
          </a:p>
          <a:p>
            <a:pPr marL="203200" indent="-203200">
              <a:spcAft>
                <a:spcPts val="1000"/>
              </a:spcAft>
              <a:buSzPct val="100000"/>
              <a:buChar char="•"/>
            </a:pPr>
            <a:r>
              <a:rPr lang="en-US" sz="1400" dirty="0">
                <a:solidFill>
                  <a:schemeClr val="tx1"/>
                </a:solidFill>
              </a:rPr>
              <a:t>Not tested at full campus scale</a:t>
            </a:r>
            <a:endParaRPr lang="en-US" sz="14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Conclusion and future work</a:t>
            </a:r>
            <a:endParaRPr lang="en-US" sz="3200" dirty="0"/>
          </a:p>
        </p:txBody>
      </p:sp>
      <p:sp>
        <p:nvSpPr>
          <p:cNvPr id="4" name="cf-card"/>
          <p:cNvSpPr/>
          <p:nvPr/>
        </p:nvSpPr>
        <p:spPr>
          <a:xfrm>
            <a:off x="548640" y="1280160"/>
            <a:ext cx="3931920" cy="3017520"/>
          </a:xfrm>
          <a:prstGeom prst="roundRect">
            <a:avLst>
              <a:gd name="adj" fmla="val 4242"/>
            </a:avLst>
          </a:prstGeom>
          <a:solidFill>
            <a:schemeClr val="accent4"/>
          </a:solidFill>
          <a:ln w="6350">
            <a:solidFill>
              <a:schemeClr val="accent4"/>
            </a:solidFill>
            <a:prstDash val="solid"/>
          </a:ln>
          <a:effectLst>
            <a:outerShdw blurRad="101600" dist="25400" dir="5400000" algn="bl" rotWithShape="0">
              <a:srgbClr val="7A74A8">
                <a:alpha val="18000"/>
              </a:srgbClr>
            </a:outerShdw>
          </a:effectLst>
        </p:spPr>
      </p:sp>
      <p:sp>
        <p:nvSpPr>
          <p:cNvPr id="5" name="icon-circle"/>
          <p:cNvSpPr/>
          <p:nvPr/>
        </p:nvSpPr>
        <p:spPr>
          <a:xfrm>
            <a:off x="822960" y="1463040"/>
            <a:ext cx="548640" cy="548640"/>
          </a:xfrm>
          <a:prstGeom prst="ellipse">
            <a:avLst/>
          </a:prstGeom>
          <a:solidFill>
            <a:srgbClr val="FFFFFF"/>
          </a:solidFill>
          <a:ln w="6350">
            <a:solidFill>
              <a:srgbClr val="FFFFFF"/>
            </a:solidFill>
            <a:prstDash val="solid"/>
          </a:ln>
        </p:spPr>
      </p:sp>
      <p:pic>
        <p:nvPicPr>
          <p:cNvPr id="6" name="icon" descr="preencoded.png"/>
          <p:cNvPicPr>
            <a:picLocks noChangeAspect="1"/>
          </p:cNvPicPr>
          <p:nvPr/>
        </p:nvPicPr>
        <p:blipFill>
          <a:blip r:embed="rId3"/>
          <a:stretch>
            <a:fillRect/>
          </a:stretch>
        </p:blipFill>
        <p:spPr>
          <a:xfrm>
            <a:off x="943661" y="1583741"/>
            <a:ext cx="307238" cy="307238"/>
          </a:xfrm>
          <a:prstGeom prst="rect">
            <a:avLst/>
          </a:prstGeom>
        </p:spPr>
      </p:pic>
      <p:sp>
        <p:nvSpPr>
          <p:cNvPr id="7" name="Text 3"/>
          <p:cNvSpPr txBox="1"/>
          <p:nvPr/>
        </p:nvSpPr>
        <p:spPr>
          <a:xfrm>
            <a:off x="1508760" y="1463040"/>
            <a:ext cx="2743200" cy="548640"/>
          </a:xfrm>
          <a:prstGeom prst="rect">
            <a:avLst/>
          </a:prstGeom>
          <a:noFill/>
          <a:ln/>
        </p:spPr>
        <p:txBody>
          <a:bodyPr wrap="square" lIns="0" tIns="0" rIns="0" bIns="0" rtlCol="0" anchor="ctr"/>
          <a:lstStyle/>
          <a:p>
            <a:pPr marL="0" indent="0">
              <a:buNone/>
            </a:pPr>
            <a:r>
              <a:rPr lang="en-US" sz="2000" b="1" dirty="0">
                <a:solidFill>
                  <a:schemeClr val="tx2"/>
                </a:solidFill>
              </a:rPr>
              <a:t>Conclusion</a:t>
            </a:r>
            <a:endParaRPr lang="en-US" sz="2000" dirty="0"/>
          </a:p>
        </p:txBody>
      </p:sp>
      <p:sp>
        <p:nvSpPr>
          <p:cNvPr id="8" name="Text 4"/>
          <p:cNvSpPr txBox="1"/>
          <p:nvPr/>
        </p:nvSpPr>
        <p:spPr>
          <a:xfrm>
            <a:off x="914400" y="2240280"/>
            <a:ext cx="3291840" cy="19202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Secure, fault-tolerant campus network modelled in software</a:t>
            </a:r>
            <a:endParaRPr lang="en-US" sz="1400" dirty="0"/>
          </a:p>
          <a:p>
            <a:pPr marL="203200" indent="-203200">
              <a:spcAft>
                <a:spcPts val="1000"/>
              </a:spcAft>
              <a:buSzPct val="100000"/>
              <a:buChar char="•"/>
            </a:pPr>
            <a:r>
              <a:rPr lang="en-US" sz="1400" dirty="0">
                <a:solidFill>
                  <a:schemeClr val="tx1"/>
                </a:solidFill>
              </a:rPr>
              <a:t>OSPF failover, ACL and QoS all verified in demos</a:t>
            </a:r>
            <a:endParaRPr lang="en-US" sz="1400" dirty="0"/>
          </a:p>
          <a:p>
            <a:pPr marL="203200" indent="-203200">
              <a:spcAft>
                <a:spcPts val="1000"/>
              </a:spcAft>
              <a:buSzPct val="100000"/>
              <a:buChar char="•"/>
            </a:pPr>
            <a:r>
              <a:rPr lang="en-US" sz="1400" dirty="0">
                <a:solidFill>
                  <a:schemeClr val="tx1"/>
                </a:solidFill>
              </a:rPr>
              <a:t>A clear tool for learning and viva demos</a:t>
            </a:r>
            <a:endParaRPr lang="en-US" sz="1400" dirty="0"/>
          </a:p>
        </p:txBody>
      </p:sp>
      <p:sp>
        <p:nvSpPr>
          <p:cNvPr id="9" name="cf-card"/>
          <p:cNvSpPr/>
          <p:nvPr/>
        </p:nvSpPr>
        <p:spPr>
          <a:xfrm>
            <a:off x="4663440" y="1280160"/>
            <a:ext cx="3931920" cy="3017520"/>
          </a:xfrm>
          <a:prstGeom prst="roundRect">
            <a:avLst>
              <a:gd name="adj" fmla="val 4242"/>
            </a:avLst>
          </a:prstGeom>
          <a:solidFill>
            <a:schemeClr val="accent1"/>
          </a:solidFill>
          <a:ln w="6350">
            <a:solidFill>
              <a:schemeClr val="accent1"/>
            </a:solidFill>
            <a:prstDash val="solid"/>
          </a:ln>
          <a:effectLst>
            <a:outerShdw blurRad="101600" dist="25400" dir="5400000" algn="bl" rotWithShape="0">
              <a:srgbClr val="7A74A8">
                <a:alpha val="18000"/>
              </a:srgbClr>
            </a:outerShdw>
          </a:effectLst>
        </p:spPr>
      </p:sp>
      <p:sp>
        <p:nvSpPr>
          <p:cNvPr id="10" name="icon-circle"/>
          <p:cNvSpPr/>
          <p:nvPr/>
        </p:nvSpPr>
        <p:spPr>
          <a:xfrm>
            <a:off x="4937760" y="1463040"/>
            <a:ext cx="548640" cy="548640"/>
          </a:xfrm>
          <a:prstGeom prst="ellipse">
            <a:avLst/>
          </a:prstGeom>
          <a:solidFill>
            <a:srgbClr val="FFFFFF"/>
          </a:solidFill>
          <a:ln w="6350">
            <a:solidFill>
              <a:srgbClr val="FFFFFF"/>
            </a:solidFill>
            <a:prstDash val="solid"/>
          </a:ln>
        </p:spPr>
      </p:sp>
      <p:pic>
        <p:nvPicPr>
          <p:cNvPr id="11" name="icon" descr="preencoded.png"/>
          <p:cNvPicPr>
            <a:picLocks noChangeAspect="1"/>
          </p:cNvPicPr>
          <p:nvPr/>
        </p:nvPicPr>
        <p:blipFill>
          <a:blip r:embed="rId4"/>
          <a:stretch>
            <a:fillRect/>
          </a:stretch>
        </p:blipFill>
        <p:spPr>
          <a:xfrm>
            <a:off x="5058461" y="1583741"/>
            <a:ext cx="307238" cy="307238"/>
          </a:xfrm>
          <a:prstGeom prst="rect">
            <a:avLst/>
          </a:prstGeom>
        </p:spPr>
      </p:pic>
      <p:sp>
        <p:nvSpPr>
          <p:cNvPr id="12" name="Text 7"/>
          <p:cNvSpPr txBox="1"/>
          <p:nvPr/>
        </p:nvSpPr>
        <p:spPr>
          <a:xfrm>
            <a:off x="5623560" y="1463040"/>
            <a:ext cx="2743200" cy="548640"/>
          </a:xfrm>
          <a:prstGeom prst="rect">
            <a:avLst/>
          </a:prstGeom>
          <a:noFill/>
          <a:ln/>
        </p:spPr>
        <p:txBody>
          <a:bodyPr wrap="square" lIns="0" tIns="0" rIns="0" bIns="0" rtlCol="0" anchor="ctr"/>
          <a:lstStyle/>
          <a:p>
            <a:pPr marL="0" indent="0">
              <a:buNone/>
            </a:pPr>
            <a:r>
              <a:rPr lang="en-US" sz="2000" b="1" dirty="0">
                <a:solidFill>
                  <a:schemeClr val="tx2"/>
                </a:solidFill>
              </a:rPr>
              <a:t>Future work</a:t>
            </a:r>
            <a:endParaRPr lang="en-US" sz="2000" dirty="0"/>
          </a:p>
        </p:txBody>
      </p:sp>
      <p:sp>
        <p:nvSpPr>
          <p:cNvPr id="13" name="Text 8"/>
          <p:cNvSpPr txBox="1"/>
          <p:nvPr/>
        </p:nvSpPr>
        <p:spPr>
          <a:xfrm>
            <a:off x="5029200" y="2240280"/>
            <a:ext cx="3291840" cy="192024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chemeClr val="tx1"/>
                </a:solidFill>
              </a:rPr>
              <a:t>Test on real devices or GNS3</a:t>
            </a:r>
            <a:endParaRPr lang="en-US" sz="1400" dirty="0"/>
          </a:p>
          <a:p>
            <a:pPr marL="203200" indent="-203200">
              <a:spcAft>
                <a:spcPts val="1000"/>
              </a:spcAft>
              <a:buSzPct val="100000"/>
              <a:buChar char="•"/>
            </a:pPr>
            <a:r>
              <a:rPr lang="en-US" sz="1400" dirty="0">
                <a:solidFill>
                  <a:schemeClr val="tx1"/>
                </a:solidFill>
              </a:rPr>
              <a:t>Add IPv6 and more protocols</a:t>
            </a:r>
            <a:endParaRPr lang="en-US" sz="1400" dirty="0"/>
          </a:p>
          <a:p>
            <a:pPr marL="203200" indent="-203200">
              <a:spcAft>
                <a:spcPts val="1000"/>
              </a:spcAft>
              <a:buSzPct val="100000"/>
              <a:buChar char="•"/>
            </a:pPr>
            <a:r>
              <a:rPr lang="en-US" sz="1400" dirty="0">
                <a:solidFill>
                  <a:schemeClr val="tx1"/>
                </a:solidFill>
              </a:rPr>
              <a:t>Live traffic monitoring</a:t>
            </a:r>
            <a:endParaRPr lang="en-US" sz="1400" dirty="0"/>
          </a:p>
        </p:txBody>
      </p:sp>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685800"/>
          </a:xfrm>
          <a:prstGeom prst="rect">
            <a:avLst/>
          </a:prstGeom>
          <a:noFill/>
          <a:ln/>
        </p:spPr>
        <p:txBody>
          <a:bodyPr wrap="square" lIns="0" tIns="0" rIns="0" bIns="0" rtlCol="0" anchor="ctr"/>
          <a:lstStyle/>
          <a:p>
            <a:pPr marL="0" indent="0" algn="l">
              <a:buNone/>
            </a:pPr>
            <a:r>
              <a:rPr lang="en-US" sz="3200" b="1" dirty="0">
                <a:solidFill>
                  <a:srgbClr val="55507F"/>
                </a:solidFill>
              </a:rPr>
              <a:t>References</a:t>
            </a:r>
            <a:endParaRPr lang="en-US" sz="3200" dirty="0"/>
          </a:p>
        </p:txBody>
      </p:sp>
      <p:sp>
        <p:nvSpPr>
          <p:cNvPr id="4" name="refs-card"/>
          <p:cNvSpPr/>
          <p:nvPr/>
        </p:nvSpPr>
        <p:spPr>
          <a:xfrm>
            <a:off x="548640" y="1097280"/>
            <a:ext cx="8046720" cy="3429000"/>
          </a:xfrm>
          <a:prstGeom prst="roundRect">
            <a:avLst>
              <a:gd name="adj" fmla="val 3733"/>
            </a:avLst>
          </a:prstGeom>
          <a:solidFill>
            <a:srgbClr val="FFFFFF"/>
          </a:solidFill>
          <a:ln w="6350">
            <a:solidFill>
              <a:srgbClr val="FFFFFF"/>
            </a:solidFill>
            <a:prstDash val="solid"/>
          </a:ln>
          <a:effectLst>
            <a:outerShdw blurRad="101600" dist="25400" dir="5400000" algn="bl" rotWithShape="0">
              <a:srgbClr val="7A74A8">
                <a:alpha val="18000"/>
              </a:srgbClr>
            </a:outerShdw>
          </a:effectLst>
        </p:spPr>
      </p:sp>
      <p:graphicFrame>
        <p:nvGraphicFramePr>
          <p:cNvPr id="19" name="refs"/>
          <p:cNvGraphicFramePr>
            <a:graphicFrameLocks noGrp="1"/>
          </p:cNvGraphicFramePr>
          <p:nvPr>
            <p:extLst>
              <p:ext uri="{D42A27DB-BD31-4B8C-83A1-F6EECF244321}">
                <p14:modId xmlns:p14="http://schemas.microsoft.com/office/powerpoint/2010/main" val="1579011935"/>
              </p:ext>
            </p:extLst>
          </p:nvPr>
        </p:nvGraphicFramePr>
        <p:xfrm>
          <a:off x="731520" y="1207008"/>
          <a:ext cx="7680960" cy="914400"/>
        </p:xfrm>
        <a:graphic>
          <a:graphicData uri="http://schemas.openxmlformats.org/drawingml/2006/table">
            <a:tbl>
              <a:tblPr/>
              <a:tblGrid>
                <a:gridCol w="45720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J. F. Kurose and K. W. Ross, </a:t>
                      </a:r>
                      <a:r>
                        <a:rPr lang="en-US" sz="1100" i="1" dirty="0">
                          <a:solidFill>
                            <a:srgbClr val="3B3A4F"/>
                          </a:solidFill>
                          <a:latin typeface="Calibri" pitchFamily="34" charset="0"/>
                          <a:ea typeface="Calibri" pitchFamily="34" charset="-122"/>
                          <a:cs typeface="Calibri" pitchFamily="34" charset="-120"/>
                        </a:rPr>
                        <a:t>Computer Networking: A Top-Down Approach</a:t>
                      </a:r>
                      <a:r>
                        <a:rPr lang="en-US" sz="1100" dirty="0">
                          <a:solidFill>
                            <a:srgbClr val="3B3A4F"/>
                          </a:solidFill>
                          <a:latin typeface="Calibri" pitchFamily="34" charset="0"/>
                          <a:ea typeface="Calibri" pitchFamily="34" charset="-122"/>
                          <a:cs typeface="Calibri" pitchFamily="34" charset="-120"/>
                        </a:rPr>
                        <a:t>, 8th ed. Hoboken, NJ, USA: Pearson, 2021.</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0"/>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A. S. Tanenbaum and D. J. Wetherall, </a:t>
                      </a:r>
                      <a:r>
                        <a:rPr lang="en-US" sz="1100" i="1" dirty="0">
                          <a:solidFill>
                            <a:srgbClr val="3B3A4F"/>
                          </a:solidFill>
                          <a:latin typeface="Calibri" pitchFamily="34" charset="0"/>
                          <a:ea typeface="Calibri" pitchFamily="34" charset="-122"/>
                          <a:cs typeface="Calibri" pitchFamily="34" charset="-120"/>
                        </a:rPr>
                        <a:t>Computer Networks</a:t>
                      </a:r>
                      <a:r>
                        <a:rPr lang="en-US" sz="1100" dirty="0">
                          <a:solidFill>
                            <a:srgbClr val="3B3A4F"/>
                          </a:solidFill>
                          <a:latin typeface="Calibri" pitchFamily="34" charset="0"/>
                          <a:ea typeface="Calibri" pitchFamily="34" charset="-122"/>
                          <a:cs typeface="Calibri" pitchFamily="34" charset="-120"/>
                        </a:rPr>
                        <a:t>, 5th ed. Boston, MA, USA: Prentice Hall, 2011.</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1"/>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J. Moy, “OSPF Version 2,” IETF, RFC 2328, Apr. 1998.</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2"/>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G. Malkin, “RIP Version 2,” IETF, RFC 2453, Nov. 1998.</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3"/>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E. W. Dijkstra, “A note on two problems in connexion with graphs,” </a:t>
                      </a:r>
                      <a:r>
                        <a:rPr lang="en-US" sz="1100" i="1" dirty="0">
                          <a:solidFill>
                            <a:srgbClr val="3B3A4F"/>
                          </a:solidFill>
                          <a:latin typeface="Calibri" pitchFamily="34" charset="0"/>
                          <a:ea typeface="Calibri" pitchFamily="34" charset="-122"/>
                          <a:cs typeface="Calibri" pitchFamily="34" charset="-120"/>
                        </a:rPr>
                        <a:t>Numerische Mathematik</a:t>
                      </a:r>
                      <a:r>
                        <a:rPr lang="en-US" sz="1100" dirty="0">
                          <a:solidFill>
                            <a:srgbClr val="3B3A4F"/>
                          </a:solidFill>
                          <a:latin typeface="Calibri" pitchFamily="34" charset="0"/>
                          <a:ea typeface="Calibri" pitchFamily="34" charset="-122"/>
                          <a:cs typeface="Calibri" pitchFamily="34" charset="-120"/>
                        </a:rPr>
                        <a:t>, vol. 1, no. 1, pp. 269–271, Dec. 1959.</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4"/>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R. Bellman, “On a routing problem,” </a:t>
                      </a:r>
                      <a:r>
                        <a:rPr lang="en-US" sz="1100" i="1" dirty="0">
                          <a:solidFill>
                            <a:srgbClr val="3B3A4F"/>
                          </a:solidFill>
                          <a:latin typeface="Calibri" pitchFamily="34" charset="0"/>
                          <a:ea typeface="Calibri" pitchFamily="34" charset="-122"/>
                          <a:cs typeface="Calibri" pitchFamily="34" charset="-120"/>
                        </a:rPr>
                        <a:t>Quarterly of Applied Mathematics</a:t>
                      </a:r>
                      <a:r>
                        <a:rPr lang="en-US" sz="1100" dirty="0">
                          <a:solidFill>
                            <a:srgbClr val="3B3A4F"/>
                          </a:solidFill>
                          <a:latin typeface="Calibri" pitchFamily="34" charset="0"/>
                          <a:ea typeface="Calibri" pitchFamily="34" charset="-122"/>
                          <a:cs typeface="Calibri" pitchFamily="34" charset="-120"/>
                        </a:rPr>
                        <a:t>, vol. 16, no. 1, pp. 87–90, 1958.</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5"/>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R. W. Hamming, “Error detecting and error correcting codes,” </a:t>
                      </a:r>
                      <a:r>
                        <a:rPr lang="en-US" sz="1100" i="1" dirty="0">
                          <a:solidFill>
                            <a:srgbClr val="3B3A4F"/>
                          </a:solidFill>
                          <a:latin typeface="Calibri" pitchFamily="34" charset="0"/>
                          <a:ea typeface="Calibri" pitchFamily="34" charset="-122"/>
                          <a:cs typeface="Calibri" pitchFamily="34" charset="-120"/>
                        </a:rPr>
                        <a:t>Bell System Technical Journal</a:t>
                      </a:r>
                      <a:r>
                        <a:rPr lang="en-US" sz="1100" dirty="0">
                          <a:solidFill>
                            <a:srgbClr val="3B3A4F"/>
                          </a:solidFill>
                          <a:latin typeface="Calibri" pitchFamily="34" charset="0"/>
                          <a:ea typeface="Calibri" pitchFamily="34" charset="-122"/>
                          <a:cs typeface="Calibri" pitchFamily="34" charset="-120"/>
                        </a:rPr>
                        <a:t>, vol. 29, no. 2, pp. 147–160, Apr. 1950.</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6"/>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R. Droms, “Dynamic Host Configuration Protocol,” IETF, RFC 2131, Mar. 1997.</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7"/>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dirty="0">
                          <a:solidFill>
                            <a:srgbClr val="3B3A4F"/>
                          </a:solidFill>
                          <a:latin typeface="Calibri" pitchFamily="34" charset="0"/>
                          <a:ea typeface="Calibri" pitchFamily="34" charset="-122"/>
                          <a:cs typeface="Calibri" pitchFamily="34" charset="-120"/>
                        </a:rPr>
                        <a:t>P. Srisuresh and K. Egevang, “Traditional IP Network Address Translator (Traditional NAT),” IETF, RFC 3022, Jan. 2001.</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8"/>
                  </a:ext>
                </a:extLst>
              </a:tr>
              <a:tr h="0">
                <a:tc>
                  <a:txBody>
                    <a:bodyPr/>
                    <a:lstStyle/>
                    <a:p>
                      <a:pPr marL="0" indent="0">
                        <a:buNone/>
                      </a:pPr>
                      <a:r>
                        <a:rPr lang="en-US" sz="1100" b="1" dirty="0">
                          <a:solidFill>
                            <a:srgbClr val="3B3A4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45720" marR="45720" marT="27432" marB="27432">
                    <a:lnL w="0" cap="flat" cmpd="sng" algn="ctr">
                      <a:noFill/>
                    </a:lnL>
                    <a:lnR w="0" cap="flat" cmpd="sng" algn="ctr">
                      <a:noFill/>
                    </a:lnR>
                    <a:lnT w="0" cap="flat" cmpd="sng" algn="ctr">
                      <a:noFill/>
                    </a:lnT>
                    <a:lnB w="0" cap="flat" cmpd="sng" algn="ctr">
                      <a:noFill/>
                    </a:lnB>
                  </a:tcPr>
                </a:tc>
                <a:tc>
                  <a:txBody>
                    <a:bodyPr/>
                    <a:lstStyle/>
                    <a:p>
                      <a:pPr marL="0" indent="0">
                        <a:buNone/>
                      </a:pPr>
                      <a:r>
                        <a:rPr lang="en-US" sz="1100" i="1" dirty="0">
                          <a:solidFill>
                            <a:srgbClr val="3B3A4F"/>
                          </a:solidFill>
                          <a:latin typeface="Calibri" pitchFamily="34" charset="0"/>
                          <a:ea typeface="Calibri" pitchFamily="34" charset="-122"/>
                          <a:cs typeface="Calibri" pitchFamily="34" charset="-120"/>
                        </a:rPr>
                        <a:t>IEEE Standard for Local and Metropolitan Area Networks—Bridges and Bridged Networks</a:t>
                      </a:r>
                      <a:r>
                        <a:rPr lang="en-US" sz="1100" dirty="0">
                          <a:solidFill>
                            <a:srgbClr val="3B3A4F"/>
                          </a:solidFill>
                          <a:latin typeface="Calibri" pitchFamily="34" charset="0"/>
                          <a:ea typeface="Calibri" pitchFamily="34" charset="-122"/>
                          <a:cs typeface="Calibri" pitchFamily="34" charset="-120"/>
                        </a:rPr>
                        <a:t>, IEEE Std 802.1Q-2022 (Revision of IEEE Std 802.1Q-2018), 2022.</a:t>
                      </a:r>
                      <a:endParaRPr lang="en-US" sz="1200" dirty="0"/>
                    </a:p>
                  </a:txBody>
                  <a:tcPr marL="45720" marR="45720" marT="27432" marB="27432">
                    <a:lnL w="0" cap="flat" cmpd="sng" algn="ctr">
                      <a:noFill/>
                    </a:lnL>
                    <a:lnR w="0" cap="flat" cmpd="sng" algn="ctr">
                      <a:noFill/>
                    </a:lnR>
                    <a:lnT w="0" cap="flat" cmpd="sng" algn="ctr">
                      <a:noFill/>
                    </a:lnT>
                    <a:lnB w="0" cap="flat" cmpd="sng" algn="ctr">
                      <a:noFill/>
                    </a:lnB>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8275320" y="4736592"/>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86A8"/>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Pastel Campus">
  <a:themeElements>
    <a:clrScheme name="Pastel Campus">
      <a:dk1>
        <a:srgbClr val="3B3A4F"/>
      </a:dk1>
      <a:lt1>
        <a:srgbClr val="FFFFFF"/>
      </a:lt1>
      <a:dk2>
        <a:srgbClr val="55507F"/>
      </a:dk2>
      <a:lt2>
        <a:srgbClr val="F8F6FF"/>
      </a:lt2>
      <a:accent1>
        <a:srgbClr val="D9CCF5"/>
      </a:accent1>
      <a:accent2>
        <a:srgbClr val="BFE8D6"/>
      </a:accent2>
      <a:accent3>
        <a:srgbClr val="FCD9C4"/>
      </a:accent3>
      <a:accent4>
        <a:srgbClr val="C6E2F7"/>
      </a:accent4>
      <a:accent5>
        <a:srgbClr val="F8CFDB"/>
      </a:accent5>
      <a:accent6>
        <a:srgbClr val="FAEBB0"/>
      </a:accent6>
      <a:hlink>
        <a:srgbClr val="55507F"/>
      </a:hlink>
      <a:folHlink>
        <a:srgbClr val="55507F"/>
      </a:folHlink>
    </a:clrScheme>
    <a:fontScheme name="Pastel Campu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2152</Words>
  <Application>Microsoft Office PowerPoint</Application>
  <PresentationFormat>On-screen Show (16:9)</PresentationFormat>
  <Paragraphs>331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Pastel Campus</vt:lpstr>
      <vt:lpstr>PowerPoint Presentation</vt:lpstr>
      <vt:lpstr>Problem and motivation</vt:lpstr>
      <vt:lpstr>Existing approach (baseline) and its gap</vt:lpstr>
      <vt:lpstr>Proposed novelty</vt:lpstr>
      <vt:lpstr>What the project covers</vt:lpstr>
      <vt:lpstr>Architecture: the network</vt:lpstr>
      <vt:lpstr>Architecture: core algorithms</vt:lpstr>
      <vt:lpstr>Service algorithms</vt:lpstr>
      <vt:lpstr>Protocol lab algorithms</vt:lpstr>
      <vt:lpstr>Setup, how it runs and packet trace</vt:lpstr>
      <vt:lpstr>Scenarios</vt:lpstr>
      <vt:lpstr>Metrics</vt:lpstr>
      <vt:lpstr>Results: baseline vs proposed</vt:lpstr>
      <vt:lpstr>Analysis and limitations</vt:lpstr>
      <vt:lpstr>Conclusion and future work</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Pranjal Saxena</cp:lastModifiedBy>
  <cp:revision>3</cp:revision>
  <dcterms:created xsi:type="dcterms:W3CDTF">2026-10-24T06:57:29Z</dcterms:created>
  <dcterms:modified xsi:type="dcterms:W3CDTF">2026-10-24T13:45:43Z</dcterms:modified>
</cp:coreProperties>
</file>